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0e0942c5f054eab" /><Relationship Type="http://schemas.openxmlformats.org/officeDocument/2006/relationships/extended-properties" Target="/docProps/app.xml" Id="R80d4b0307d5f44d4" /><Relationship Type="http://schemas.openxmlformats.org/officeDocument/2006/relationships/officeDocument" Target="/ppt/presentation.xml" Id="R7098ebea70e44be9" /></Relationships>
</file>

<file path=ppt/presentation.xml><?xml version="1.0" encoding="utf-8"?>
<p:presentation xmlns:p="http://schemas.openxmlformats.org/presentationml/2006/main">
  <p:sldMasterIdLst>
    <p:sldMasterId xmlns:r="http://schemas.openxmlformats.org/officeDocument/2006/relationships" id="2147483648" r:id="R3606f3d7ad314b05"/>
  </p:sldMasterIdLst>
  <p:notesMasterIdLst>
    <p:notesMasterId xmlns:r="http://schemas.openxmlformats.org/officeDocument/2006/relationships" r:id="Rb62c0a4d817a471a"/>
  </p:notesMasterIdLst>
  <p:sldIdLst>
    <p:sldId xmlns:r="http://schemas.openxmlformats.org/officeDocument/2006/relationships" id="256" r:id="R6dbc38fa992a4368"/>
    <p:sldId xmlns:r="http://schemas.openxmlformats.org/officeDocument/2006/relationships" id="257" r:id="R64365905b2ff4419"/>
    <p:sldId xmlns:r="http://schemas.openxmlformats.org/officeDocument/2006/relationships" id="258" r:id="R7d61082f313242af"/>
    <p:sldId xmlns:r="http://schemas.openxmlformats.org/officeDocument/2006/relationships" id="259" r:id="Rf6a72c080cb048e2"/>
    <p:sldId xmlns:r="http://schemas.openxmlformats.org/officeDocument/2006/relationships" id="260" r:id="Rc6a230d183fc45d4"/>
    <p:sldId xmlns:r="http://schemas.openxmlformats.org/officeDocument/2006/relationships" id="261" r:id="Rc85f435ac5df4c4b"/>
    <p:sldId xmlns:r="http://schemas.openxmlformats.org/officeDocument/2006/relationships" id="262" r:id="Rfa55ada1f9644cf8"/>
    <p:sldId xmlns:r="http://schemas.openxmlformats.org/officeDocument/2006/relationships" id="263" r:id="R00692c81386c4d02"/>
    <p:sldId xmlns:r="http://schemas.openxmlformats.org/officeDocument/2006/relationships" id="264" r:id="Ra78b52394b5e4391"/>
    <p:sldId xmlns:r="http://schemas.openxmlformats.org/officeDocument/2006/relationships" id="265" r:id="Rcc1d891dfce247aa"/>
    <p:sldId xmlns:r="http://schemas.openxmlformats.org/officeDocument/2006/relationships" id="266" r:id="Rd951068e64c443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a02262ddf44c41" /><Relationship Type="http://schemas.openxmlformats.org/officeDocument/2006/relationships/slideMaster" Target="/ppt/slideMasters/slideMaster1.xml" Id="R3606f3d7ad314b05" /><Relationship Type="http://schemas.openxmlformats.org/officeDocument/2006/relationships/notesMaster" Target="/ppt/notesMasters/notesMaster1.xml" Id="Rb62c0a4d817a471a" /><Relationship Type="http://schemas.openxmlformats.org/officeDocument/2006/relationships/presProps" Target="/ppt/presProps.xml" Id="Radaa6d9feb7149c6" /><Relationship Type="http://schemas.openxmlformats.org/officeDocument/2006/relationships/tableStyles" Target="/ppt/tableStyles.xml" Id="R6348b8b8d6454625" /><Relationship Type="http://schemas.openxmlformats.org/officeDocument/2006/relationships/slide" Target="/ppt/slides/slide1.xml" Id="R6dbc38fa992a4368" /><Relationship Type="http://schemas.openxmlformats.org/officeDocument/2006/relationships/slide" Target="/ppt/slides/slide2.xml" Id="R64365905b2ff4419" /><Relationship Type="http://schemas.openxmlformats.org/officeDocument/2006/relationships/slide" Target="/ppt/slides/slide3.xml" Id="R7d61082f313242af" /><Relationship Type="http://schemas.openxmlformats.org/officeDocument/2006/relationships/slide" Target="/ppt/slides/slide4.xml" Id="Rf6a72c080cb048e2" /><Relationship Type="http://schemas.openxmlformats.org/officeDocument/2006/relationships/slide" Target="/ppt/slides/slide5.xml" Id="Rc6a230d183fc45d4" /><Relationship Type="http://schemas.openxmlformats.org/officeDocument/2006/relationships/slide" Target="/ppt/slides/slide6.xml" Id="Rc85f435ac5df4c4b" /><Relationship Type="http://schemas.openxmlformats.org/officeDocument/2006/relationships/slide" Target="/ppt/slides/slide7.xml" Id="Rfa55ada1f9644cf8" /><Relationship Type="http://schemas.openxmlformats.org/officeDocument/2006/relationships/slide" Target="/ppt/slides/slide8.xml" Id="R00692c81386c4d02" /><Relationship Type="http://schemas.openxmlformats.org/officeDocument/2006/relationships/slide" Target="/ppt/slides/slide9.xml" Id="Ra78b52394b5e4391" /><Relationship Type="http://schemas.openxmlformats.org/officeDocument/2006/relationships/slide" Target="/ppt/slides/slide10.xml" Id="Rcc1d891dfce247aa" /><Relationship Type="http://schemas.openxmlformats.org/officeDocument/2006/relationships/slide" Target="/ppt/slides/slide11.xml" Id="Rd951068e64c443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b58b950fcd48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9143d6b4964ffb" /><Relationship Type="http://schemas.openxmlformats.org/officeDocument/2006/relationships/notesMaster" Target="/ppt/notesMasters/notesMaster1.xml" Id="R6fbd6954df424b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b172704e874fda" /><Relationship Type="http://schemas.openxmlformats.org/officeDocument/2006/relationships/notesMaster" Target="/ppt/notesMasters/notesMaster1.xml" Id="R7073ed2b91354c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26ac1bf23649cf" /><Relationship Type="http://schemas.openxmlformats.org/officeDocument/2006/relationships/notesMaster" Target="/ppt/notesMasters/notesMaster1.xml" Id="R4c43e70529a543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dd0eaa825f4dbd" /><Relationship Type="http://schemas.openxmlformats.org/officeDocument/2006/relationships/notesMaster" Target="/ppt/notesMasters/notesMaster1.xml" Id="R285b7881497b43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095be6a9884878" /><Relationship Type="http://schemas.openxmlformats.org/officeDocument/2006/relationships/notesMaster" Target="/ppt/notesMasters/notesMaster1.xml" Id="Rd10fbb71381a4e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c90d4b5ed64089" /><Relationship Type="http://schemas.openxmlformats.org/officeDocument/2006/relationships/notesMaster" Target="/ppt/notesMasters/notesMaster1.xml" Id="R87e2c62a80744b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d41f21efae4438" /><Relationship Type="http://schemas.openxmlformats.org/officeDocument/2006/relationships/notesMaster" Target="/ppt/notesMasters/notesMaster1.xml" Id="Rf7a2751a61af48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5eafd5a1014173" /><Relationship Type="http://schemas.openxmlformats.org/officeDocument/2006/relationships/notesMaster" Target="/ppt/notesMasters/notesMaster1.xml" Id="R8b4ca59d7be140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574fae3336419d" /><Relationship Type="http://schemas.openxmlformats.org/officeDocument/2006/relationships/notesMaster" Target="/ppt/notesMasters/notesMaster1.xml" Id="Rf53457a337a048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16869663cf42b6" /><Relationship Type="http://schemas.openxmlformats.org/officeDocument/2006/relationships/notesMaster" Target="/ppt/notesMasters/notesMaster1.xml" Id="R29c8d85176524b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2cc5cbf5bd4841" /><Relationship Type="http://schemas.openxmlformats.org/officeDocument/2006/relationships/notesMaster" Target="/ppt/notesMasters/notesMaster1.xml" Id="R247fdb1395bb41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My final project will use the approved Kaggle dataset to build an EV customer prioritization prototype. The business question is which customer profiles a dealership should contact first when outreach capacity is limited. I have completed the initial data understanding and cleaning. Today I will explain the dataset, what I have learned so far, and my plan for modeling and an application.</a:t>
            </a:r>
          </a:p>
          <a:p xmlns:a="http://schemas.openxmlformats.org/drawingml/2006/main">
            <a:r>
              <a:t/>
            </a:r>
          </a:p>
          <a:p xmlns:a="http://schemas.openxmlformats.org/drawingml/2006/main">
            <a:r>
              <a:t>SOURCES AND DEFINITIONS</a:t>
            </a:r>
          </a:p>
          <a:p xmlns:a="http://schemas.openxmlformats.org/drawingml/2006/main">
            <a:r>
              <a:t>https://www.kaggle.com/competitions/playground-series-s6e9</a:t>
            </a:r>
          </a:p>
          <a:p xmlns:a="http://schemas.openxmlformats.org/drawingml/2006/main">
            <a:r>
              <a:t>https://github.com/shylasolis/machine-learning-pathway/blob/main/syllabus.pdf</a:t>
            </a:r>
          </a:p>
          <a:p xmlns:a="http://schemas.openxmlformats.org/drawingml/2006/main">
            <a:r>
              <a:t>Cover image: AI-generated illustrative artwork. It does not depict a verified dealership, customer, or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I am proposing a dealership outreach use case. A manager cannot contact every customer, so the application will let the manager choose a contact limit, which I call K. The model will rank profiles by their estimated probability of the supplied Yes label and produce a shortlist. I will compare that shortlist with a random selection at the same capacity. The project evaluates how well the model identifies profiles with that label. Real sales impact would require real customer outcomes and a separate business study.</a:t>
            </a:r>
          </a:p>
          <a:p xmlns:a="http://schemas.openxmlformats.org/drawingml/2006/main">
            <a:r>
              <a:t/>
            </a:r>
          </a:p>
          <a:p xmlns:a="http://schemas.openxmlformats.org/drawingml/2006/main">
            <a:r>
              <a:t>SOURCES AND DEFINITIONS</a:t>
            </a:r>
          </a:p>
          <a:p xmlns:a="http://schemas.openxmlformats.org/drawingml/2006/main">
            <a:r>
              <a:t>Proposed project use case, not a documented operational deployment.</a:t>
            </a:r>
          </a:p>
          <a:p xmlns:a="http://schemas.openxmlformats.org/drawingml/2006/main">
            <a:r>
              <a:t>https://www.kaggle.com/competitions/playground-series-s6e9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The professor approved Predicting Electric Vehicle Purchases from Kaggle Playground Series S6E9. The training file has 668,665 labeled profiles. The Kaggle test file has 286,571 profiles without labels, and the sample submission provides the output format. There are thirteen candidate predictors, covering demographics, finances, transportation, charging access, and attitudes. Customer ID is only an identifier. This is synthetic data. The target is the supplied Will_Buy_EV Yes or No label. I will describe the output as a prioritization prototype and avoid claiming verified purchases or a known purchase timeframe.</a:t>
            </a:r>
          </a:p>
          <a:p xmlns:a="http://schemas.openxmlformats.org/drawingml/2006/main">
            <a:r>
              <a:t/>
            </a:r>
          </a:p>
          <a:p xmlns:a="http://schemas.openxmlformats.org/drawingml/2006/main">
            <a:r>
              <a:t>SOURCES AND DEFINITIONS</a:t>
            </a:r>
          </a:p>
          <a:p xmlns:a="http://schemas.openxmlformats.org/drawingml/2006/main">
            <a:r>
              <a:t>https://www.kaggle.com/competitions/playground-series-s6e9</a:t>
            </a:r>
          </a:p>
          <a:p xmlns:a="http://schemas.openxmlformats.org/drawingml/2006/main">
            <a:r>
              <a:t>/Users/nguyenchau/Documents/msba265/Predicting Electric Vehicle Purchases/reports/tables/file_summary.csv</a:t>
            </a:r>
          </a:p>
          <a:p xmlns:a="http://schemas.openxmlformats.org/drawingml/2006/main">
            <a:r>
              <a:t>/Users/nguyenchau/Documents/msba265/Predicting Electric Vehicle Purchases/reports/tables/data_dictionary.csv</a:t>
            </a:r>
          </a:p>
          <a:p xmlns:a="http://schemas.openxmlformats.org/drawingml/2006/main">
            <a:r>
              <a:t>13 predictors = 15 training columns minus ID and target. No outcome labels appear in the competition test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The initial audit found no missing values or duplicate IDs. The cleaning step retained all records. I converted appropriate numeric storage to integers without losing information and encoded the target as zero and one. The major issue is class imbalance. Only 17.46 percent of the training profiles have a Yes label. A rule that predicts No for everyone would look accurate at 82.54 percent, but it would identify none of the profiles we want to prioritize. That is why accuracy alone will not guide model selection.</a:t>
            </a:r>
          </a:p>
          <a:p xmlns:a="http://schemas.openxmlformats.org/drawingml/2006/main">
            <a:r>
              <a:t/>
            </a:r>
          </a:p>
          <a:p xmlns:a="http://schemas.openxmlformats.org/drawingml/2006/main">
            <a:r>
              <a:t>SOURCES AND DEFINITIONS</a:t>
            </a:r>
          </a:p>
          <a:p xmlns:a="http://schemas.openxmlformats.org/drawingml/2006/main">
            <a:r>
              <a:t>/Users/nguyenchau/Documents/msba265/Predicting Electric Vehicle Purchases/reports/tables/data_quality_audit.csv</a:t>
            </a:r>
          </a:p>
          <a:p xmlns:a="http://schemas.openxmlformats.org/drawingml/2006/main">
            <a:r>
              <a:t>/Users/nguyenchau/Documents/msba265/Predicting Electric Vehicle Purchases/reports/tables/cleaning_log.csv</a:t>
            </a:r>
          </a:p>
          <a:p xmlns:a="http://schemas.openxmlformats.org/drawingml/2006/main">
            <a:r>
              <a:t>/Users/nguyenchau/Documents/msba265/Predicting Electric Vehicle Purchases/reports/tables/target_summary.csv</a:t>
            </a:r>
          </a:p>
          <a:p xmlns:a="http://schemas.openxmlformats.org/drawingml/2006/main">
            <a:r>
              <a:t>Training counts: No 551,886. Yes 116,779. Percentages use all 668,665 training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Two early comparisons illustrate what the dataset contains. The share of Yes labels is 27.47 percent among profiles with a subsidy available and 0.58 percent among those without one. Profiles with home charging also have a higher observed Yes share than those without it. These are descriptive associations in this synthetic dataset. They do not prove that adding a subsidy or home charging causes interest to rise. The modeling stage will combine predictors and test whether they improve ranking on held-out records.</a:t>
            </a:r>
          </a:p>
          <a:p xmlns:a="http://schemas.openxmlformats.org/drawingml/2006/main">
            <a:r>
              <a:t/>
            </a:r>
          </a:p>
          <a:p xmlns:a="http://schemas.openxmlformats.org/drawingml/2006/main">
            <a:r>
              <a:t>SOURCES AND DEFINITIONS</a:t>
            </a:r>
          </a:p>
          <a:p xmlns:a="http://schemas.openxmlformats.org/drawingml/2006/main">
            <a:r>
              <a:t>/Users/nguyenchau/Documents/msba265/Predicting Electric Vehicle Purchases/reports/tables/categorical_target_associations.csv</a:t>
            </a:r>
          </a:p>
          <a:p xmlns:a="http://schemas.openxmlformats.org/drawingml/2006/main">
            <a:r>
              <a:t>Subsidy_Available Yes: 115,347 Yes / 419,909 records. No: 1,432 Yes / 248,756 records.</a:t>
            </a:r>
          </a:p>
          <a:p xmlns:a="http://schemas.openxmlformats.org/drawingml/2006/main">
            <a:r>
              <a:t>Home_Charging_Possible Yes: 90,601 Yes / 462,677 records. No: 26,178 Yes / 205,988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I will freeze a stratified seventy, fifteen, fifteen split before comparing models. The full training data has already informed descriptive EDA, so I will clearly document that history. Model fitting and any learned preprocessing will use the training portion. Validation will guide model selection and tuning, and the final holdout will provide a later evaluation. I will compare a dummy baseline, logistic regression, and a decision tree. A random forest can be an extension if time permits. Initially, I will treat environmental concern codes as categories because their survey anchors and interval meaning are unclear.</a:t>
            </a:r>
          </a:p>
          <a:p xmlns:a="http://schemas.openxmlformats.org/drawingml/2006/main">
            <a:r>
              <a:t/>
            </a:r>
          </a:p>
          <a:p xmlns:a="http://schemas.openxmlformats.org/drawingml/2006/main">
            <a:r>
              <a:t>SOURCES AND DEFINITIONS</a:t>
            </a:r>
          </a:p>
          <a:p xmlns:a="http://schemas.openxmlformats.org/drawingml/2006/main">
            <a:r>
              <a:t>https://github.com/shylasolis/machine-learning-pathway/blob/main/syllabus.pdf (classification and capstone requirements, pages 6–8)</a:t>
            </a:r>
          </a:p>
          <a:p xmlns:a="http://schemas.openxmlformats.org/drawingml/2006/main">
            <a:r>
              <a:t>https://scikit-learn.org/stable/modules/generated/sklearn.pipeline.Pipeline.html</a:t>
            </a:r>
          </a:p>
          <a:p xmlns:a="http://schemas.openxmlformats.org/drawingml/2006/main">
            <a:r>
              <a:t>Proposed split and model choices. No models have been trained for this presentation.</a:t>
            </a:r>
          </a:p>
          <a:p xmlns:a="http://schemas.openxmlformats.org/drawingml/2006/main">
            <a:r>
              <a:t>Competition test labels are unavailable. Internal validation comes from labeled train.csv.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The main evaluation will match the outreach decision. At a fixed contact limit K, precision tells me what share of the shortlist has a Yes label. Recall tells me how much of the total Yes population I captured. Lift compares shortlist precision with the Yes rate in the evaluation sample. I will compare the model with random selection at the same capacity. I will also report ROC-AUC, average precision, calibration, and confusion matrices at selected thresholds. I have not produced these model results yet, and I will not translate them into promised sales or revenue.</a:t>
            </a:r>
          </a:p>
          <a:p xmlns:a="http://schemas.openxmlformats.org/drawingml/2006/main">
            <a:r>
              <a:t/>
            </a:r>
          </a:p>
          <a:p xmlns:a="http://schemas.openxmlformats.org/drawingml/2006/main">
            <a:r>
              <a:t>SOURCES AND DEFINITIONS</a:t>
            </a:r>
          </a:p>
          <a:p xmlns:a="http://schemas.openxmlformats.org/drawingml/2006/main">
            <a:r>
              <a:t>Planned evaluation. K will reflect a chosen contact capacity and use the same value for comparisons.</a:t>
            </a:r>
          </a:p>
          <a:p xmlns:a="http://schemas.openxmlformats.org/drawingml/2006/main">
            <a:r>
              <a:t>https://scikit-learn.org/stable/modules/model_evaluation.html</a:t>
            </a:r>
          </a:p>
          <a:p xmlns:a="http://schemas.openxmlformats.org/drawingml/2006/main">
            <a:r>
              <a:t>Average precision is the sklearn summary of the precision-recall curve. It is not automatically identical to trapezoidal PR-AUC.</a:t>
            </a:r>
          </a:p>
          <a:p xmlns:a="http://schemas.openxmlformats.org/drawingml/2006/main">
            <a:r>
              <a:t>Random selection has expected precision equal to evaluation prevalence and expected lift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Yes, I plan to turn the model into an application. The proposed interface is a small Streamlit browser tool that requests scores from a FastAPI service. The manager will upload a file, select a contact limit, view the ranked profiles, and export the shortlist. A saved scikit-learn pipeline will apply the same preprocessing during training and scoring. The app will check required fields and report unsupported values. I plan to package the demo with Docker and document a terminal workflow. The application remains a prototype until real data can validate its scores and usefulness.</a:t>
            </a:r>
          </a:p>
          <a:p xmlns:a="http://schemas.openxmlformats.org/drawingml/2006/main">
            <a:r>
              <a:t/>
            </a:r>
          </a:p>
          <a:p xmlns:a="http://schemas.openxmlformats.org/drawingml/2006/main">
            <a:r>
              <a:t>SOURCES AND DEFINITIONS</a:t>
            </a:r>
          </a:p>
          <a:p xmlns:a="http://schemas.openxmlformats.org/drawingml/2006/main">
            <a:r>
              <a:t>https://docs.streamlit.io/develop/concepts/architecture/architecture</a:t>
            </a:r>
          </a:p>
          <a:p xmlns:a="http://schemas.openxmlformats.org/drawingml/2006/main">
            <a:r>
              <a:t>https://fastapi.tiangolo.com/</a:t>
            </a:r>
          </a:p>
          <a:p xmlns:a="http://schemas.openxmlformats.org/drawingml/2006/main">
            <a:r>
              <a:t>https://scikit-learn.org/stable/modules/generated/sklearn.pipeline.Pipeline.html</a:t>
            </a:r>
          </a:p>
          <a:p xmlns:a="http://schemas.openxmlformats.org/drawingml/2006/main">
            <a:r>
              <a:t>https://github.com/shylasolis/machine-learning-pathway/blob/main/syllabus.pdf (reproducibility, deployment, technical runbook)</a:t>
            </a:r>
          </a:p>
          <a:p xmlns:a="http://schemas.openxmlformats.org/drawingml/2006/main">
            <a:r>
              <a:t>Proposed application design. No deployed app exists yet. FastAPI is a class-aligned design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The first deliverable is complete: a notebook that explains the data and documents the cleaning decisions. Next I will compare models and evaluate ranking on labeled validation and holdout records. Then I will build the application demo. The final handoff will include a Git repository, programmatic download instructions, a technical runbook, and an executive presentation with business recommendations. I will verify Mac and Windows setup, monitor input and scoring failures, and demonstrate distribution checks with simulated drift because this dataset is static. The result should connect the statistical evaluation with the actual outreach decision.</a:t>
            </a:r>
          </a:p>
          <a:p xmlns:a="http://schemas.openxmlformats.org/drawingml/2006/main">
            <a:r>
              <a:t/>
            </a:r>
          </a:p>
          <a:p xmlns:a="http://schemas.openxmlformats.org/drawingml/2006/main">
            <a:r>
              <a:t>SOURCES AND DEFINITIONS</a:t>
            </a:r>
          </a:p>
          <a:p xmlns:a="http://schemas.openxmlformats.org/drawingml/2006/main">
            <a:r>
              <a:t>https://github.com/shylasolis/machine-learning-pathway/blob/main/syllabus.pdf (final capstone and reproducibility requirements, pages 6–8)</a:t>
            </a:r>
          </a:p>
          <a:p xmlns:a="http://schemas.openxmlformats.org/drawingml/2006/main">
            <a:r>
              <a:t>/Users/nguyenchau/Documents/msba265/Predicting Electric Vehicle Purchases/notebooks/01_data_understanding_and_cleaning.ipynb</a:t>
            </a:r>
          </a:p>
          <a:p xmlns:a="http://schemas.openxmlformats.org/drawingml/2006/main">
            <a:r>
              <a:t>/Users/nguyenchau/Documents/msba265/Predicting Electric Vehicle Purchases/README.md</a:t>
            </a:r>
          </a:p>
          <a:p xmlns:a="http://schemas.openxmlformats.org/drawingml/2006/main">
            <a:r>
              <a:t>Windows setup verification remains planned. Monitoring with this static dataset will be a demonstration, not a live production claim.</a:t>
            </a:r>
          </a:p>
          <a:p xmlns:a="http://schemas.openxmlformats.org/drawingml/2006/main">
            <a:r>
              <a:t>Planned monitoring also includes latency and feature/score distributions. Performance monitoring needs new outcome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There are thirteen predictors across five groups. Environmental_Concern_Level contains numeric codes from one to five. I have not verified what each survey code means, so I will avoid describing one as low and five as high. I will also document uncertainties about the charging station radius and the outcome timeframe. These limits matter when explaining the model or proposing use with real customers.</a:t>
            </a:r>
          </a:p>
          <a:p xmlns:a="http://schemas.openxmlformats.org/drawingml/2006/main">
            <a:r>
              <a:t/>
            </a:r>
          </a:p>
          <a:p xmlns:a="http://schemas.openxmlformats.org/drawingml/2006/main">
            <a:r>
              <a:t>SOURCES AND DEFINITIONS</a:t>
            </a:r>
          </a:p>
          <a:p xmlns:a="http://schemas.openxmlformats.org/drawingml/2006/main">
            <a:r>
              <a:t>/Users/nguyenchau/Documents/msba265/Predicting Electric Vehicle Purchases/reports/tables/data_dictionary.csv</a:t>
            </a:r>
          </a:p>
          <a:p xmlns:a="http://schemas.openxmlformats.org/drawingml/2006/main">
            <a:r>
              <a:t>Exact columns: Age, Gender, City_Type, Annual_Income_USD, Subsidy_Available, Daily_Commute_km, Number_of_Cars_Owned, Current_Car_Type, Charging_Stations_Near_Home, Charging_Stations_Near_Work, Home_Charging_Possible, Environmental_Concern_Level, Range_Anxiety_Level.</a:t>
            </a:r>
          </a:p>
          <a:p xmlns:a="http://schemas.openxmlformats.org/drawingml/2006/main">
            <a:r>
              <a:t>These are candidate predictors. The modeling stage will document final inclusion choices, including sensitivity to demographic fields.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All three ranking metrics use the same evaluation sample and contact capacity. Precision is the share of Yes labels within the shortlist. Recall is the share of the sample’s Yes labels that appear in the shortlist. Lift divides shortlist precision by the Yes rate of the entire evaluation sample. A random shortlist has expected lift of one. That is a reference expectation, not a model result. I will choose capacity scenarios on validation data and keep the final holdout for later evaluation.</a:t>
            </a:r>
          </a:p>
          <a:p xmlns:a="http://schemas.openxmlformats.org/drawingml/2006/main">
            <a:r>
              <a:t/>
            </a:r>
          </a:p>
          <a:p xmlns:a="http://schemas.openxmlformats.org/drawingml/2006/main">
            <a:r>
              <a:t>SOURCES AND DEFINITIONS</a:t>
            </a:r>
          </a:p>
          <a:p xmlns:a="http://schemas.openxmlformats.org/drawingml/2006/main">
            <a:r>
              <a:t>Metric definitions for the proposed top-K evaluation.</a:t>
            </a:r>
          </a:p>
          <a:p xmlns:a="http://schemas.openxmlformats.org/drawingml/2006/main">
            <a:r>
              <a:t>Use unrounded evaluation prevalence as the lift denominator.</a:t>
            </a:r>
          </a:p>
          <a:p xmlns:a="http://schemas.openxmlformats.org/drawingml/2006/main">
            <a:r>
              <a:t>No fabricated metric values or modeled sales impact appear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447ab11a7c42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fd5bfd46774fb7" /><Relationship Type="http://schemas.openxmlformats.org/officeDocument/2006/relationships/slideLayout" Target="/ppt/slideLayouts/slideLayout1.xml" Id="Rdcd7fda2fa3647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d7fda2fa3647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64f43dbe494969" /><Relationship Type="http://schemas.openxmlformats.org/officeDocument/2006/relationships/image" Target="/ppt/media/image.png" Id="R763430fbfc5b4018" /><Relationship Type="http://schemas.openxmlformats.org/officeDocument/2006/relationships/notesSlide" Target="/ppt/notesSlides/notesSlide1.xml" Id="R22e5df44be4c4a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b36bf9320d4925" /><Relationship Type="http://schemas.openxmlformats.org/officeDocument/2006/relationships/notesSlide" Target="/ppt/notesSlides/notesSlide2.xml" Id="R53267572773c46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672a8cfed7463e" /><Relationship Type="http://schemas.openxmlformats.org/officeDocument/2006/relationships/notesSlide" Target="/ppt/notesSlides/notesSlide3.xml" Id="Rbef3216461ae40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b8bb19fd614ea3" /><Relationship Type="http://schemas.openxmlformats.org/officeDocument/2006/relationships/chart" Target="/ppt/slides/charts/chart1.xml" Id="Ra55dae8212fc40ab" /><Relationship Type="http://schemas.openxmlformats.org/officeDocument/2006/relationships/notesSlide" Target="/ppt/notesSlides/notesSlide4.xml" Id="Re2c8caac6f7242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85a861eb044812" /><Relationship Type="http://schemas.openxmlformats.org/officeDocument/2006/relationships/chart" Target="/ppt/slides/charts/chart2.xml" Id="R438256ccf23e4f84" /><Relationship Type="http://schemas.openxmlformats.org/officeDocument/2006/relationships/notesSlide" Target="/ppt/notesSlides/notesSlide5.xml" Id="R0a096d44ed3c47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c1942d26414171" /><Relationship Type="http://schemas.openxmlformats.org/officeDocument/2006/relationships/notesSlide" Target="/ppt/notesSlides/notesSlide6.xml" Id="R64c4e7ada2c741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d02b77d5a6482f" /><Relationship Type="http://schemas.openxmlformats.org/officeDocument/2006/relationships/notesSlide" Target="/ppt/notesSlides/notesSlide7.xml" Id="R4ce016086cf842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cf4d1f760a41eb" /><Relationship Type="http://schemas.openxmlformats.org/officeDocument/2006/relationships/notesSlide" Target="/ppt/notesSlides/notesSlide8.xml" Id="R89012f8e165a44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c4bd178b844e08" /><Relationship Type="http://schemas.openxmlformats.org/officeDocument/2006/relationships/notesSlide" Target="/ppt/notesSlides/notesSlide9.xml" Id="Rfa424407997943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331db9de7c4740" /><Relationship Type="http://schemas.openxmlformats.org/officeDocument/2006/relationships/notesSlide" Target="/ppt/notesSlides/notesSlide10.xml" Id="R402474ad5b9f44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3f9a308d1f94aa2" /><Relationship Type="http://schemas.openxmlformats.org/officeDocument/2006/relationships/notesSlide" Target="/ppt/notesSlides/notesSlide11.xml" Id="Re3ebf13aa2d1413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02C32"/>
                </a:solidFill>
                <a:latin typeface="Arial"/>
                <a:ea typeface="Arial"/>
                <a:cs typeface="Arial"/>
              </a:rPr>
              <a:t>Training label distribution</a:t>
            </a:r>
          </a:p>
        </c:rich>
      </c:tx>
      <c:overlay val="0"/>
      <c:txPr>
        <a:bodyPr xmlns:a="http://schemas.openxmlformats.org/drawingml/2006/main" anchorCtr="1"/>
        <a:lstStyle xmlns:a="http://schemas.openxmlformats.org/drawingml/2006/main"/>
        <a:p xmlns:a="http://schemas.openxmlformats.org/drawingml/2006/main">
          <a:pPr>
            <a:defRPr sz="1950" b="1">
              <a:solidFill>
                <a:srgbClr val="102C32"/>
              </a:solidFill>
              <a:latin typeface="Arial"/>
              <a:ea typeface="Arial"/>
              <a:cs typeface="Arial"/>
            </a:defRPr>
          </a:pPr>
        </a:p>
      </c:txPr>
    </c:title>
    <c:plotArea>
      <c:barChart>
        <c:barDir val="col"/>
        <c:grouping val="clustered"/>
        <c:varyColors val="0"/>
        <c:ser>
          <c:idx val="0"/>
          <c:order val="0"/>
          <c:tx>
            <c:v>Share of records (%)</c:v>
          </c:tx>
          <c:spPr>
            <a:solidFill xmlns:a="http://schemas.openxmlformats.org/drawingml/2006/main">
              <a:srgbClr val="15866C"/>
            </a:solidFill>
          </c:spPr>
          <c:dPt>
            <c:idx val="0"/>
            <c:invertIfNegative val="0"/>
            <c:spPr>
              <a:solidFill xmlns:a="http://schemas.openxmlformats.org/drawingml/2006/main">
                <a:srgbClr val="80939A"/>
              </a:solidFill>
            </c:spPr>
          </c:dPt>
          <c:dPt>
            <c:idx val="1"/>
            <c:invertIfNegative val="0"/>
            <c:spPr>
              <a:solidFill xmlns:a="http://schemas.openxmlformats.org/drawingml/2006/main">
                <a:srgbClr val="15866C"/>
              </a:solidFill>
            </c:spPr>
          </c:dPt>
          <c:dLbls>
            <c:dLbl>
              <c:idx val="0"/>
              <c:tx>
                <c:rich>
                  <a:bodyPr xmlns:a="http://schemas.openxmlformats.org/drawingml/2006/main"/>
                  <a:lstStyle xmlns:a="http://schemas.openxmlformats.org/drawingml/2006/main"/>
                  <a:p xmlns:a="http://schemas.openxmlformats.org/drawingml/2006/main">
                    <a:r>
                      <a:rPr sz="2025" b="1">
                        <a:solidFill>
                          <a:srgbClr val="102C32"/>
                        </a:solidFill>
                        <a:latin typeface="Arial"/>
                        <a:ea typeface="Arial"/>
                        <a:cs typeface="Arial"/>
                      </a:rPr>
                      <a:t>82.54%</a:t>
                    </a:r>
                  </a:p>
                </c:rich>
              </c:tx>
              <c:txPr>
                <a:bodyPr xmlns:a="http://schemas.openxmlformats.org/drawingml/2006/main" anchorCtr="1"/>
                <a:lstStyle xmlns:a="http://schemas.openxmlformats.org/drawingml/2006/main"/>
                <a:p xmlns:a="http://schemas.openxmlformats.org/drawingml/2006/main">
                  <a:pPr>
                    <a:defRPr sz="2025" b="1">
                      <a:solidFill>
                        <a:srgbClr val="102C32"/>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025" b="1">
                        <a:solidFill>
                          <a:srgbClr val="102C32"/>
                        </a:solidFill>
                        <a:latin typeface="Arial"/>
                        <a:ea typeface="Arial"/>
                        <a:cs typeface="Arial"/>
                      </a:rPr>
                      <a:t>17.46%</a:t>
                    </a:r>
                  </a:p>
                </c:rich>
              </c:tx>
              <c:txPr>
                <a:bodyPr xmlns:a="http://schemas.openxmlformats.org/drawingml/2006/main" anchorCtr="1"/>
                <a:lstStyle xmlns:a="http://schemas.openxmlformats.org/drawingml/2006/main"/>
                <a:p xmlns:a="http://schemas.openxmlformats.org/drawingml/2006/main">
                  <a:pPr>
                    <a:defRPr sz="2025" b="1">
                      <a:solidFill>
                        <a:srgbClr val="102C32"/>
                      </a:solidFill>
                      <a:latin typeface="Arial"/>
                      <a:ea typeface="Arial"/>
                      <a:cs typeface="Arial"/>
                    </a:defRPr>
                  </a:pPr>
                </a:p>
              </c:txPr>
              <c:dLblPos val="outEnd"/>
              <c:showLegendKey val="0"/>
              <c:showVal val="0"/>
              <c:showCatName val="0"/>
              <c:showSerName val="0"/>
              <c:showPercent val="0"/>
              <c:showBubbleSize val="0"/>
            </c:dLbl>
          </c:dLbls>
          <c:cat>
            <c:strRef>
              <c:f>'Chart Data'!$A$2:$A$3</c:f>
              <c:strCache>
                <c:ptCount val="2"/>
                <c:pt idx="0">
                  <c:v>No</c:v>
                </c:pt>
                <c:pt idx="1">
                  <c:v>Yes</c:v>
                </c:pt>
              </c:strCache>
            </c:strRef>
          </c:cat>
          <c:val>
            <c:numRef>
              <c:f>'Chart Data'!$B$2:$B$3</c:f>
              <c:numCache>
                <c:formatCode>0.00"%"</c:formatCode>
                <c:ptCount val="2"/>
                <c:pt idx="0">
                  <c:v>82.54</c:v>
                </c:pt>
                <c:pt idx="1">
                  <c:v>17.46</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02C32"/>
                  </a:solidFill>
                  <a:latin typeface="Arial"/>
                  <a:ea typeface="Arial"/>
                  <a:cs typeface="Arial"/>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E2DC"/>
            </a:solidFill>
          </a:ln>
        </c:spPr>
        <c:txPr>
          <a:bodyPr xmlns:a="http://schemas.openxmlformats.org/drawingml/2006/main" anchorCtr="1"/>
          <a:lstStyle xmlns:a="http://schemas.openxmlformats.org/drawingml/2006/main"/>
          <a:p xmlns:a="http://schemas.openxmlformats.org/drawingml/2006/main">
            <a:pPr>
              <a:defRPr sz="1725">
                <a:solidFill>
                  <a:srgbClr val="102C32"/>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6E2DC"/>
              </a:solidFill>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496168"/>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02C32"/>
                </a:solidFill>
                <a:latin typeface="Arial"/>
                <a:ea typeface="Arial"/>
                <a:cs typeface="Arial"/>
              </a:rPr>
              <a:t>Observed share of Yes labels</a:t>
            </a:r>
          </a:p>
        </c:rich>
      </c:tx>
      <c:overlay val="0"/>
      <c:txPr>
        <a:bodyPr xmlns:a="http://schemas.openxmlformats.org/drawingml/2006/main" anchorCtr="1"/>
        <a:lstStyle xmlns:a="http://schemas.openxmlformats.org/drawingml/2006/main"/>
        <a:p xmlns:a="http://schemas.openxmlformats.org/drawingml/2006/main">
          <a:pPr>
            <a:defRPr sz="1950" b="1">
              <a:solidFill>
                <a:srgbClr val="102C32"/>
              </a:solidFill>
              <a:latin typeface="Arial"/>
              <a:ea typeface="Arial"/>
              <a:cs typeface="Arial"/>
            </a:defRPr>
          </a:pPr>
        </a:p>
      </c:txPr>
    </c:title>
    <c:plotArea>
      <c:barChart>
        <c:barDir val="col"/>
        <c:grouping val="clustered"/>
        <c:varyColors val="0"/>
        <c:ser>
          <c:idx val="0"/>
          <c:order val="0"/>
          <c:tx>
            <c:v>Share of records (%)</c:v>
          </c:tx>
          <c:spPr>
            <a:solidFill xmlns:a="http://schemas.openxmlformats.org/drawingml/2006/main">
              <a:srgbClr val="15866C"/>
            </a:solidFill>
          </c:spPr>
          <c:dPt>
            <c:idx val="0"/>
            <c:invertIfNegative val="0"/>
            <c:spPr>
              <a:solidFill xmlns:a="http://schemas.openxmlformats.org/drawingml/2006/main">
                <a:srgbClr val="15866C"/>
              </a:solidFill>
            </c:spPr>
          </c:dPt>
          <c:dPt>
            <c:idx val="1"/>
            <c:invertIfNegative val="0"/>
            <c:spPr>
              <a:solidFill xmlns:a="http://schemas.openxmlformats.org/drawingml/2006/main">
                <a:srgbClr val="80939A"/>
              </a:solidFill>
            </c:spPr>
          </c:dPt>
          <c:dPt>
            <c:idx val="2"/>
            <c:invertIfNegative val="0"/>
            <c:spPr>
              <a:solidFill xmlns:a="http://schemas.openxmlformats.org/drawingml/2006/main">
                <a:srgbClr val="15866C"/>
              </a:solidFill>
            </c:spPr>
          </c:dPt>
          <c:dPt>
            <c:idx val="3"/>
            <c:invertIfNegative val="0"/>
            <c:spPr>
              <a:solidFill xmlns:a="http://schemas.openxmlformats.org/drawingml/2006/main">
                <a:srgbClr val="80939A"/>
              </a:solidFill>
            </c:spPr>
          </c:dPt>
          <c:dLbls>
            <c:dLbl>
              <c:idx val="0"/>
              <c:tx>
                <c:rich>
                  <a:bodyPr xmlns:a="http://schemas.openxmlformats.org/drawingml/2006/main"/>
                  <a:lstStyle xmlns:a="http://schemas.openxmlformats.org/drawingml/2006/main"/>
                  <a:p xmlns:a="http://schemas.openxmlformats.org/drawingml/2006/main">
                    <a:r>
                      <a:rPr sz="2025" b="1">
                        <a:solidFill>
                          <a:srgbClr val="102C32"/>
                        </a:solidFill>
                        <a:latin typeface="Arial"/>
                        <a:ea typeface="Arial"/>
                        <a:cs typeface="Arial"/>
                      </a:rPr>
                      <a:t>27.47%</a:t>
                    </a:r>
                  </a:p>
                </c:rich>
              </c:tx>
              <c:txPr>
                <a:bodyPr xmlns:a="http://schemas.openxmlformats.org/drawingml/2006/main" anchorCtr="1"/>
                <a:lstStyle xmlns:a="http://schemas.openxmlformats.org/drawingml/2006/main"/>
                <a:p xmlns:a="http://schemas.openxmlformats.org/drawingml/2006/main">
                  <a:pPr>
                    <a:defRPr sz="2025" b="1">
                      <a:solidFill>
                        <a:srgbClr val="102C32"/>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025" b="1">
                        <a:solidFill>
                          <a:srgbClr val="102C32"/>
                        </a:solidFill>
                        <a:latin typeface="Arial"/>
                        <a:ea typeface="Arial"/>
                        <a:cs typeface="Arial"/>
                      </a:rPr>
                      <a:t>0.58%</a:t>
                    </a:r>
                  </a:p>
                </c:rich>
              </c:tx>
              <c:txPr>
                <a:bodyPr xmlns:a="http://schemas.openxmlformats.org/drawingml/2006/main" anchorCtr="1"/>
                <a:lstStyle xmlns:a="http://schemas.openxmlformats.org/drawingml/2006/main"/>
                <a:p xmlns:a="http://schemas.openxmlformats.org/drawingml/2006/main">
                  <a:pPr>
                    <a:defRPr sz="2025" b="1">
                      <a:solidFill>
                        <a:srgbClr val="102C32"/>
                      </a:solidFill>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2025" b="1">
                        <a:solidFill>
                          <a:srgbClr val="102C32"/>
                        </a:solidFill>
                        <a:latin typeface="Arial"/>
                        <a:ea typeface="Arial"/>
                        <a:cs typeface="Arial"/>
                      </a:rPr>
                      <a:t>19.58%</a:t>
                    </a:r>
                  </a:p>
                </c:rich>
              </c:tx>
              <c:txPr>
                <a:bodyPr xmlns:a="http://schemas.openxmlformats.org/drawingml/2006/main" anchorCtr="1"/>
                <a:lstStyle xmlns:a="http://schemas.openxmlformats.org/drawingml/2006/main"/>
                <a:p xmlns:a="http://schemas.openxmlformats.org/drawingml/2006/main">
                  <a:pPr>
                    <a:defRPr sz="2025" b="1">
                      <a:solidFill>
                        <a:srgbClr val="102C32"/>
                      </a:solidFill>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2025" b="1">
                        <a:solidFill>
                          <a:srgbClr val="102C32"/>
                        </a:solidFill>
                        <a:latin typeface="Arial"/>
                        <a:ea typeface="Arial"/>
                        <a:cs typeface="Arial"/>
                      </a:rPr>
                      <a:t>12.71%</a:t>
                    </a:r>
                  </a:p>
                </c:rich>
              </c:tx>
              <c:txPr>
                <a:bodyPr xmlns:a="http://schemas.openxmlformats.org/drawingml/2006/main" anchorCtr="1"/>
                <a:lstStyle xmlns:a="http://schemas.openxmlformats.org/drawingml/2006/main"/>
                <a:p xmlns:a="http://schemas.openxmlformats.org/drawingml/2006/main">
                  <a:pPr>
                    <a:defRPr sz="2025" b="1">
                      <a:solidFill>
                        <a:srgbClr val="102C32"/>
                      </a:solidFill>
                      <a:latin typeface="Arial"/>
                      <a:ea typeface="Arial"/>
                      <a:cs typeface="Arial"/>
                    </a:defRPr>
                  </a:pPr>
                </a:p>
              </c:txPr>
              <c:dLblPos val="outEnd"/>
              <c:showLegendKey val="0"/>
              <c:showVal val="0"/>
              <c:showCatName val="0"/>
              <c:showSerName val="0"/>
              <c:showPercent val="0"/>
              <c:showBubbleSize val="0"/>
            </c:dLbl>
          </c:dLbls>
          <c:cat>
            <c:strRef>
              <c:f>'Chart Data'!$A$2:$A$5</c:f>
              <c:strCache>
                <c:ptCount val="4"/>
                <c:pt idx="0">
                  <c:v>Subsidy
Yes</c:v>
                </c:pt>
                <c:pt idx="1">
                  <c:v>Subsidy
No</c:v>
                </c:pt>
                <c:pt idx="2">
                  <c:v>Home charging
Yes</c:v>
                </c:pt>
                <c:pt idx="3">
                  <c:v>Home charging
No</c:v>
                </c:pt>
              </c:strCache>
            </c:strRef>
          </c:cat>
          <c:val>
            <c:numRef>
              <c:f>'Chart Data'!$B$2:$B$5</c:f>
              <c:numCache>
                <c:formatCode>0.00"%"</c:formatCode>
                <c:ptCount val="4"/>
                <c:pt idx="0">
                  <c:v>27.47</c:v>
                </c:pt>
                <c:pt idx="1">
                  <c:v>0.58</c:v>
                </c:pt>
                <c:pt idx="2">
                  <c:v>19.58</c:v>
                </c:pt>
                <c:pt idx="3">
                  <c:v>12.71</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02C32"/>
                  </a:solidFill>
                  <a:latin typeface="Arial"/>
                  <a:ea typeface="Arial"/>
                  <a:cs typeface="Arial"/>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E2DC"/>
            </a:solidFill>
          </a:ln>
        </c:spPr>
        <c:txPr>
          <a:bodyPr xmlns:a="http://schemas.openxmlformats.org/drawingml/2006/main" anchorCtr="1"/>
          <a:lstStyle xmlns:a="http://schemas.openxmlformats.org/drawingml/2006/main"/>
          <a:p xmlns:a="http://schemas.openxmlformats.org/drawingml/2006/main">
            <a:pPr>
              <a:defRPr sz="1725">
                <a:solidFill>
                  <a:srgbClr val="102C32"/>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D6E2DC"/>
              </a:solidFill>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496168"/>
                </a:solidFill>
                <a:latin typeface="Arial"/>
                <a:ea typeface="Arial"/>
                <a:cs typeface="Arial"/>
              </a:defRPr>
            </a:pPr>
          </a:p>
        </c:txPr>
        <c:crossAx val="48650112"/>
        <c:crossBetween val="between"/>
        <c:majorUnit val="8"/>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32"/>
        </a:solidFill>
      </p:bgPr>
    </p:bg>
    <p:spTree>
      <p:nvGrpSpPr>
        <p:cNvPr id="1" name=""/>
        <p:cNvGrpSpPr/>
        <p:nvPr/>
      </p:nvGrpSpPr>
      <p:grpSpPr>
        <a:xfrm xmlns:a="http://schemas.openxmlformats.org/drawingml/2006/main"/>
      </p:grpSpPr>
      <p:sp>
        <p:nvSpPr>
          <p:cNvPr id="7" name="MSBA265  /  Final Project Proposal">
            <a:extLst xmlns:a="http://schemas.openxmlformats.org/drawingml/2006/main">
              <a:ext uri="{FF2B5EF4-FFF2-40B4-BE49-F238E27FC236}">
                <a16:creationId xmlns:a16="http://schemas.microsoft.com/office/drawing/2014/main" id="{F2B4ED21-E4C6-449E-A5E7-E011756BFE6C}"/>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C9DAD5"/>
                </a:solidFill>
                <a:latin typeface="Arial"/>
                <a:ea typeface="Arial"/>
                <a:cs typeface="Arial"/>
              </a:defRPr>
            </a:pPr>
            <a:r>
              <a:rPr sz="1275" b="0">
                <a:solidFill>
                  <a:srgbClr val="C9DAD5"/>
                </a:solidFill>
                <a:latin typeface="Arial"/>
                <a:ea typeface="Arial"/>
                <a:cs typeface="Arial"/>
              </a:rPr>
              <a:t>MSBA265  /  Final Project Proposal</a:t>
            </a:r>
          </a:p>
        </p:txBody>
      </p:sp>
      <p:sp>
        <p:nvSpPr>
          <p:cNvPr id="2" name="01">
            <a:extLst xmlns:a="http://schemas.openxmlformats.org/drawingml/2006/main">
              <a:ext uri="{FF2B5EF4-FFF2-40B4-BE49-F238E27FC236}">
                <a16:creationId xmlns:a16="http://schemas.microsoft.com/office/drawing/2014/main" id="{0C59BF84-1A55-40F9-9085-E1200071417D}"/>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9DAD5"/>
                </a:solidFill>
                <a:latin typeface="Arial"/>
                <a:ea typeface="Arial"/>
                <a:cs typeface="Arial"/>
              </a:defRPr>
            </a:pPr>
            <a:r>
              <a:rPr sz="1350" b="0">
                <a:solidFill>
                  <a:srgbClr val="C9DAD5"/>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63430fbfc5b4018"/>
          <a:srcRect xmlns:a="http://schemas.openxmlformats.org/drawingml/2006/main" l="0" t="1498" r="0" b="1498"/>
          <a:stretch xmlns:a="http://schemas.openxmlformats.org/drawingml/2006/main">
            <a:fillRect l="0" t="0" r="0" b="0"/>
          </a:stretch>
        </p:blipFill>
        <p:spPr>
          <a:xfrm xmlns:a="http://schemas.openxmlformats.org/drawingml/2006/main">
            <a:off x="6534150" y="0"/>
            <a:ext cx="5657850" cy="6858000"/>
          </a:xfrm>
          <a:prstGeom xmlns:a="http://schemas.openxmlformats.org/drawingml/2006/main" prst="rect">
            <a:avLst/>
          </a:prstGeom>
        </p:spPr>
      </p:pic>
      <p:sp>
        <p:nvSpPr>
          <p:cNvPr id="4" name="EV Customer&#10;Prioritization">
            <a:extLst xmlns:a="http://schemas.openxmlformats.org/drawingml/2006/main">
              <a:ext uri="{FF2B5EF4-FFF2-40B4-BE49-F238E27FC236}">
                <a16:creationId xmlns:a16="http://schemas.microsoft.com/office/drawing/2014/main" id="{1495A16D-B1D7-4876-9F0C-8BBFD2751E3F}"/>
              </a:ext>
            </a:extLst>
          </p:cNvPr>
          <p:cNvSpPr>
            <a:spLocks xmlns:a="http://schemas.openxmlformats.org/drawingml/2006/main" noGrp="1"/>
          </p:cNvSpPr>
          <p:nvPr/>
        </p:nvSpPr>
        <p:spPr>
          <a:xfrm xmlns:a="http://schemas.openxmlformats.org/drawingml/2006/main">
            <a:off x="609600" y="1428750"/>
            <a:ext cx="56769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EV Customer</a:t>
            </a:r>
          </a:p>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Prioritization</a:t>
            </a:r>
          </a:p>
        </p:txBody>
      </p:sp>
      <p:sp>
        <p:nvSpPr>
          <p:cNvPr id="5" name="Final Project Proposal">
            <a:extLst xmlns:a="http://schemas.openxmlformats.org/drawingml/2006/main">
              <a:ext uri="{FF2B5EF4-FFF2-40B4-BE49-F238E27FC236}">
                <a16:creationId xmlns:a16="http://schemas.microsoft.com/office/drawing/2014/main" id="{D8F943D9-F139-42CA-A72A-6AD93734E818}"/>
              </a:ext>
            </a:extLst>
          </p:cNvPr>
          <p:cNvSpPr>
            <a:spLocks xmlns:a="http://schemas.openxmlformats.org/drawingml/2006/main" noGrp="1"/>
          </p:cNvSpPr>
          <p:nvPr/>
        </p:nvSpPr>
        <p:spPr>
          <a:xfrm xmlns:a="http://schemas.openxmlformats.org/drawingml/2006/main">
            <a:off x="609600" y="3467100"/>
            <a:ext cx="552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C9DAD5"/>
                </a:solidFill>
                <a:latin typeface="Arial"/>
                <a:ea typeface="Arial"/>
                <a:cs typeface="Arial"/>
              </a:defRPr>
            </a:pPr>
            <a:r>
              <a:rPr sz="2250" b="0">
                <a:solidFill>
                  <a:srgbClr val="C9DAD5"/>
                </a:solidFill>
                <a:latin typeface="Arial"/>
                <a:ea typeface="Arial"/>
                <a:cs typeface="Arial"/>
              </a:rPr>
              <a:t>Final Project Proposal</a:t>
            </a:r>
          </a:p>
        </p:txBody>
      </p:sp>
      <p:sp>
        <p:nvSpPr>
          <p:cNvPr id="6" name="Nu Quynh Chau Nguyen&#10;MSBA265">
            <a:extLst xmlns:a="http://schemas.openxmlformats.org/drawingml/2006/main">
              <a:ext uri="{FF2B5EF4-FFF2-40B4-BE49-F238E27FC236}">
                <a16:creationId xmlns:a16="http://schemas.microsoft.com/office/drawing/2014/main" id="{4C9CA86E-C758-4408-89F2-640AF625C1F4}"/>
              </a:ext>
            </a:extLst>
          </p:cNvPr>
          <p:cNvSpPr>
            <a:spLocks xmlns:a="http://schemas.openxmlformats.org/drawingml/2006/main" noGrp="1"/>
          </p:cNvSpPr>
          <p:nvPr/>
        </p:nvSpPr>
        <p:spPr>
          <a:xfrm xmlns:a="http://schemas.openxmlformats.org/drawingml/2006/main">
            <a:off x="609600" y="4791075"/>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Nu Quynh Chau Nguyen</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MSBA265</a:t>
            </a:r>
          </a:p>
        </p:txBody>
      </p:sp>
    </p:spTree>
    <p:extLst>
      <p:ext uri="{BB962C8B-B14F-4D97-AF65-F5344CB8AC3E}">
        <p14:creationId xmlns:p14="http://schemas.microsoft.com/office/powerpoint/2010/main" val="5923462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he business decision">
            <a:extLst xmlns:a="http://schemas.openxmlformats.org/drawingml/2006/main">
              <a:ext uri="{FF2B5EF4-FFF2-40B4-BE49-F238E27FC236}">
                <a16:creationId xmlns:a16="http://schemas.microsoft.com/office/drawing/2014/main" id="{516709D8-E04D-4CB8-BEC9-5BF648133985}"/>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The business decision</a:t>
            </a:r>
          </a:p>
        </p:txBody>
      </p:sp>
      <p:sp>
        <p:nvSpPr>
          <p:cNvPr id="2" name="MSBA265  /  Final Project Proposal">
            <a:extLst xmlns:a="http://schemas.openxmlformats.org/drawingml/2006/main">
              <a:ext uri="{FF2B5EF4-FFF2-40B4-BE49-F238E27FC236}">
                <a16:creationId xmlns:a16="http://schemas.microsoft.com/office/drawing/2014/main" id="{9E741BA1-7AFE-4204-93A7-E9DA891D4AE8}"/>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96168"/>
                </a:solidFill>
                <a:latin typeface="Arial"/>
                <a:ea typeface="Arial"/>
                <a:cs typeface="Arial"/>
              </a:defRPr>
            </a:pPr>
            <a:r>
              <a:rPr sz="1275" b="0">
                <a:solidFill>
                  <a:srgbClr val="496168"/>
                </a:solidFill>
                <a:latin typeface="Arial"/>
                <a:ea typeface="Arial"/>
                <a:cs typeface="Arial"/>
              </a:rPr>
              <a:t>MSBA265  /  Final Project Proposal</a:t>
            </a:r>
          </a:p>
        </p:txBody>
      </p:sp>
      <p:sp>
        <p:nvSpPr>
          <p:cNvPr id="3" name="02">
            <a:extLst xmlns:a="http://schemas.openxmlformats.org/drawingml/2006/main">
              <a:ext uri="{FF2B5EF4-FFF2-40B4-BE49-F238E27FC236}">
                <a16:creationId xmlns:a16="http://schemas.microsoft.com/office/drawing/2014/main" id="{30610BCF-83DE-433F-8CCC-C0803036B8D3}"/>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96168"/>
                </a:solidFill>
                <a:latin typeface="Arial"/>
                <a:ea typeface="Arial"/>
                <a:cs typeface="Arial"/>
              </a:defRPr>
            </a:pPr>
            <a:r>
              <a:rPr sz="1350" b="0">
                <a:solidFill>
                  <a:srgbClr val="496168"/>
                </a:solidFill>
                <a:latin typeface="Arial"/>
                <a:ea typeface="Arial"/>
                <a:cs typeface="Arial"/>
              </a:rPr>
              <a:t>02</a:t>
            </a:r>
          </a:p>
        </p:txBody>
      </p:sp>
      <p:sp>
        <p:nvSpPr>
          <p:cNvPr id="4" name="Which customer profiles&#10;should receive outrea">
            <a:extLst xmlns:a="http://schemas.openxmlformats.org/drawingml/2006/main">
              <a:ext uri="{FF2B5EF4-FFF2-40B4-BE49-F238E27FC236}">
                <a16:creationId xmlns:a16="http://schemas.microsoft.com/office/drawing/2014/main" id="{06108722-FCBE-48C0-BEF4-AC748C13AF4D}"/>
              </a:ext>
            </a:extLst>
          </p:cNvPr>
          <p:cNvSpPr>
            <a:spLocks xmlns:a="http://schemas.openxmlformats.org/drawingml/2006/main" noGrp="1"/>
          </p:cNvSpPr>
          <p:nvPr/>
        </p:nvSpPr>
        <p:spPr>
          <a:xfrm xmlns:a="http://schemas.openxmlformats.org/drawingml/2006/main">
            <a:off x="609600" y="1495425"/>
            <a:ext cx="1062037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02C32"/>
                </a:solidFill>
                <a:latin typeface="Arial"/>
                <a:ea typeface="Arial"/>
                <a:cs typeface="Arial"/>
              </a:defRPr>
            </a:pPr>
            <a:r>
              <a:rPr sz="3225" b="1">
                <a:solidFill>
                  <a:srgbClr val="102C32"/>
                </a:solidFill>
                <a:latin typeface="Arial"/>
                <a:ea typeface="Arial"/>
                <a:cs typeface="Arial"/>
              </a:rPr>
              <a:t>Which customer profiles</a:t>
            </a:r>
          </a:p>
          <a:p xmlns:a="http://schemas.openxmlformats.org/drawingml/2006/main">
            <a:pPr algn="l">
              <a:defRPr sz="3225" b="1">
                <a:solidFill>
                  <a:srgbClr val="102C32"/>
                </a:solidFill>
                <a:latin typeface="Arial"/>
                <a:ea typeface="Arial"/>
                <a:cs typeface="Arial"/>
              </a:defRPr>
            </a:pPr>
            <a:r>
              <a:rPr sz="3225" b="1">
                <a:solidFill>
                  <a:srgbClr val="102C32"/>
                </a:solidFill>
                <a:latin typeface="Arial"/>
                <a:ea typeface="Arial"/>
                <a:cs typeface="Arial"/>
              </a:rPr>
              <a:t>should receive outreach first?</a:t>
            </a:r>
          </a:p>
        </p:txBody>
      </p:sp>
      <p:sp>
        <p:nvSpPr>
          <p:cNvPr id="5" name="Proposed user">
            <a:extLst xmlns:a="http://schemas.openxmlformats.org/drawingml/2006/main">
              <a:ext uri="{FF2B5EF4-FFF2-40B4-BE49-F238E27FC236}">
                <a16:creationId xmlns:a16="http://schemas.microsoft.com/office/drawing/2014/main" id="{6F6C779C-BA07-4A3B-A9E5-69219EA2B8BE}"/>
              </a:ext>
            </a:extLst>
          </p:cNvPr>
          <p:cNvSpPr>
            <a:spLocks xmlns:a="http://schemas.openxmlformats.org/drawingml/2006/main" noGrp="1"/>
          </p:cNvSpPr>
          <p:nvPr/>
        </p:nvSpPr>
        <p:spPr>
          <a:xfrm xmlns:a="http://schemas.openxmlformats.org/drawingml/2006/main">
            <a:off x="609600" y="32004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866C"/>
                </a:solidFill>
                <a:latin typeface="Arial"/>
                <a:ea typeface="Arial"/>
                <a:cs typeface="Arial"/>
              </a:defRPr>
            </a:pPr>
            <a:r>
              <a:rPr sz="2025" b="1">
                <a:solidFill>
                  <a:srgbClr val="15866C"/>
                </a:solidFill>
                <a:latin typeface="Arial"/>
                <a:ea typeface="Arial"/>
                <a:cs typeface="Arial"/>
              </a:rPr>
              <a:t>Proposed user</a:t>
            </a:r>
          </a:p>
        </p:txBody>
      </p:sp>
      <p:sp>
        <p:nvSpPr>
          <p:cNvPr id="6" name="An EV dealership or marketing manager&#10;with li">
            <a:extLst xmlns:a="http://schemas.openxmlformats.org/drawingml/2006/main">
              <a:ext uri="{FF2B5EF4-FFF2-40B4-BE49-F238E27FC236}">
                <a16:creationId xmlns:a16="http://schemas.microsoft.com/office/drawing/2014/main" id="{93E6116F-196B-4D9D-BF52-09E87DB88BF4}"/>
              </a:ext>
            </a:extLst>
          </p:cNvPr>
          <p:cNvSpPr>
            <a:spLocks xmlns:a="http://schemas.openxmlformats.org/drawingml/2006/main" noGrp="1"/>
          </p:cNvSpPr>
          <p:nvPr/>
        </p:nvSpPr>
        <p:spPr>
          <a:xfrm xmlns:a="http://schemas.openxmlformats.org/drawingml/2006/main">
            <a:off x="609600" y="3695700"/>
            <a:ext cx="5048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An EV dealership or marketing manager</a:t>
            </a:r>
          </a:p>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with limited contact capacity.</a:t>
            </a:r>
          </a:p>
        </p:txBody>
      </p:sp>
      <p:sp>
        <p:nvSpPr>
          <p:cNvPr id="7" name="Proposed decision">
            <a:extLst xmlns:a="http://schemas.openxmlformats.org/drawingml/2006/main">
              <a:ext uri="{FF2B5EF4-FFF2-40B4-BE49-F238E27FC236}">
                <a16:creationId xmlns:a16="http://schemas.microsoft.com/office/drawing/2014/main" id="{516BDAFA-4794-4126-9EAA-89A70001A408}"/>
              </a:ext>
            </a:extLst>
          </p:cNvPr>
          <p:cNvSpPr>
            <a:spLocks xmlns:a="http://schemas.openxmlformats.org/drawingml/2006/main" noGrp="1"/>
          </p:cNvSpPr>
          <p:nvPr/>
        </p:nvSpPr>
        <p:spPr>
          <a:xfrm xmlns:a="http://schemas.openxmlformats.org/drawingml/2006/main">
            <a:off x="6705600" y="32004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866C"/>
                </a:solidFill>
                <a:latin typeface="Arial"/>
                <a:ea typeface="Arial"/>
                <a:cs typeface="Arial"/>
              </a:defRPr>
            </a:pPr>
            <a:r>
              <a:rPr sz="2025" b="1">
                <a:solidFill>
                  <a:srgbClr val="15866C"/>
                </a:solidFill>
                <a:latin typeface="Arial"/>
                <a:ea typeface="Arial"/>
                <a:cs typeface="Arial"/>
              </a:rPr>
              <a:t>Proposed decision</a:t>
            </a:r>
          </a:p>
        </p:txBody>
      </p:sp>
      <p:sp>
        <p:nvSpPr>
          <p:cNvPr id="8" name="Choose a contact limit K, then receive&#10;a rank">
            <a:extLst xmlns:a="http://schemas.openxmlformats.org/drawingml/2006/main">
              <a:ext uri="{FF2B5EF4-FFF2-40B4-BE49-F238E27FC236}">
                <a16:creationId xmlns:a16="http://schemas.microsoft.com/office/drawing/2014/main" id="{12F35B2A-1534-4681-83BC-2C08237DB522}"/>
              </a:ext>
            </a:extLst>
          </p:cNvPr>
          <p:cNvSpPr>
            <a:spLocks xmlns:a="http://schemas.openxmlformats.org/drawingml/2006/main" noGrp="1"/>
          </p:cNvSpPr>
          <p:nvPr/>
        </p:nvSpPr>
        <p:spPr>
          <a:xfrm xmlns:a="http://schemas.openxmlformats.org/drawingml/2006/main">
            <a:off x="6705600" y="36957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Choose a contact limit K, then receive</a:t>
            </a:r>
          </a:p>
          <a:p xmlns:a="http://schemas.openxmlformats.org/drawingml/2006/main">
            <a:pPr algn="l">
              <a:defRPr sz="2175" b="0">
                <a:solidFill>
                  <a:srgbClr val="102C32"/>
                </a:solidFill>
                <a:latin typeface="Arial"/>
                <a:ea typeface="Arial"/>
                <a:cs typeface="Arial"/>
              </a:defRPr>
            </a:pPr>
            <a:r>
              <a:rPr sz="2175" b="0">
                <a:solidFill>
                  <a:srgbClr val="102C32"/>
                </a:solidFill>
                <a:latin typeface="Arial"/>
                <a:ea typeface="Arial"/>
                <a:cs typeface="Arial"/>
              </a:rPr>
              <a:t>a ranked shortlist of customer IDs.</a:t>
            </a:r>
          </a:p>
        </p:txBody>
      </p:sp>
      <p:sp>
        <p:nvSpPr>
          <p:cNvPr id="9" name="Project goal: find more profiles with a Yes l">
            <a:extLst xmlns:a="http://schemas.openxmlformats.org/drawingml/2006/main">
              <a:ext uri="{FF2B5EF4-FFF2-40B4-BE49-F238E27FC236}">
                <a16:creationId xmlns:a16="http://schemas.microsoft.com/office/drawing/2014/main" id="{BAD08EE2-EB25-4EEA-8E2F-5C835DF767CB}"/>
              </a:ext>
            </a:extLst>
          </p:cNvPr>
          <p:cNvSpPr>
            <a:spLocks xmlns:a="http://schemas.openxmlformats.org/drawingml/2006/main" noGrp="1"/>
          </p:cNvSpPr>
          <p:nvPr/>
        </p:nvSpPr>
        <p:spPr>
          <a:xfrm xmlns:a="http://schemas.openxmlformats.org/drawingml/2006/main">
            <a:off x="609600" y="53911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C32"/>
                </a:solidFill>
                <a:latin typeface="Arial"/>
                <a:ea typeface="Arial"/>
                <a:cs typeface="Arial"/>
              </a:defRPr>
            </a:pPr>
            <a:r>
              <a:rPr sz="2175" b="1">
                <a:solidFill>
                  <a:srgbClr val="102C32"/>
                </a:solidFill>
                <a:latin typeface="Arial"/>
                <a:ea typeface="Arial"/>
                <a:cs typeface="Arial"/>
              </a:rPr>
              <a:t>Project goal: find more profiles with a Yes label within the same contact limit.</a:t>
            </a:r>
          </a:p>
        </p:txBody>
      </p:sp>
    </p:spTree>
    <p:extLst>
      <p:ext uri="{BB962C8B-B14F-4D97-AF65-F5344CB8AC3E}">
        <p14:creationId xmlns:p14="http://schemas.microsoft.com/office/powerpoint/2010/main" val="587612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he approved Kaggle dataset">
            <a:extLst xmlns:a="http://schemas.openxmlformats.org/drawingml/2006/main">
              <a:ext uri="{FF2B5EF4-FFF2-40B4-BE49-F238E27FC236}">
                <a16:creationId xmlns:a16="http://schemas.microsoft.com/office/drawing/2014/main" id="{9773D1B6-59B2-462D-9BE9-4B067D077E9E}"/>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The approved Kaggle dataset</a:t>
            </a:r>
          </a:p>
        </p:txBody>
      </p:sp>
      <p:sp>
        <p:nvSpPr>
          <p:cNvPr id="2" name="MSBA265  /  Final Project Proposal">
            <a:extLst xmlns:a="http://schemas.openxmlformats.org/drawingml/2006/main">
              <a:ext uri="{FF2B5EF4-FFF2-40B4-BE49-F238E27FC236}">
                <a16:creationId xmlns:a16="http://schemas.microsoft.com/office/drawing/2014/main" id="{21AACC2D-1DFB-4961-B4F2-35E41DEC15E3}"/>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96168"/>
                </a:solidFill>
                <a:latin typeface="Arial"/>
                <a:ea typeface="Arial"/>
                <a:cs typeface="Arial"/>
              </a:defRPr>
            </a:pPr>
            <a:r>
              <a:rPr sz="1275" b="0">
                <a:solidFill>
                  <a:srgbClr val="496168"/>
                </a:solidFill>
                <a:latin typeface="Arial"/>
                <a:ea typeface="Arial"/>
                <a:cs typeface="Arial"/>
              </a:rPr>
              <a:t>MSBA265  /  Final Project Proposal</a:t>
            </a:r>
          </a:p>
        </p:txBody>
      </p:sp>
      <p:sp>
        <p:nvSpPr>
          <p:cNvPr id="3" name="03">
            <a:extLst xmlns:a="http://schemas.openxmlformats.org/drawingml/2006/main">
              <a:ext uri="{FF2B5EF4-FFF2-40B4-BE49-F238E27FC236}">
                <a16:creationId xmlns:a16="http://schemas.microsoft.com/office/drawing/2014/main" id="{26F23E9D-CBE2-4104-B6CA-23DB56CEE95A}"/>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96168"/>
                </a:solidFill>
                <a:latin typeface="Arial"/>
                <a:ea typeface="Arial"/>
                <a:cs typeface="Arial"/>
              </a:defRPr>
            </a:pPr>
            <a:r>
              <a:rPr sz="1350" b="0">
                <a:solidFill>
                  <a:srgbClr val="496168"/>
                </a:solidFill>
                <a:latin typeface="Arial"/>
                <a:ea typeface="Arial"/>
                <a:cs typeface="Arial"/>
              </a:rPr>
              <a:t>03</a:t>
            </a:r>
          </a:p>
        </p:txBody>
      </p:sp>
      <p:sp>
        <p:nvSpPr>
          <p:cNvPr id="4" name="Predicting Electric Vehicle Purchases">
            <a:extLst xmlns:a="http://schemas.openxmlformats.org/drawingml/2006/main">
              <a:ext uri="{FF2B5EF4-FFF2-40B4-BE49-F238E27FC236}">
                <a16:creationId xmlns:a16="http://schemas.microsoft.com/office/drawing/2014/main" id="{2BFB9040-0212-4B61-B79E-23EFAF3191E7}"/>
              </a:ext>
            </a:extLst>
          </p:cNvPr>
          <p:cNvSpPr>
            <a:spLocks xmlns:a="http://schemas.openxmlformats.org/drawingml/2006/main" noGrp="1"/>
          </p:cNvSpPr>
          <p:nvPr/>
        </p:nvSpPr>
        <p:spPr>
          <a:xfrm xmlns:a="http://schemas.openxmlformats.org/drawingml/2006/main">
            <a:off x="609600" y="13144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866C"/>
                </a:solidFill>
                <a:latin typeface="Arial"/>
                <a:ea typeface="Arial"/>
                <a:cs typeface="Arial"/>
              </a:defRPr>
            </a:pPr>
            <a:r>
              <a:rPr sz="2250" b="1">
                <a:solidFill>
                  <a:srgbClr val="15866C"/>
                </a:solidFill>
                <a:latin typeface="Arial"/>
                <a:ea typeface="Arial"/>
                <a:cs typeface="Arial"/>
              </a:rPr>
              <a:t>Predicting Electric Vehicle Purchases</a:t>
            </a:r>
          </a:p>
        </p:txBody>
      </p:sp>
      <p:graphicFrame>
        <p:nvGraphicFramePr>
          <p:cNvPr id="14" name=""/>
          <p:cNvGraphicFramePr/>
          <p:nvPr/>
        </p:nvGraphicFramePr>
        <p:xfrm>
          <a:off xmlns:a="http://schemas.openxmlformats.org/drawingml/2006/main" x="609600" y="1990725"/>
          <a:ext xmlns:a="http://schemas.openxmlformats.org/drawingml/2006/main" cx="10972800" cy="2628900"/>
        </p:xfrm>
        <a:graphic xmlns:a="http://schemas.openxmlformats.org/drawingml/2006/main">
          <a:graphicData uri="http://schemas.openxmlformats.org/drawingml/2006/table">
            <a:tbl>
              <a:tblPr firstRow="1" bandRow="0"/>
              <a:tblGrid>
                <a:gridCol w="2952750"/>
                <a:gridCol w="2047875"/>
                <a:gridCol w="5972175"/>
              </a:tblGrid>
              <a:tr h="657225">
                <a:tc>
                  <a:txBody>
                    <a:bodyPr/>
                    <a:lstStyle/>
                    <a:p>
                      <a:r>
                        <a:rPr sz="1875" b="1">
                          <a:solidFill>
                            <a:srgbClr val="FFFFFF"/>
                          </a:solidFill>
                          <a:latin typeface="Arial"/>
                          <a:ea typeface="Arial"/>
                          <a:cs typeface="Arial"/>
                        </a:rPr>
                        <a:t>File</a:t>
                      </a:r>
                    </a:p>
                  </a:txBody>
                  <a:tcPr marL="133350" marR="133350" marT="114300" marB="114300" anchor="ctr">
                    <a:solidFill>
                      <a:srgbClr val="102C32"/>
                    </a:solidFill>
                  </a:tcPr>
                </a:tc>
                <a:tc>
                  <a:txBody>
                    <a:bodyPr/>
                    <a:lstStyle/>
                    <a:p>
                      <a:r>
                        <a:rPr sz="1875" b="1">
                          <a:solidFill>
                            <a:srgbClr val="FFFFFF"/>
                          </a:solidFill>
                          <a:latin typeface="Arial"/>
                          <a:ea typeface="Arial"/>
                          <a:cs typeface="Arial"/>
                        </a:rPr>
                        <a:t>Records</a:t>
                      </a:r>
                    </a:p>
                  </a:txBody>
                  <a:tcPr marL="133350" marR="133350" marT="114300" marB="114300" anchor="ctr">
                    <a:solidFill>
                      <a:srgbClr val="102C32"/>
                    </a:solidFill>
                  </a:tcPr>
                </a:tc>
                <a:tc>
                  <a:txBody>
                    <a:bodyPr/>
                    <a:lstStyle/>
                    <a:p>
                      <a:r>
                        <a:rPr sz="1875" b="1">
                          <a:solidFill>
                            <a:srgbClr val="FFFFFF"/>
                          </a:solidFill>
                          <a:latin typeface="Arial"/>
                          <a:ea typeface="Arial"/>
                          <a:cs typeface="Arial"/>
                        </a:rPr>
                        <a:t>Purpose</a:t>
                      </a:r>
                    </a:p>
                  </a:txBody>
                  <a:tcPr marL="133350" marR="133350" marT="114300" marB="114300" anchor="ctr">
                    <a:solidFill>
                      <a:srgbClr val="102C32"/>
                    </a:solidFill>
                  </a:tcPr>
                </a:tc>
              </a:tr>
              <a:tr h="657225">
                <a:tc>
                  <a:txBody>
                    <a:bodyPr/>
                    <a:lstStyle/>
                    <a:p>
                      <a:r>
                        <a:rPr sz="1875">
                          <a:solidFill>
                            <a:srgbClr val="102C32"/>
                          </a:solidFill>
                          <a:latin typeface="Arial"/>
                          <a:ea typeface="Arial"/>
                          <a:cs typeface="Arial"/>
                        </a:rPr>
                        <a:t>train.csv</a:t>
                      </a:r>
                    </a:p>
                  </a:txBody>
                  <a:tcPr marL="133350" marR="133350" marT="114300" marB="114300" anchor="ctr">
                    <a:solidFill>
                      <a:srgbClr val="EFF5F2"/>
                    </a:solidFill>
                  </a:tcPr>
                </a:tc>
                <a:tc>
                  <a:txBody>
                    <a:bodyPr/>
                    <a:lstStyle/>
                    <a:p>
                      <a:r>
                        <a:rPr sz="1875">
                          <a:solidFill>
                            <a:srgbClr val="102C32"/>
                          </a:solidFill>
                          <a:latin typeface="Arial"/>
                          <a:ea typeface="Arial"/>
                          <a:cs typeface="Arial"/>
                        </a:rPr>
                        <a:t>668,665</a:t>
                      </a:r>
                    </a:p>
                  </a:txBody>
                  <a:tcPr marL="133350" marR="133350" marT="114300" marB="114300" anchor="ctr">
                    <a:solidFill>
                      <a:srgbClr val="EFF5F2"/>
                    </a:solidFill>
                  </a:tcPr>
                </a:tc>
                <a:tc>
                  <a:txBody>
                    <a:bodyPr/>
                    <a:lstStyle/>
                    <a:p>
                      <a:r>
                        <a:rPr sz="1875">
                          <a:solidFill>
                            <a:srgbClr val="102C32"/>
                          </a:solidFill>
                          <a:latin typeface="Arial"/>
                          <a:ea typeface="Arial"/>
                          <a:cs typeface="Arial"/>
                        </a:rPr>
                        <a:t>Profiles with Will_Buy_EV labels</a:t>
                      </a:r>
                    </a:p>
                  </a:txBody>
                  <a:tcPr marL="133350" marR="133350" marT="114300" marB="114300" anchor="ctr">
                    <a:solidFill>
                      <a:srgbClr val="EFF5F2"/>
                    </a:solidFill>
                  </a:tcPr>
                </a:tc>
              </a:tr>
              <a:tr h="657225">
                <a:tc>
                  <a:txBody>
                    <a:bodyPr/>
                    <a:lstStyle/>
                    <a:p>
                      <a:r>
                        <a:rPr sz="1875">
                          <a:solidFill>
                            <a:srgbClr val="102C32"/>
                          </a:solidFill>
                          <a:latin typeface="Arial"/>
                          <a:ea typeface="Arial"/>
                          <a:cs typeface="Arial"/>
                        </a:rPr>
                        <a:t>test.csv</a:t>
                      </a:r>
                    </a:p>
                  </a:txBody>
                  <a:tcPr marL="133350" marR="133350" marT="114300" marB="114300" anchor="ctr">
                    <a:solidFill>
                      <a:srgbClr val="FFFFFF"/>
                    </a:solidFill>
                  </a:tcPr>
                </a:tc>
                <a:tc>
                  <a:txBody>
                    <a:bodyPr/>
                    <a:lstStyle/>
                    <a:p>
                      <a:r>
                        <a:rPr sz="1875">
                          <a:solidFill>
                            <a:srgbClr val="102C32"/>
                          </a:solidFill>
                          <a:latin typeface="Arial"/>
                          <a:ea typeface="Arial"/>
                          <a:cs typeface="Arial"/>
                        </a:rPr>
                        <a:t>286,571</a:t>
                      </a:r>
                    </a:p>
                  </a:txBody>
                  <a:tcPr marL="133350" marR="133350" marT="114300" marB="114300" anchor="ctr">
                    <a:solidFill>
                      <a:srgbClr val="FFFFFF"/>
                    </a:solidFill>
                  </a:tcPr>
                </a:tc>
                <a:tc>
                  <a:txBody>
                    <a:bodyPr/>
                    <a:lstStyle/>
                    <a:p>
                      <a:r>
                        <a:rPr sz="1875">
                          <a:solidFill>
                            <a:srgbClr val="102C32"/>
                          </a:solidFill>
                          <a:latin typeface="Arial"/>
                          <a:ea typeface="Arial"/>
                          <a:cs typeface="Arial"/>
                        </a:rPr>
                        <a:t>Profiles without outcome labels</a:t>
                      </a:r>
                    </a:p>
                  </a:txBody>
                  <a:tcPr marL="133350" marR="133350" marT="114300" marB="114300" anchor="ctr">
                    <a:solidFill>
                      <a:srgbClr val="FFFFFF"/>
                    </a:solidFill>
                  </a:tcPr>
                </a:tc>
              </a:tr>
              <a:tr h="657225">
                <a:tc>
                  <a:txBody>
                    <a:bodyPr/>
                    <a:lstStyle/>
                    <a:p>
                      <a:r>
                        <a:rPr sz="1875">
                          <a:solidFill>
                            <a:srgbClr val="102C32"/>
                          </a:solidFill>
                          <a:latin typeface="Arial"/>
                          <a:ea typeface="Arial"/>
                          <a:cs typeface="Arial"/>
                        </a:rPr>
                        <a:t>sample_submission.csv</a:t>
                      </a:r>
                    </a:p>
                  </a:txBody>
                  <a:tcPr marL="133350" marR="133350" marT="114300" marB="114300" anchor="ctr">
                    <a:solidFill>
                      <a:srgbClr val="EFF5F2"/>
                    </a:solidFill>
                  </a:tcPr>
                </a:tc>
                <a:tc>
                  <a:txBody>
                    <a:bodyPr/>
                    <a:lstStyle/>
                    <a:p>
                      <a:r>
                        <a:rPr sz="1875">
                          <a:solidFill>
                            <a:srgbClr val="102C32"/>
                          </a:solidFill>
                          <a:latin typeface="Arial"/>
                          <a:ea typeface="Arial"/>
                          <a:cs typeface="Arial"/>
                        </a:rPr>
                        <a:t>286,571</a:t>
                      </a:r>
                    </a:p>
                  </a:txBody>
                  <a:tcPr marL="133350" marR="133350" marT="114300" marB="114300" anchor="ctr">
                    <a:solidFill>
                      <a:srgbClr val="EFF5F2"/>
                    </a:solidFill>
                  </a:tcPr>
                </a:tc>
                <a:tc>
                  <a:txBody>
                    <a:bodyPr/>
                    <a:lstStyle/>
                    <a:p>
                      <a:r>
                        <a:rPr sz="1875">
                          <a:solidFill>
                            <a:srgbClr val="102C32"/>
                          </a:solidFill>
                          <a:latin typeface="Arial"/>
                          <a:ea typeface="Arial"/>
                          <a:cs typeface="Arial"/>
                        </a:rPr>
                        <a:t>Template for predicted probabilities</a:t>
                      </a:r>
                    </a:p>
                  </a:txBody>
                  <a:tcPr marL="133350" marR="133350" marT="114300" marB="114300" anchor="ctr">
                    <a:solidFill>
                      <a:srgbClr val="EFF5F2"/>
                    </a:solidFill>
                  </a:tcPr>
                </a:tc>
              </a:tr>
            </a:tbl>
          </a:graphicData>
        </a:graphic>
      </p:graphicFrame>
      <p:sp>
        <p:nvSpPr>
          <p:cNvPr id="6" name="13 candidate predictors">
            <a:extLst xmlns:a="http://schemas.openxmlformats.org/drawingml/2006/main">
              <a:ext uri="{FF2B5EF4-FFF2-40B4-BE49-F238E27FC236}">
                <a16:creationId xmlns:a16="http://schemas.microsoft.com/office/drawing/2014/main" id="{8952F97F-B1D3-4BF3-A093-B09714E1846E}"/>
              </a:ext>
            </a:extLst>
          </p:cNvPr>
          <p:cNvSpPr>
            <a:spLocks xmlns:a="http://schemas.openxmlformats.org/drawingml/2006/main" noGrp="1"/>
          </p:cNvSpPr>
          <p:nvPr/>
        </p:nvSpPr>
        <p:spPr>
          <a:xfrm xmlns:a="http://schemas.openxmlformats.org/drawingml/2006/main">
            <a:off x="609600" y="49720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C32"/>
                </a:solidFill>
                <a:latin typeface="Arial"/>
                <a:ea typeface="Arial"/>
                <a:cs typeface="Arial"/>
              </a:defRPr>
            </a:pPr>
            <a:r>
              <a:rPr sz="2325" b="1">
                <a:solidFill>
                  <a:srgbClr val="102C32"/>
                </a:solidFill>
                <a:latin typeface="Arial"/>
                <a:ea typeface="Arial"/>
                <a:cs typeface="Arial"/>
              </a:rPr>
              <a:t>13 candidate predictors</a:t>
            </a:r>
          </a:p>
        </p:txBody>
      </p:sp>
      <p:sp>
        <p:nvSpPr>
          <p:cNvPr id="7" name="7 numeric and 6 categorical fields&#10;Customer I">
            <a:extLst xmlns:a="http://schemas.openxmlformats.org/drawingml/2006/main">
              <a:ext uri="{FF2B5EF4-FFF2-40B4-BE49-F238E27FC236}">
                <a16:creationId xmlns:a16="http://schemas.microsoft.com/office/drawing/2014/main" id="{A3D405D5-2189-4F3A-BFE5-34A473D6D8C1}"/>
              </a:ext>
            </a:extLst>
          </p:cNvPr>
          <p:cNvSpPr>
            <a:spLocks xmlns:a="http://schemas.openxmlformats.org/drawingml/2006/main" noGrp="1"/>
          </p:cNvSpPr>
          <p:nvPr/>
        </p:nvSpPr>
        <p:spPr>
          <a:xfrm xmlns:a="http://schemas.openxmlformats.org/drawingml/2006/main">
            <a:off x="609600" y="5457825"/>
            <a:ext cx="5524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C32"/>
                </a:solidFill>
                <a:latin typeface="Arial"/>
                <a:ea typeface="Arial"/>
                <a:cs typeface="Arial"/>
              </a:defRPr>
            </a:pPr>
            <a:r>
              <a:rPr sz="1800" b="0">
                <a:solidFill>
                  <a:srgbClr val="102C32"/>
                </a:solidFill>
                <a:latin typeface="Arial"/>
                <a:ea typeface="Arial"/>
                <a:cs typeface="Arial"/>
              </a:rPr>
              <a:t>7 numeric and 6 categorical fields</a:t>
            </a:r>
          </a:p>
          <a:p xmlns:a="http://schemas.openxmlformats.org/drawingml/2006/main">
            <a:pPr algn="l">
              <a:defRPr sz="1800" b="0">
                <a:solidFill>
                  <a:srgbClr val="102C32"/>
                </a:solidFill>
                <a:latin typeface="Arial"/>
                <a:ea typeface="Arial"/>
                <a:cs typeface="Arial"/>
              </a:defRPr>
            </a:pPr>
            <a:r>
              <a:rPr sz="1800" b="0">
                <a:solidFill>
                  <a:srgbClr val="102C32"/>
                </a:solidFill>
                <a:latin typeface="Arial"/>
                <a:ea typeface="Arial"/>
                <a:cs typeface="Arial"/>
              </a:rPr>
              <a:t>Customer ID stays outside the model.</a:t>
            </a:r>
          </a:p>
        </p:txBody>
      </p:sp>
      <p:sp>
        <p:nvSpPr>
          <p:cNvPr id="8" name="Synthetic customer profiles">
            <a:extLst xmlns:a="http://schemas.openxmlformats.org/drawingml/2006/main">
              <a:ext uri="{FF2B5EF4-FFF2-40B4-BE49-F238E27FC236}">
                <a16:creationId xmlns:a16="http://schemas.microsoft.com/office/drawing/2014/main" id="{6D4B2D56-BED7-47CF-87E4-80D912589F91}"/>
              </a:ext>
            </a:extLst>
          </p:cNvPr>
          <p:cNvSpPr>
            <a:spLocks xmlns:a="http://schemas.openxmlformats.org/drawingml/2006/main" noGrp="1"/>
          </p:cNvSpPr>
          <p:nvPr/>
        </p:nvSpPr>
        <p:spPr>
          <a:xfrm xmlns:a="http://schemas.openxmlformats.org/drawingml/2006/main">
            <a:off x="6705600" y="49720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C32"/>
                </a:solidFill>
                <a:latin typeface="Arial"/>
                <a:ea typeface="Arial"/>
                <a:cs typeface="Arial"/>
              </a:defRPr>
            </a:pPr>
            <a:r>
              <a:rPr sz="2325" b="1">
                <a:solidFill>
                  <a:srgbClr val="102C32"/>
                </a:solidFill>
                <a:latin typeface="Arial"/>
                <a:ea typeface="Arial"/>
                <a:cs typeface="Arial"/>
              </a:rPr>
              <a:t>Synthetic customer profiles</a:t>
            </a:r>
          </a:p>
        </p:txBody>
      </p:sp>
      <p:sp>
        <p:nvSpPr>
          <p:cNvPr id="9" name="Target: Will_Buy_EV (Yes/No)&#10;Actual purchases">
            <a:extLst xmlns:a="http://schemas.openxmlformats.org/drawingml/2006/main">
              <a:ext uri="{FF2B5EF4-FFF2-40B4-BE49-F238E27FC236}">
                <a16:creationId xmlns:a16="http://schemas.microsoft.com/office/drawing/2014/main" id="{615C1FFD-5A1B-4105-A057-265E991311F0}"/>
              </a:ext>
            </a:extLst>
          </p:cNvPr>
          <p:cNvSpPr>
            <a:spLocks xmlns:a="http://schemas.openxmlformats.org/drawingml/2006/main" noGrp="1"/>
          </p:cNvSpPr>
          <p:nvPr/>
        </p:nvSpPr>
        <p:spPr>
          <a:xfrm xmlns:a="http://schemas.openxmlformats.org/drawingml/2006/main">
            <a:off x="6705600" y="5457825"/>
            <a:ext cx="4857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C32"/>
                </a:solidFill>
                <a:latin typeface="Arial"/>
                <a:ea typeface="Arial"/>
                <a:cs typeface="Arial"/>
              </a:defRPr>
            </a:pPr>
            <a:r>
              <a:rPr sz="1800" b="0">
                <a:solidFill>
                  <a:srgbClr val="102C32"/>
                </a:solidFill>
                <a:latin typeface="Arial"/>
                <a:ea typeface="Arial"/>
                <a:cs typeface="Arial"/>
              </a:rPr>
              <a:t>Target: Will_Buy_EV (Yes/No)</a:t>
            </a:r>
          </a:p>
          <a:p xmlns:a="http://schemas.openxmlformats.org/drawingml/2006/main">
            <a:pPr algn="l">
              <a:defRPr sz="1800" b="0">
                <a:solidFill>
                  <a:srgbClr val="102C32"/>
                </a:solidFill>
                <a:latin typeface="Arial"/>
                <a:ea typeface="Arial"/>
                <a:cs typeface="Arial"/>
              </a:defRPr>
            </a:pPr>
            <a:r>
              <a:rPr sz="1800" b="0">
                <a:solidFill>
                  <a:srgbClr val="102C32"/>
                </a:solidFill>
                <a:latin typeface="Arial"/>
                <a:ea typeface="Arial"/>
                <a:cs typeface="Arial"/>
              </a:rPr>
              <a:t>Actual purchases and timing remain unverified.</a:t>
            </a:r>
          </a:p>
        </p:txBody>
      </p:sp>
    </p:spTree>
    <p:extLst>
      <p:ext uri="{BB962C8B-B14F-4D97-AF65-F5344CB8AC3E}">
        <p14:creationId xmlns:p14="http://schemas.microsoft.com/office/powerpoint/2010/main" val="9655100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nitial audit and class balance">
            <a:extLst xmlns:a="http://schemas.openxmlformats.org/drawingml/2006/main">
              <a:ext uri="{FF2B5EF4-FFF2-40B4-BE49-F238E27FC236}">
                <a16:creationId xmlns:a16="http://schemas.microsoft.com/office/drawing/2014/main" id="{34990EF9-805A-4714-B4E5-97B6147EEB07}"/>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Initial audit and class balance</a:t>
            </a:r>
          </a:p>
        </p:txBody>
      </p:sp>
      <p:sp>
        <p:nvSpPr>
          <p:cNvPr id="2" name="MSBA265  /  Final Project Proposal">
            <a:extLst xmlns:a="http://schemas.openxmlformats.org/drawingml/2006/main">
              <a:ext uri="{FF2B5EF4-FFF2-40B4-BE49-F238E27FC236}">
                <a16:creationId xmlns:a16="http://schemas.microsoft.com/office/drawing/2014/main" id="{BAF65893-36E2-494B-945D-4F788C8E9ED6}"/>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96168"/>
                </a:solidFill>
                <a:latin typeface="Arial"/>
                <a:ea typeface="Arial"/>
                <a:cs typeface="Arial"/>
              </a:defRPr>
            </a:pPr>
            <a:r>
              <a:rPr sz="1275" b="0">
                <a:solidFill>
                  <a:srgbClr val="496168"/>
                </a:solidFill>
                <a:latin typeface="Arial"/>
                <a:ea typeface="Arial"/>
                <a:cs typeface="Arial"/>
              </a:rPr>
              <a:t>MSBA265  /  Final Project Proposal</a:t>
            </a:r>
          </a:p>
        </p:txBody>
      </p:sp>
      <p:sp>
        <p:nvSpPr>
          <p:cNvPr id="3" name="04">
            <a:extLst xmlns:a="http://schemas.openxmlformats.org/drawingml/2006/main">
              <a:ext uri="{FF2B5EF4-FFF2-40B4-BE49-F238E27FC236}">
                <a16:creationId xmlns:a16="http://schemas.microsoft.com/office/drawing/2014/main" id="{68F858B6-687F-4CCE-82AC-E5B5DBEEBF24}"/>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96168"/>
                </a:solidFill>
                <a:latin typeface="Arial"/>
                <a:ea typeface="Arial"/>
                <a:cs typeface="Arial"/>
              </a:defRPr>
            </a:pPr>
            <a:r>
              <a:rPr sz="1350" b="0">
                <a:solidFill>
                  <a:srgbClr val="496168"/>
                </a:solidFill>
                <a:latin typeface="Arial"/>
                <a:ea typeface="Arial"/>
                <a:cs typeface="Arial"/>
              </a:rPr>
              <a:t>04</a:t>
            </a:r>
          </a:p>
        </p:txBody>
      </p:sp>
      <p:graphicFrame>
        <p:nvGraphicFramePr>
          <p:cNvPr id="13" name="Chart"/>
          <p:cNvGraphicFramePr/>
          <p:nvPr/>
        </p:nvGraphicFramePr>
        <p:xfrm>
          <a:off xmlns:a="http://schemas.openxmlformats.org/drawingml/2006/main" x="533400" y="1457325"/>
          <a:ext xmlns:a="http://schemas.openxmlformats.org/drawingml/2006/main" cx="6515100" cy="4000500"/>
        </p:xfrm>
        <a:graphic xmlns:a="http://schemas.openxmlformats.org/drawingml/2006/main">
          <a:graphicData uri="http://schemas.openxmlformats.org/drawingml/2006/chart">
            <c:chart xmlns:r="http://schemas.openxmlformats.org/officeDocument/2006/relationships" xmlns:c="http://schemas.openxmlformats.org/drawingml/2006/chart" r:id="Ra55dae8212fc40ab"/>
          </a:graphicData>
        </a:graphic>
      </p:graphicFrame>
      <p:sp>
        <p:nvSpPr>
          <p:cNvPr id="5" name="Completed data checks">
            <a:extLst xmlns:a="http://schemas.openxmlformats.org/drawingml/2006/main">
              <a:ext uri="{FF2B5EF4-FFF2-40B4-BE49-F238E27FC236}">
                <a16:creationId xmlns:a16="http://schemas.microsoft.com/office/drawing/2014/main" id="{7DA6C23B-C813-40C7-BF23-F1F7A6AAB538}"/>
              </a:ext>
            </a:extLst>
          </p:cNvPr>
          <p:cNvSpPr>
            <a:spLocks xmlns:a="http://schemas.openxmlformats.org/drawingml/2006/main" noGrp="1"/>
          </p:cNvSpPr>
          <p:nvPr/>
        </p:nvSpPr>
        <p:spPr>
          <a:xfrm xmlns:a="http://schemas.openxmlformats.org/drawingml/2006/main">
            <a:off x="7639050" y="1571625"/>
            <a:ext cx="3905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866C"/>
                </a:solidFill>
                <a:latin typeface="Arial"/>
                <a:ea typeface="Arial"/>
                <a:cs typeface="Arial"/>
              </a:defRPr>
            </a:pPr>
            <a:r>
              <a:rPr sz="2175" b="1">
                <a:solidFill>
                  <a:srgbClr val="15866C"/>
                </a:solidFill>
                <a:latin typeface="Arial"/>
                <a:ea typeface="Arial"/>
                <a:cs typeface="Arial"/>
              </a:rPr>
              <a:t>Completed data checks</a:t>
            </a:r>
          </a:p>
        </p:txBody>
      </p:sp>
      <p:sp>
        <p:nvSpPr>
          <p:cNvPr id="6" name="0 missing values&#10;0 duplicate IDs&#10;0 rows remov">
            <a:extLst xmlns:a="http://schemas.openxmlformats.org/drawingml/2006/main">
              <a:ext uri="{FF2B5EF4-FFF2-40B4-BE49-F238E27FC236}">
                <a16:creationId xmlns:a16="http://schemas.microsoft.com/office/drawing/2014/main" id="{78C26401-460D-4DA5-80BC-64936E024735}"/>
              </a:ext>
            </a:extLst>
          </p:cNvPr>
          <p:cNvSpPr>
            <a:spLocks xmlns:a="http://schemas.openxmlformats.org/drawingml/2006/main" noGrp="1"/>
          </p:cNvSpPr>
          <p:nvPr/>
        </p:nvSpPr>
        <p:spPr>
          <a:xfrm xmlns:a="http://schemas.openxmlformats.org/drawingml/2006/main">
            <a:off x="7639050" y="2124075"/>
            <a:ext cx="3810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0 missing values</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0 duplicate IDs</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0 rows removed</a:t>
            </a:r>
          </a:p>
        </p:txBody>
      </p:sp>
      <p:sp>
        <p:nvSpPr>
          <p:cNvPr id="7" name="Cleaning actions">
            <a:extLst xmlns:a="http://schemas.openxmlformats.org/drawingml/2006/main">
              <a:ext uri="{FF2B5EF4-FFF2-40B4-BE49-F238E27FC236}">
                <a16:creationId xmlns:a16="http://schemas.microsoft.com/office/drawing/2014/main" id="{A66BAF39-16A9-491E-89DE-52ACF4D63281}"/>
              </a:ext>
            </a:extLst>
          </p:cNvPr>
          <p:cNvSpPr>
            <a:spLocks xmlns:a="http://schemas.openxmlformats.org/drawingml/2006/main" noGrp="1"/>
          </p:cNvSpPr>
          <p:nvPr/>
        </p:nvSpPr>
        <p:spPr>
          <a:xfrm xmlns:a="http://schemas.openxmlformats.org/drawingml/2006/main">
            <a:off x="7639050" y="36766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866C"/>
                </a:solidFill>
                <a:latin typeface="Arial"/>
                <a:ea typeface="Arial"/>
                <a:cs typeface="Arial"/>
              </a:defRPr>
            </a:pPr>
            <a:r>
              <a:rPr sz="2175" b="1">
                <a:solidFill>
                  <a:srgbClr val="15866C"/>
                </a:solidFill>
                <a:latin typeface="Arial"/>
                <a:ea typeface="Arial"/>
                <a:cs typeface="Arial"/>
              </a:rPr>
              <a:t>Cleaning actions</a:t>
            </a:r>
          </a:p>
        </p:txBody>
      </p:sp>
      <p:sp>
        <p:nvSpPr>
          <p:cNvPr id="8" name="Lossless integer conversion&#10;No = 0 and Yes = ">
            <a:extLst xmlns:a="http://schemas.openxmlformats.org/drawingml/2006/main">
              <a:ext uri="{FF2B5EF4-FFF2-40B4-BE49-F238E27FC236}">
                <a16:creationId xmlns:a16="http://schemas.microsoft.com/office/drawing/2014/main" id="{6BFC5D92-BAB1-4AD5-B5B3-FD8308C979BB}"/>
              </a:ext>
            </a:extLst>
          </p:cNvPr>
          <p:cNvSpPr>
            <a:spLocks xmlns:a="http://schemas.openxmlformats.org/drawingml/2006/main" noGrp="1"/>
          </p:cNvSpPr>
          <p:nvPr/>
        </p:nvSpPr>
        <p:spPr>
          <a:xfrm xmlns:a="http://schemas.openxmlformats.org/drawingml/2006/main">
            <a:off x="7639050" y="4229100"/>
            <a:ext cx="3905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02C32"/>
                </a:solidFill>
                <a:latin typeface="Arial"/>
                <a:ea typeface="Arial"/>
                <a:cs typeface="Arial"/>
              </a:defRPr>
            </a:pPr>
            <a:r>
              <a:rPr sz="1950" b="0">
                <a:solidFill>
                  <a:srgbClr val="102C32"/>
                </a:solidFill>
                <a:latin typeface="Arial"/>
                <a:ea typeface="Arial"/>
                <a:cs typeface="Arial"/>
              </a:rPr>
              <a:t>Lossless integer conversion</a:t>
            </a:r>
          </a:p>
          <a:p xmlns:a="http://schemas.openxmlformats.org/drawingml/2006/main">
            <a:pPr algn="l">
              <a:defRPr sz="1950" b="0">
                <a:solidFill>
                  <a:srgbClr val="102C32"/>
                </a:solidFill>
                <a:latin typeface="Arial"/>
                <a:ea typeface="Arial"/>
                <a:cs typeface="Arial"/>
              </a:defRPr>
            </a:pPr>
            <a:r>
              <a:rPr sz="1950" b="0">
                <a:solidFill>
                  <a:srgbClr val="102C32"/>
                </a:solidFill>
                <a:latin typeface="Arial"/>
                <a:ea typeface="Arial"/>
                <a:cs typeface="Arial"/>
              </a:rPr>
              <a:t>No = 0 and Yes = 1</a:t>
            </a:r>
          </a:p>
          <a:p xmlns:a="http://schemas.openxmlformats.org/drawingml/2006/main">
            <a:pPr algn="l">
              <a:defRPr sz="1950" b="0">
                <a:solidFill>
                  <a:srgbClr val="102C32"/>
                </a:solidFill>
                <a:latin typeface="Arial"/>
                <a:ea typeface="Arial"/>
                <a:cs typeface="Arial"/>
              </a:defRPr>
            </a:pPr>
            <a:r>
              <a:rPr sz="1950" b="0">
                <a:solidFill>
                  <a:srgbClr val="102C32"/>
                </a:solidFill>
                <a:latin typeface="Arial"/>
                <a:ea typeface="Arial"/>
                <a:cs typeface="Arial"/>
              </a:rPr>
              <a:t>No imputation needed</a:t>
            </a:r>
          </a:p>
        </p:txBody>
      </p:sp>
      <p:sp>
        <p:nvSpPr>
          <p:cNvPr id="9" name="An always-No rule gets 82.54% accuracy and fi">
            <a:extLst xmlns:a="http://schemas.openxmlformats.org/drawingml/2006/main">
              <a:ext uri="{FF2B5EF4-FFF2-40B4-BE49-F238E27FC236}">
                <a16:creationId xmlns:a16="http://schemas.microsoft.com/office/drawing/2014/main" id="{C17569FE-4F19-4A49-83E5-8000543408FF}"/>
              </a:ext>
            </a:extLst>
          </p:cNvPr>
          <p:cNvSpPr>
            <a:spLocks xmlns:a="http://schemas.openxmlformats.org/drawingml/2006/main" noGrp="1"/>
          </p:cNvSpPr>
          <p:nvPr/>
        </p:nvSpPr>
        <p:spPr>
          <a:xfrm xmlns:a="http://schemas.openxmlformats.org/drawingml/2006/main">
            <a:off x="609600" y="581025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02C32"/>
                </a:solidFill>
                <a:latin typeface="Arial"/>
                <a:ea typeface="Arial"/>
                <a:cs typeface="Arial"/>
              </a:defRPr>
            </a:pPr>
            <a:r>
              <a:rPr sz="2025" b="1">
                <a:solidFill>
                  <a:srgbClr val="102C32"/>
                </a:solidFill>
                <a:latin typeface="Arial"/>
                <a:ea typeface="Arial"/>
                <a:cs typeface="Arial"/>
              </a:rPr>
              <a:t>An always-No rule gets 82.54% accuracy and finds none of the Yes profiles.</a:t>
            </a:r>
          </a:p>
        </p:txBody>
      </p:sp>
    </p:spTree>
    <p:extLst>
      <p:ext uri="{BB962C8B-B14F-4D97-AF65-F5344CB8AC3E}">
        <p14:creationId xmlns:p14="http://schemas.microsoft.com/office/powerpoint/2010/main" val="10246265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arly descriptive patterns">
            <a:extLst xmlns:a="http://schemas.openxmlformats.org/drawingml/2006/main">
              <a:ext uri="{FF2B5EF4-FFF2-40B4-BE49-F238E27FC236}">
                <a16:creationId xmlns:a16="http://schemas.microsoft.com/office/drawing/2014/main" id="{1AA5CEE6-6AE2-402F-BDD1-D85F51EE4EE4}"/>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Early descriptive patterns</a:t>
            </a:r>
          </a:p>
        </p:txBody>
      </p:sp>
      <p:sp>
        <p:nvSpPr>
          <p:cNvPr id="2" name="MSBA265  /  Final Project Proposal">
            <a:extLst xmlns:a="http://schemas.openxmlformats.org/drawingml/2006/main">
              <a:ext uri="{FF2B5EF4-FFF2-40B4-BE49-F238E27FC236}">
                <a16:creationId xmlns:a16="http://schemas.microsoft.com/office/drawing/2014/main" id="{4AF14456-B774-4162-B506-BDEE2E5775F1}"/>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96168"/>
                </a:solidFill>
                <a:latin typeface="Arial"/>
                <a:ea typeface="Arial"/>
                <a:cs typeface="Arial"/>
              </a:defRPr>
            </a:pPr>
            <a:r>
              <a:rPr sz="1275" b="0">
                <a:solidFill>
                  <a:srgbClr val="496168"/>
                </a:solidFill>
                <a:latin typeface="Arial"/>
                <a:ea typeface="Arial"/>
                <a:cs typeface="Arial"/>
              </a:rPr>
              <a:t>MSBA265  /  Final Project Proposal</a:t>
            </a:r>
          </a:p>
        </p:txBody>
      </p:sp>
      <p:sp>
        <p:nvSpPr>
          <p:cNvPr id="3" name="05">
            <a:extLst xmlns:a="http://schemas.openxmlformats.org/drawingml/2006/main">
              <a:ext uri="{FF2B5EF4-FFF2-40B4-BE49-F238E27FC236}">
                <a16:creationId xmlns:a16="http://schemas.microsoft.com/office/drawing/2014/main" id="{32DA9A77-595E-43E9-AF29-D60C0626B4CB}"/>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96168"/>
                </a:solidFill>
                <a:latin typeface="Arial"/>
                <a:ea typeface="Arial"/>
                <a:cs typeface="Arial"/>
              </a:defRPr>
            </a:pPr>
            <a:r>
              <a:rPr sz="1350" b="0">
                <a:solidFill>
                  <a:srgbClr val="496168"/>
                </a:solidFill>
                <a:latin typeface="Arial"/>
                <a:ea typeface="Arial"/>
                <a:cs typeface="Arial"/>
              </a:rPr>
              <a:t>05</a:t>
            </a:r>
          </a:p>
        </p:txBody>
      </p:sp>
      <p:graphicFrame>
        <p:nvGraphicFramePr>
          <p:cNvPr id="12" name="Chart"/>
          <p:cNvGraphicFramePr/>
          <p:nvPr/>
        </p:nvGraphicFramePr>
        <p:xfrm>
          <a:off xmlns:a="http://schemas.openxmlformats.org/drawingml/2006/main" x="438150" y="1428750"/>
          <a:ext xmlns:a="http://schemas.openxmlformats.org/drawingml/2006/main" cx="7620000" cy="4029075"/>
        </p:xfrm>
        <a:graphic xmlns:a="http://schemas.openxmlformats.org/drawingml/2006/main">
          <a:graphicData uri="http://schemas.openxmlformats.org/drawingml/2006/chart">
            <c:chart xmlns:r="http://schemas.openxmlformats.org/officeDocument/2006/relationships" xmlns:c="http://schemas.openxmlformats.org/drawingml/2006/chart" r:id="R438256ccf23e4f84"/>
          </a:graphicData>
        </a:graphic>
      </p:graphicFrame>
      <p:sp>
        <p:nvSpPr>
          <p:cNvPr id="5" name="What this suggests">
            <a:extLst xmlns:a="http://schemas.openxmlformats.org/drawingml/2006/main">
              <a:ext uri="{FF2B5EF4-FFF2-40B4-BE49-F238E27FC236}">
                <a16:creationId xmlns:a16="http://schemas.microsoft.com/office/drawing/2014/main" id="{B0EEB28F-CE84-4701-B94E-F76BB0C04A8A}"/>
              </a:ext>
            </a:extLst>
          </p:cNvPr>
          <p:cNvSpPr>
            <a:spLocks xmlns:a="http://schemas.openxmlformats.org/drawingml/2006/main" noGrp="1"/>
          </p:cNvSpPr>
          <p:nvPr/>
        </p:nvSpPr>
        <p:spPr>
          <a:xfrm xmlns:a="http://schemas.openxmlformats.org/drawingml/2006/main">
            <a:off x="8524875" y="16668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866C"/>
                </a:solidFill>
                <a:latin typeface="Arial"/>
                <a:ea typeface="Arial"/>
                <a:cs typeface="Arial"/>
              </a:defRPr>
            </a:pPr>
            <a:r>
              <a:rPr sz="2175" b="1">
                <a:solidFill>
                  <a:srgbClr val="15866C"/>
                </a:solidFill>
                <a:latin typeface="Arial"/>
                <a:ea typeface="Arial"/>
                <a:cs typeface="Arial"/>
              </a:rPr>
              <a:t>What this suggests</a:t>
            </a:r>
          </a:p>
        </p:txBody>
      </p:sp>
      <p:sp>
        <p:nvSpPr>
          <p:cNvPr id="6" name="These fields may help&#10;distinguish profiles.">
            <a:extLst xmlns:a="http://schemas.openxmlformats.org/drawingml/2006/main">
              <a:ext uri="{FF2B5EF4-FFF2-40B4-BE49-F238E27FC236}">
                <a16:creationId xmlns:a16="http://schemas.microsoft.com/office/drawing/2014/main" id="{1EFBF85E-130E-4EE8-A86F-5943D3A09916}"/>
              </a:ext>
            </a:extLst>
          </p:cNvPr>
          <p:cNvSpPr>
            <a:spLocks xmlns:a="http://schemas.openxmlformats.org/drawingml/2006/main" noGrp="1"/>
          </p:cNvSpPr>
          <p:nvPr/>
        </p:nvSpPr>
        <p:spPr>
          <a:xfrm xmlns:a="http://schemas.openxmlformats.org/drawingml/2006/main">
            <a:off x="8524875" y="2257425"/>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These fields may help</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distinguish profiles.</a:t>
            </a:r>
          </a:p>
        </p:txBody>
      </p:sp>
      <p:sp>
        <p:nvSpPr>
          <p:cNvPr id="7" name="A model can combine&#10;multiple fields and test&#10;">
            <a:extLst xmlns:a="http://schemas.openxmlformats.org/drawingml/2006/main">
              <a:ext uri="{FF2B5EF4-FFF2-40B4-BE49-F238E27FC236}">
                <a16:creationId xmlns:a16="http://schemas.microsoft.com/office/drawing/2014/main" id="{78B8B71F-7BBD-464B-B703-D22473C9A42E}"/>
              </a:ext>
            </a:extLst>
          </p:cNvPr>
          <p:cNvSpPr>
            <a:spLocks xmlns:a="http://schemas.openxmlformats.org/drawingml/2006/main" noGrp="1"/>
          </p:cNvSpPr>
          <p:nvPr/>
        </p:nvSpPr>
        <p:spPr>
          <a:xfrm xmlns:a="http://schemas.openxmlformats.org/drawingml/2006/main">
            <a:off x="8524875" y="3381375"/>
            <a:ext cx="3048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A model can combine</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multiple fields and test</a:t>
            </a:r>
          </a:p>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whether ranking improves.</a:t>
            </a:r>
          </a:p>
        </p:txBody>
      </p:sp>
      <p:sp>
        <p:nvSpPr>
          <p:cNvPr id="8" name="Descriptive associations in synthetic data do">
            <a:extLst xmlns:a="http://schemas.openxmlformats.org/drawingml/2006/main">
              <a:ext uri="{FF2B5EF4-FFF2-40B4-BE49-F238E27FC236}">
                <a16:creationId xmlns:a16="http://schemas.microsoft.com/office/drawing/2014/main" id="{BB07C562-383B-4718-8D09-62D134B2EBA5}"/>
              </a:ext>
            </a:extLst>
          </p:cNvPr>
          <p:cNvSpPr>
            <a:spLocks xmlns:a="http://schemas.openxmlformats.org/drawingml/2006/main" noGrp="1"/>
          </p:cNvSpPr>
          <p:nvPr/>
        </p:nvSpPr>
        <p:spPr>
          <a:xfrm xmlns:a="http://schemas.openxmlformats.org/drawingml/2006/main">
            <a:off x="609600" y="56673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02C32"/>
                </a:solidFill>
                <a:latin typeface="Arial"/>
                <a:ea typeface="Arial"/>
                <a:cs typeface="Arial"/>
              </a:defRPr>
            </a:pPr>
            <a:r>
              <a:rPr sz="1950" b="1">
                <a:solidFill>
                  <a:srgbClr val="102C32"/>
                </a:solidFill>
                <a:latin typeface="Arial"/>
                <a:ea typeface="Arial"/>
                <a:cs typeface="Arial"/>
              </a:rPr>
              <a:t>Descriptive associations in synthetic data do not establish cause and effect.</a:t>
            </a:r>
          </a:p>
        </p:txBody>
      </p:sp>
    </p:spTree>
    <p:extLst>
      <p:ext uri="{BB962C8B-B14F-4D97-AF65-F5344CB8AC3E}">
        <p14:creationId xmlns:p14="http://schemas.microsoft.com/office/powerpoint/2010/main" val="17598788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lanned modeling approach">
            <a:extLst xmlns:a="http://schemas.openxmlformats.org/drawingml/2006/main">
              <a:ext uri="{FF2B5EF4-FFF2-40B4-BE49-F238E27FC236}">
                <a16:creationId xmlns:a16="http://schemas.microsoft.com/office/drawing/2014/main" id="{0CCD8E26-9D54-4087-9499-66081B818180}"/>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Planned modeling approach</a:t>
            </a:r>
          </a:p>
        </p:txBody>
      </p:sp>
      <p:sp>
        <p:nvSpPr>
          <p:cNvPr id="2" name="MSBA265  /  Final Project Proposal">
            <a:extLst xmlns:a="http://schemas.openxmlformats.org/drawingml/2006/main">
              <a:ext uri="{FF2B5EF4-FFF2-40B4-BE49-F238E27FC236}">
                <a16:creationId xmlns:a16="http://schemas.microsoft.com/office/drawing/2014/main" id="{55652EEF-79EE-4C51-9407-210BBEB9F757}"/>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96168"/>
                </a:solidFill>
                <a:latin typeface="Arial"/>
                <a:ea typeface="Arial"/>
                <a:cs typeface="Arial"/>
              </a:defRPr>
            </a:pPr>
            <a:r>
              <a:rPr sz="1275" b="0">
                <a:solidFill>
                  <a:srgbClr val="496168"/>
                </a:solidFill>
                <a:latin typeface="Arial"/>
                <a:ea typeface="Arial"/>
                <a:cs typeface="Arial"/>
              </a:rPr>
              <a:t>MSBA265  /  Final Project Proposal</a:t>
            </a:r>
          </a:p>
        </p:txBody>
      </p:sp>
      <p:sp>
        <p:nvSpPr>
          <p:cNvPr id="3" name="06">
            <a:extLst xmlns:a="http://schemas.openxmlformats.org/drawingml/2006/main">
              <a:ext uri="{FF2B5EF4-FFF2-40B4-BE49-F238E27FC236}">
                <a16:creationId xmlns:a16="http://schemas.microsoft.com/office/drawing/2014/main" id="{33611F07-FC7E-4E62-B3E2-47037749D647}"/>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96168"/>
                </a:solidFill>
                <a:latin typeface="Arial"/>
                <a:ea typeface="Arial"/>
                <a:cs typeface="Arial"/>
              </a:defRPr>
            </a:pPr>
            <a:r>
              <a:rPr sz="1350" b="0">
                <a:solidFill>
                  <a:srgbClr val="496168"/>
                </a:solidFill>
                <a:latin typeface="Arial"/>
                <a:ea typeface="Arial"/>
                <a:cs typeface="Arial"/>
              </a:rPr>
              <a:t>06</a:t>
            </a:r>
          </a:p>
        </p:txBody>
      </p:sp>
      <p:sp>
        <p:nvSpPr>
          <p:cNvPr id="4" name="Labeled train.csv split: 70% train, 15% valid">
            <a:extLst xmlns:a="http://schemas.openxmlformats.org/drawingml/2006/main">
              <a:ext uri="{FF2B5EF4-FFF2-40B4-BE49-F238E27FC236}">
                <a16:creationId xmlns:a16="http://schemas.microsoft.com/office/drawing/2014/main" id="{C55610DA-C579-40F0-AFED-6443D9DA08E4}"/>
              </a:ext>
            </a:extLst>
          </p:cNvPr>
          <p:cNvSpPr>
            <a:spLocks xmlns:a="http://schemas.openxmlformats.org/drawingml/2006/main" noGrp="1"/>
          </p:cNvSpPr>
          <p:nvPr/>
        </p:nvSpPr>
        <p:spPr>
          <a:xfrm xmlns:a="http://schemas.openxmlformats.org/drawingml/2006/main">
            <a:off x="609600" y="13525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866C"/>
                </a:solidFill>
                <a:latin typeface="Arial"/>
                <a:ea typeface="Arial"/>
                <a:cs typeface="Arial"/>
              </a:defRPr>
            </a:pPr>
            <a:r>
              <a:rPr sz="2175" b="1">
                <a:solidFill>
                  <a:srgbClr val="15866C"/>
                </a:solidFill>
                <a:latin typeface="Arial"/>
                <a:ea typeface="Arial"/>
                <a:cs typeface="Arial"/>
              </a:rPr>
              <a:t>Labeled train.csv split: 70% train, 15% validation, 15% internal holdout</a:t>
            </a:r>
          </a:p>
        </p:txBody>
      </p:sp>
      <p:graphicFrame>
        <p:nvGraphicFramePr>
          <p:cNvPr id="12" name=""/>
          <p:cNvGraphicFramePr/>
          <p:nvPr/>
        </p:nvGraphicFramePr>
        <p:xfrm>
          <a:off xmlns:a="http://schemas.openxmlformats.org/drawingml/2006/main" x="609600" y="2057400"/>
          <a:ext xmlns:a="http://schemas.openxmlformats.org/drawingml/2006/main" cx="10972800" cy="2514600"/>
        </p:xfrm>
        <a:graphic xmlns:a="http://schemas.openxmlformats.org/drawingml/2006/main">
          <a:graphicData uri="http://schemas.openxmlformats.org/drawingml/2006/table">
            <a:tbl>
              <a:tblPr firstRow="1" bandRow="0"/>
              <a:tblGrid>
                <a:gridCol w="3571875"/>
                <a:gridCol w="7400925"/>
              </a:tblGrid>
              <a:tr h="628650">
                <a:tc>
                  <a:txBody>
                    <a:bodyPr/>
                    <a:lstStyle/>
                    <a:p>
                      <a:r>
                        <a:rPr sz="1950" b="1">
                          <a:solidFill>
                            <a:srgbClr val="FFFFFF"/>
                          </a:solidFill>
                          <a:latin typeface="Arial"/>
                          <a:ea typeface="Arial"/>
                          <a:cs typeface="Arial"/>
                        </a:rPr>
                        <a:t>Model</a:t>
                      </a:r>
                    </a:p>
                  </a:txBody>
                  <a:tcPr marL="133350" marR="133350" marT="114300" marB="114300" anchor="ctr">
                    <a:solidFill>
                      <a:srgbClr val="102C32"/>
                    </a:solidFill>
                  </a:tcPr>
                </a:tc>
                <a:tc>
                  <a:txBody>
                    <a:bodyPr/>
                    <a:lstStyle/>
                    <a:p>
                      <a:r>
                        <a:rPr sz="1950" b="1">
                          <a:solidFill>
                            <a:srgbClr val="FFFFFF"/>
                          </a:solidFill>
                          <a:latin typeface="Arial"/>
                          <a:ea typeface="Arial"/>
                          <a:cs typeface="Arial"/>
                        </a:rPr>
                        <a:t>Role in the comparison</a:t>
                      </a:r>
                    </a:p>
                  </a:txBody>
                  <a:tcPr marL="133350" marR="133350" marT="114300" marB="114300" anchor="ctr">
                    <a:solidFill>
                      <a:srgbClr val="102C32"/>
                    </a:solidFill>
                  </a:tcPr>
                </a:tc>
              </a:tr>
              <a:tr h="628650">
                <a:tc>
                  <a:txBody>
                    <a:bodyPr/>
                    <a:lstStyle/>
                    <a:p>
                      <a:r>
                        <a:rPr sz="1950">
                          <a:solidFill>
                            <a:srgbClr val="102C32"/>
                          </a:solidFill>
                          <a:latin typeface="Arial"/>
                          <a:ea typeface="Arial"/>
                          <a:cs typeface="Arial"/>
                        </a:rPr>
                        <a:t>Dummy baseline</a:t>
                      </a:r>
                    </a:p>
                  </a:txBody>
                  <a:tcPr marL="133350" marR="133350" marT="114300" marB="114300" anchor="ctr">
                    <a:solidFill>
                      <a:srgbClr val="EFF5F2"/>
                    </a:solidFill>
                  </a:tcPr>
                </a:tc>
                <a:tc>
                  <a:txBody>
                    <a:bodyPr/>
                    <a:lstStyle/>
                    <a:p>
                      <a:r>
                        <a:rPr sz="1950">
                          <a:solidFill>
                            <a:srgbClr val="102C32"/>
                          </a:solidFill>
                          <a:latin typeface="Arial"/>
                          <a:ea typeface="Arial"/>
                          <a:cs typeface="Arial"/>
                        </a:rPr>
                        <a:t>Reference performance with no learned signal</a:t>
                      </a:r>
                    </a:p>
                  </a:txBody>
                  <a:tcPr marL="133350" marR="133350" marT="114300" marB="114300" anchor="ctr">
                    <a:solidFill>
                      <a:srgbClr val="EFF5F2"/>
                    </a:solidFill>
                  </a:tcPr>
                </a:tc>
              </a:tr>
              <a:tr h="628650">
                <a:tc>
                  <a:txBody>
                    <a:bodyPr/>
                    <a:lstStyle/>
                    <a:p>
                      <a:r>
                        <a:rPr sz="1950">
                          <a:solidFill>
                            <a:srgbClr val="102C32"/>
                          </a:solidFill>
                          <a:latin typeface="Arial"/>
                          <a:ea typeface="Arial"/>
                          <a:cs typeface="Arial"/>
                        </a:rPr>
                        <a:t>Logistic regression</a:t>
                      </a:r>
                    </a:p>
                  </a:txBody>
                  <a:tcPr marL="133350" marR="133350" marT="114300" marB="114300" anchor="ctr">
                    <a:solidFill>
                      <a:srgbClr val="FFFFFF"/>
                    </a:solidFill>
                  </a:tcPr>
                </a:tc>
                <a:tc>
                  <a:txBody>
                    <a:bodyPr/>
                    <a:lstStyle/>
                    <a:p>
                      <a:r>
                        <a:rPr sz="1950">
                          <a:solidFill>
                            <a:srgbClr val="102C32"/>
                          </a:solidFill>
                          <a:latin typeface="Arial"/>
                          <a:ea typeface="Arial"/>
                          <a:cs typeface="Arial"/>
                        </a:rPr>
                        <a:t>An interpretable probability model</a:t>
                      </a:r>
                    </a:p>
                  </a:txBody>
                  <a:tcPr marL="133350" marR="133350" marT="114300" marB="114300" anchor="ctr">
                    <a:solidFill>
                      <a:srgbClr val="FFFFFF"/>
                    </a:solidFill>
                  </a:tcPr>
                </a:tc>
              </a:tr>
              <a:tr h="628650">
                <a:tc>
                  <a:txBody>
                    <a:bodyPr/>
                    <a:lstStyle/>
                    <a:p>
                      <a:r>
                        <a:rPr sz="1950">
                          <a:solidFill>
                            <a:srgbClr val="102C32"/>
                          </a:solidFill>
                          <a:latin typeface="Arial"/>
                          <a:ea typeface="Arial"/>
                          <a:cs typeface="Arial"/>
                        </a:rPr>
                        <a:t>Decision tree</a:t>
                      </a:r>
                    </a:p>
                  </a:txBody>
                  <a:tcPr marL="133350" marR="133350" marT="114300" marB="114300" anchor="ctr">
                    <a:solidFill>
                      <a:srgbClr val="EFF5F2"/>
                    </a:solidFill>
                  </a:tcPr>
                </a:tc>
                <a:tc>
                  <a:txBody>
                    <a:bodyPr/>
                    <a:lstStyle/>
                    <a:p>
                      <a:r>
                        <a:rPr sz="1950">
                          <a:solidFill>
                            <a:srgbClr val="102C32"/>
                          </a:solidFill>
                          <a:latin typeface="Arial"/>
                          <a:ea typeface="Arial"/>
                          <a:cs typeface="Arial"/>
                        </a:rPr>
                        <a:t>Nonlinear relationships and interactions</a:t>
                      </a:r>
                    </a:p>
                  </a:txBody>
                  <a:tcPr marL="133350" marR="133350" marT="114300" marB="114300" anchor="ctr">
                    <a:solidFill>
                      <a:srgbClr val="EFF5F2"/>
                    </a:solidFill>
                  </a:tcPr>
                </a:tc>
              </a:tr>
            </a:tbl>
          </a:graphicData>
        </a:graphic>
      </p:graphicFrame>
      <p:sp>
        <p:nvSpPr>
          <p:cNvPr id="6" name="Preprocessing inside the training pipeline">
            <a:extLst xmlns:a="http://schemas.openxmlformats.org/drawingml/2006/main">
              <a:ext uri="{FF2B5EF4-FFF2-40B4-BE49-F238E27FC236}">
                <a16:creationId xmlns:a16="http://schemas.microsoft.com/office/drawing/2014/main" id="{7B71C035-DBBB-4A5F-873E-B64A8A9BE8E0}"/>
              </a:ext>
            </a:extLst>
          </p:cNvPr>
          <p:cNvSpPr>
            <a:spLocks xmlns:a="http://schemas.openxmlformats.org/drawingml/2006/main" noGrp="1"/>
          </p:cNvSpPr>
          <p:nvPr/>
        </p:nvSpPr>
        <p:spPr>
          <a:xfrm xmlns:a="http://schemas.openxmlformats.org/drawingml/2006/main">
            <a:off x="609600" y="49434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C32"/>
                </a:solidFill>
                <a:latin typeface="Arial"/>
                <a:ea typeface="Arial"/>
                <a:cs typeface="Arial"/>
              </a:defRPr>
            </a:pPr>
            <a:r>
              <a:rPr sz="2175" b="1">
                <a:solidFill>
                  <a:srgbClr val="102C32"/>
                </a:solidFill>
                <a:latin typeface="Arial"/>
                <a:ea typeface="Arial"/>
                <a:cs typeface="Arial"/>
              </a:rPr>
              <a:t>Preprocessing inside the training pipeline</a:t>
            </a:r>
          </a:p>
        </p:txBody>
      </p:sp>
      <p:sp>
        <p:nvSpPr>
          <p:cNvPr id="7" name="Stratify the split to preserve class balance.">
            <a:extLst xmlns:a="http://schemas.openxmlformats.org/drawingml/2006/main">
              <a:ext uri="{FF2B5EF4-FFF2-40B4-BE49-F238E27FC236}">
                <a16:creationId xmlns:a16="http://schemas.microsoft.com/office/drawing/2014/main" id="{5FD692BA-4323-4A1A-96B7-F92767C22D4B}"/>
              </a:ext>
            </a:extLst>
          </p:cNvPr>
          <p:cNvSpPr>
            <a:spLocks xmlns:a="http://schemas.openxmlformats.org/drawingml/2006/main" noGrp="1"/>
          </p:cNvSpPr>
          <p:nvPr/>
        </p:nvSpPr>
        <p:spPr>
          <a:xfrm xmlns:a="http://schemas.openxmlformats.org/drawingml/2006/main">
            <a:off x="609600" y="5467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02C32"/>
                </a:solidFill>
                <a:latin typeface="Arial"/>
                <a:ea typeface="Arial"/>
                <a:cs typeface="Arial"/>
              </a:defRPr>
            </a:pPr>
            <a:r>
              <a:rPr sz="1950" b="0">
                <a:solidFill>
                  <a:srgbClr val="102C32"/>
                </a:solidFill>
                <a:latin typeface="Arial"/>
                <a:ea typeface="Arial"/>
                <a:cs typeface="Arial"/>
              </a:rPr>
              <a:t>Stratify the split to preserve class balance.</a:t>
            </a:r>
          </a:p>
          <a:p xmlns:a="http://schemas.openxmlformats.org/drawingml/2006/main">
            <a:pPr algn="l">
              <a:defRPr sz="1950" b="0">
                <a:solidFill>
                  <a:srgbClr val="102C32"/>
                </a:solidFill>
                <a:latin typeface="Arial"/>
                <a:ea typeface="Arial"/>
                <a:cs typeface="Arial"/>
              </a:defRPr>
            </a:pPr>
            <a:r>
              <a:rPr sz="1950" b="0">
                <a:solidFill>
                  <a:srgbClr val="102C32"/>
                </a:solidFill>
                <a:latin typeface="Arial"/>
                <a:ea typeface="Arial"/>
                <a:cs typeface="Arial"/>
              </a:rPr>
              <a:t>Encode categories and scale numeric inputs for logistic regression.</a:t>
            </a:r>
          </a:p>
        </p:txBody>
      </p:sp>
    </p:spTree>
    <p:extLst>
      <p:ext uri="{BB962C8B-B14F-4D97-AF65-F5344CB8AC3E}">
        <p14:creationId xmlns:p14="http://schemas.microsoft.com/office/powerpoint/2010/main" val="6924718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lanned evaluation">
            <a:extLst xmlns:a="http://schemas.openxmlformats.org/drawingml/2006/main">
              <a:ext uri="{FF2B5EF4-FFF2-40B4-BE49-F238E27FC236}">
                <a16:creationId xmlns:a16="http://schemas.microsoft.com/office/drawing/2014/main" id="{AE3A6E3E-A240-4437-9576-AB290CC89F8D}"/>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Planned evaluation</a:t>
            </a:r>
          </a:p>
        </p:txBody>
      </p:sp>
      <p:sp>
        <p:nvSpPr>
          <p:cNvPr id="2" name="MSBA265  /  Final Project Proposal">
            <a:extLst xmlns:a="http://schemas.openxmlformats.org/drawingml/2006/main">
              <a:ext uri="{FF2B5EF4-FFF2-40B4-BE49-F238E27FC236}">
                <a16:creationId xmlns:a16="http://schemas.microsoft.com/office/drawing/2014/main" id="{2CA2F549-5C2D-43A2-A864-9AD6EB52DAA3}"/>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96168"/>
                </a:solidFill>
                <a:latin typeface="Arial"/>
                <a:ea typeface="Arial"/>
                <a:cs typeface="Arial"/>
              </a:defRPr>
            </a:pPr>
            <a:r>
              <a:rPr sz="1275" b="0">
                <a:solidFill>
                  <a:srgbClr val="496168"/>
                </a:solidFill>
                <a:latin typeface="Arial"/>
                <a:ea typeface="Arial"/>
                <a:cs typeface="Arial"/>
              </a:rPr>
              <a:t>MSBA265  /  Final Project Proposal</a:t>
            </a:r>
          </a:p>
        </p:txBody>
      </p:sp>
      <p:sp>
        <p:nvSpPr>
          <p:cNvPr id="3" name="07">
            <a:extLst xmlns:a="http://schemas.openxmlformats.org/drawingml/2006/main">
              <a:ext uri="{FF2B5EF4-FFF2-40B4-BE49-F238E27FC236}">
                <a16:creationId xmlns:a16="http://schemas.microsoft.com/office/drawing/2014/main" id="{C22A0A72-21D1-4694-B5B0-1BE318B70C78}"/>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96168"/>
                </a:solidFill>
                <a:latin typeface="Arial"/>
                <a:ea typeface="Arial"/>
                <a:cs typeface="Arial"/>
              </a:defRPr>
            </a:pPr>
            <a:r>
              <a:rPr sz="1350" b="0">
                <a:solidFill>
                  <a:srgbClr val="496168"/>
                </a:solidFill>
                <a:latin typeface="Arial"/>
                <a:ea typeface="Arial"/>
                <a:cs typeface="Arial"/>
              </a:rPr>
              <a:t>07</a:t>
            </a:r>
          </a:p>
        </p:txBody>
      </p:sp>
      <p:sp>
        <p:nvSpPr>
          <p:cNvPr id="4" name="Primary question: does the top-K shortlist be">
            <a:extLst xmlns:a="http://schemas.openxmlformats.org/drawingml/2006/main">
              <a:ext uri="{FF2B5EF4-FFF2-40B4-BE49-F238E27FC236}">
                <a16:creationId xmlns:a16="http://schemas.microsoft.com/office/drawing/2014/main" id="{9EF98728-ECA0-473B-940E-633751E3AF5D}"/>
              </a:ext>
            </a:extLst>
          </p:cNvPr>
          <p:cNvSpPr>
            <a:spLocks xmlns:a="http://schemas.openxmlformats.org/drawingml/2006/main" noGrp="1"/>
          </p:cNvSpPr>
          <p:nvPr/>
        </p:nvSpPr>
        <p:spPr>
          <a:xfrm xmlns:a="http://schemas.openxmlformats.org/drawingml/2006/main">
            <a:off x="609600" y="135255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866C"/>
                </a:solidFill>
                <a:latin typeface="Arial"/>
                <a:ea typeface="Arial"/>
                <a:cs typeface="Arial"/>
              </a:defRPr>
            </a:pPr>
            <a:r>
              <a:rPr sz="2250" b="1">
                <a:solidFill>
                  <a:srgbClr val="15866C"/>
                </a:solidFill>
                <a:latin typeface="Arial"/>
                <a:ea typeface="Arial"/>
                <a:cs typeface="Arial"/>
              </a:rPr>
              <a:t>Primary question: does the top-K shortlist beat random selection?</a:t>
            </a:r>
          </a:p>
        </p:txBody>
      </p:sp>
      <p:graphicFrame>
        <p:nvGraphicFramePr>
          <p:cNvPr id="12" name=""/>
          <p:cNvGraphicFramePr/>
          <p:nvPr/>
        </p:nvGraphicFramePr>
        <p:xfrm>
          <a:off xmlns:a="http://schemas.openxmlformats.org/drawingml/2006/main" x="609600" y="2076450"/>
          <a:ext xmlns:a="http://schemas.openxmlformats.org/drawingml/2006/main" cx="10972800" cy="2533650"/>
        </p:xfrm>
        <a:graphic xmlns:a="http://schemas.openxmlformats.org/drawingml/2006/main">
          <a:graphicData uri="http://schemas.openxmlformats.org/drawingml/2006/table">
            <a:tbl>
              <a:tblPr firstRow="1" bandRow="0"/>
              <a:tblGrid>
                <a:gridCol w="3143250"/>
                <a:gridCol w="7829550"/>
              </a:tblGrid>
              <a:tr h="633413">
                <a:tc>
                  <a:txBody>
                    <a:bodyPr/>
                    <a:lstStyle/>
                    <a:p>
                      <a:r>
                        <a:rPr sz="1875" b="1">
                          <a:solidFill>
                            <a:srgbClr val="FFFFFF"/>
                          </a:solidFill>
                          <a:latin typeface="Arial"/>
                          <a:ea typeface="Arial"/>
                          <a:cs typeface="Arial"/>
                        </a:rPr>
                        <a:t>Evaluation</a:t>
                      </a:r>
                    </a:p>
                  </a:txBody>
                  <a:tcPr marL="133350" marR="133350" marT="114300" marB="114300" anchor="ctr">
                    <a:solidFill>
                      <a:srgbClr val="102C32"/>
                    </a:solidFill>
                  </a:tcPr>
                </a:tc>
                <a:tc>
                  <a:txBody>
                    <a:bodyPr/>
                    <a:lstStyle/>
                    <a:p>
                      <a:r>
                        <a:rPr sz="1875" b="1">
                          <a:solidFill>
                            <a:srgbClr val="FFFFFF"/>
                          </a:solidFill>
                          <a:latin typeface="Arial"/>
                          <a:ea typeface="Arial"/>
                          <a:cs typeface="Arial"/>
                        </a:rPr>
                        <a:t>What it tells the manager</a:t>
                      </a:r>
                    </a:p>
                  </a:txBody>
                  <a:tcPr marL="133350" marR="133350" marT="114300" marB="114300" anchor="ctr">
                    <a:solidFill>
                      <a:srgbClr val="102C32"/>
                    </a:solidFill>
                  </a:tcPr>
                </a:tc>
              </a:tr>
              <a:tr h="633413">
                <a:tc>
                  <a:txBody>
                    <a:bodyPr/>
                    <a:lstStyle/>
                    <a:p>
                      <a:r>
                        <a:rPr sz="1875">
                          <a:solidFill>
                            <a:srgbClr val="102C32"/>
                          </a:solidFill>
                          <a:latin typeface="Arial"/>
                          <a:ea typeface="Arial"/>
                          <a:cs typeface="Arial"/>
                        </a:rPr>
                        <a:t>Precision@K</a:t>
                      </a:r>
                    </a:p>
                  </a:txBody>
                  <a:tcPr marL="133350" marR="133350" marT="114300" marB="114300" anchor="ctr">
                    <a:solidFill>
                      <a:srgbClr val="EFF5F2"/>
                    </a:solidFill>
                  </a:tcPr>
                </a:tc>
                <a:tc>
                  <a:txBody>
                    <a:bodyPr/>
                    <a:lstStyle/>
                    <a:p>
                      <a:r>
                        <a:rPr sz="1875">
                          <a:solidFill>
                            <a:srgbClr val="102C32"/>
                          </a:solidFill>
                          <a:latin typeface="Arial"/>
                          <a:ea typeface="Arial"/>
                          <a:cs typeface="Arial"/>
                        </a:rPr>
                        <a:t>Share of shortlisted profiles with a Yes label</a:t>
                      </a:r>
                    </a:p>
                  </a:txBody>
                  <a:tcPr marL="133350" marR="133350" marT="114300" marB="114300" anchor="ctr">
                    <a:solidFill>
                      <a:srgbClr val="EFF5F2"/>
                    </a:solidFill>
                  </a:tcPr>
                </a:tc>
              </a:tr>
              <a:tr h="633413">
                <a:tc>
                  <a:txBody>
                    <a:bodyPr/>
                    <a:lstStyle/>
                    <a:p>
                      <a:r>
                        <a:rPr sz="1875">
                          <a:solidFill>
                            <a:srgbClr val="102C32"/>
                          </a:solidFill>
                          <a:latin typeface="Arial"/>
                          <a:ea typeface="Arial"/>
                          <a:cs typeface="Arial"/>
                        </a:rPr>
                        <a:t>Lift@K</a:t>
                      </a:r>
                    </a:p>
                  </a:txBody>
                  <a:tcPr marL="133350" marR="133350" marT="114300" marB="114300" anchor="ctr">
                    <a:solidFill>
                      <a:srgbClr val="FFFFFF"/>
                    </a:solidFill>
                  </a:tcPr>
                </a:tc>
                <a:tc>
                  <a:txBody>
                    <a:bodyPr/>
                    <a:lstStyle/>
                    <a:p>
                      <a:r>
                        <a:rPr sz="1875">
                          <a:solidFill>
                            <a:srgbClr val="102C32"/>
                          </a:solidFill>
                          <a:latin typeface="Arial"/>
                          <a:ea typeface="Arial"/>
                          <a:cs typeface="Arial"/>
                        </a:rPr>
                        <a:t>Improvement over the evaluation sample’s Yes rate</a:t>
                      </a:r>
                    </a:p>
                  </a:txBody>
                  <a:tcPr marL="133350" marR="133350" marT="114300" marB="114300" anchor="ctr">
                    <a:solidFill>
                      <a:srgbClr val="FFFFFF"/>
                    </a:solidFill>
                  </a:tcPr>
                </a:tc>
              </a:tr>
              <a:tr h="633413">
                <a:tc>
                  <a:txBody>
                    <a:bodyPr/>
                    <a:lstStyle/>
                    <a:p>
                      <a:r>
                        <a:rPr sz="1875">
                          <a:solidFill>
                            <a:srgbClr val="102C32"/>
                          </a:solidFill>
                          <a:latin typeface="Arial"/>
                          <a:ea typeface="Arial"/>
                          <a:cs typeface="Arial"/>
                        </a:rPr>
                        <a:t>Recall@K</a:t>
                      </a:r>
                    </a:p>
                  </a:txBody>
                  <a:tcPr marL="133350" marR="133350" marT="114300" marB="114300" anchor="ctr">
                    <a:solidFill>
                      <a:srgbClr val="EFF5F2"/>
                    </a:solidFill>
                  </a:tcPr>
                </a:tc>
                <a:tc>
                  <a:txBody>
                    <a:bodyPr/>
                    <a:lstStyle/>
                    <a:p>
                      <a:r>
                        <a:rPr sz="1875">
                          <a:solidFill>
                            <a:srgbClr val="102C32"/>
                          </a:solidFill>
                          <a:latin typeface="Arial"/>
                          <a:ea typeface="Arial"/>
                          <a:cs typeface="Arial"/>
                        </a:rPr>
                        <a:t>Share of all Yes profiles captured in the shortlist</a:t>
                      </a:r>
                    </a:p>
                  </a:txBody>
                  <a:tcPr marL="133350" marR="133350" marT="114300" marB="114300" anchor="ctr">
                    <a:solidFill>
                      <a:srgbClr val="EFF5F2"/>
                    </a:solidFill>
                  </a:tcPr>
                </a:tc>
              </a:tr>
            </a:tbl>
          </a:graphicData>
        </a:graphic>
      </p:graphicFrame>
      <p:sp>
        <p:nvSpPr>
          <p:cNvPr id="6" name="Model diagnostics">
            <a:extLst xmlns:a="http://schemas.openxmlformats.org/drawingml/2006/main">
              <a:ext uri="{FF2B5EF4-FFF2-40B4-BE49-F238E27FC236}">
                <a16:creationId xmlns:a16="http://schemas.microsoft.com/office/drawing/2014/main" id="{ECF3E572-AF7F-4E20-9BA2-4F3FE4AEE826}"/>
              </a:ext>
            </a:extLst>
          </p:cNvPr>
          <p:cNvSpPr>
            <a:spLocks xmlns:a="http://schemas.openxmlformats.org/drawingml/2006/main" noGrp="1"/>
          </p:cNvSpPr>
          <p:nvPr/>
        </p:nvSpPr>
        <p:spPr>
          <a:xfrm xmlns:a="http://schemas.openxmlformats.org/drawingml/2006/main">
            <a:off x="609600" y="49625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C32"/>
                </a:solidFill>
                <a:latin typeface="Arial"/>
                <a:ea typeface="Arial"/>
                <a:cs typeface="Arial"/>
              </a:defRPr>
            </a:pPr>
            <a:r>
              <a:rPr sz="2175" b="1">
                <a:solidFill>
                  <a:srgbClr val="102C32"/>
                </a:solidFill>
                <a:latin typeface="Arial"/>
                <a:ea typeface="Arial"/>
                <a:cs typeface="Arial"/>
              </a:rPr>
              <a:t>Model diagnostics</a:t>
            </a:r>
          </a:p>
        </p:txBody>
      </p:sp>
      <p:sp>
        <p:nvSpPr>
          <p:cNvPr id="7" name="ROC-AUC and average precision for ranking qua">
            <a:extLst xmlns:a="http://schemas.openxmlformats.org/drawingml/2006/main">
              <a:ext uri="{FF2B5EF4-FFF2-40B4-BE49-F238E27FC236}">
                <a16:creationId xmlns:a16="http://schemas.microsoft.com/office/drawing/2014/main" id="{38E8C61D-9AAD-4AC7-AF35-3230C3C0B1C9}"/>
              </a:ext>
            </a:extLst>
          </p:cNvPr>
          <p:cNvSpPr>
            <a:spLocks xmlns:a="http://schemas.openxmlformats.org/drawingml/2006/main" noGrp="1"/>
          </p:cNvSpPr>
          <p:nvPr/>
        </p:nvSpPr>
        <p:spPr>
          <a:xfrm xmlns:a="http://schemas.openxmlformats.org/drawingml/2006/main">
            <a:off x="609600" y="5486400"/>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ROC-AUC and average precision for ranking quality.</a:t>
            </a:r>
          </a:p>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Calibration and confusion matrices for probability and threshold checks.</a:t>
            </a:r>
          </a:p>
        </p:txBody>
      </p:sp>
    </p:spTree>
    <p:extLst>
      <p:ext uri="{BB962C8B-B14F-4D97-AF65-F5344CB8AC3E}">
        <p14:creationId xmlns:p14="http://schemas.microsoft.com/office/powerpoint/2010/main" val="2973623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he proposed application">
            <a:extLst xmlns:a="http://schemas.openxmlformats.org/drawingml/2006/main">
              <a:ext uri="{FF2B5EF4-FFF2-40B4-BE49-F238E27FC236}">
                <a16:creationId xmlns:a16="http://schemas.microsoft.com/office/drawing/2014/main" id="{7A146E13-BDE7-4890-8F72-06E2439C841B}"/>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The proposed application</a:t>
            </a:r>
          </a:p>
        </p:txBody>
      </p:sp>
      <p:sp>
        <p:nvSpPr>
          <p:cNvPr id="2" name="MSBA265  /  Final Project Proposal">
            <a:extLst xmlns:a="http://schemas.openxmlformats.org/drawingml/2006/main">
              <a:ext uri="{FF2B5EF4-FFF2-40B4-BE49-F238E27FC236}">
                <a16:creationId xmlns:a16="http://schemas.microsoft.com/office/drawing/2014/main" id="{81E628ED-3E31-4D1B-8BB3-B92F6913AF53}"/>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96168"/>
                </a:solidFill>
                <a:latin typeface="Arial"/>
                <a:ea typeface="Arial"/>
                <a:cs typeface="Arial"/>
              </a:defRPr>
            </a:pPr>
            <a:r>
              <a:rPr sz="1275" b="0">
                <a:solidFill>
                  <a:srgbClr val="496168"/>
                </a:solidFill>
                <a:latin typeface="Arial"/>
                <a:ea typeface="Arial"/>
                <a:cs typeface="Arial"/>
              </a:rPr>
              <a:t>MSBA265  /  Final Project Proposal</a:t>
            </a:r>
          </a:p>
        </p:txBody>
      </p:sp>
      <p:sp>
        <p:nvSpPr>
          <p:cNvPr id="3" name="08">
            <a:extLst xmlns:a="http://schemas.openxmlformats.org/drawingml/2006/main">
              <a:ext uri="{FF2B5EF4-FFF2-40B4-BE49-F238E27FC236}">
                <a16:creationId xmlns:a16="http://schemas.microsoft.com/office/drawing/2014/main" id="{20A889B8-BDD6-4F4B-914D-3557BC962A16}"/>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96168"/>
                </a:solidFill>
                <a:latin typeface="Arial"/>
                <a:ea typeface="Arial"/>
                <a:cs typeface="Arial"/>
              </a:defRPr>
            </a:pPr>
            <a:r>
              <a:rPr sz="1350" b="0">
                <a:solidFill>
                  <a:srgbClr val="496168"/>
                </a:solidFill>
                <a:latin typeface="Arial"/>
                <a:ea typeface="Arial"/>
                <a:cs typeface="Arial"/>
              </a:rPr>
              <a:t>08</a:t>
            </a:r>
          </a:p>
        </p:txBody>
      </p:sp>
      <p:sp>
        <p:nvSpPr>
          <p:cNvPr id="4" name="A browser tool for an outreach manager">
            <a:extLst xmlns:a="http://schemas.openxmlformats.org/drawingml/2006/main">
              <a:ext uri="{FF2B5EF4-FFF2-40B4-BE49-F238E27FC236}">
                <a16:creationId xmlns:a16="http://schemas.microsoft.com/office/drawing/2014/main" id="{019334C1-7260-45D0-A09E-D70E3A7FE102}"/>
              </a:ext>
            </a:extLst>
          </p:cNvPr>
          <p:cNvSpPr>
            <a:spLocks xmlns:a="http://schemas.openxmlformats.org/drawingml/2006/main" noGrp="1"/>
          </p:cNvSpPr>
          <p:nvPr/>
        </p:nvSpPr>
        <p:spPr>
          <a:xfrm xmlns:a="http://schemas.openxmlformats.org/drawingml/2006/main">
            <a:off x="609600" y="1352550"/>
            <a:ext cx="1062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866C"/>
                </a:solidFill>
                <a:latin typeface="Arial"/>
                <a:ea typeface="Arial"/>
                <a:cs typeface="Arial"/>
              </a:defRPr>
            </a:pPr>
            <a:r>
              <a:rPr sz="2325" b="1">
                <a:solidFill>
                  <a:srgbClr val="15866C"/>
                </a:solidFill>
                <a:latin typeface="Arial"/>
                <a:ea typeface="Arial"/>
                <a:cs typeface="Arial"/>
              </a:rPr>
              <a:t>A browser tool for an outreach manager</a:t>
            </a:r>
          </a:p>
        </p:txBody>
      </p:sp>
      <p:sp>
        <p:nvSpPr>
          <p:cNvPr id="5" name="1">
            <a:extLst xmlns:a="http://schemas.openxmlformats.org/drawingml/2006/main">
              <a:ext uri="{FF2B5EF4-FFF2-40B4-BE49-F238E27FC236}">
                <a16:creationId xmlns:a16="http://schemas.microsoft.com/office/drawing/2014/main" id="{B452F50C-93D5-45B6-8AA6-794F1341FFCC}"/>
              </a:ext>
            </a:extLst>
          </p:cNvPr>
          <p:cNvSpPr>
            <a:spLocks xmlns:a="http://schemas.openxmlformats.org/drawingml/2006/main" noGrp="1"/>
          </p:cNvSpPr>
          <p:nvPr/>
        </p:nvSpPr>
        <p:spPr>
          <a:xfrm xmlns:a="http://schemas.openxmlformats.org/drawingml/2006/main">
            <a:off x="609600" y="2219325"/>
            <a:ext cx="523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5866C"/>
                </a:solidFill>
                <a:latin typeface="Arial"/>
                <a:ea typeface="Arial"/>
                <a:cs typeface="Arial"/>
              </a:defRPr>
            </a:pPr>
            <a:r>
              <a:rPr sz="2700" b="1">
                <a:solidFill>
                  <a:srgbClr val="15866C"/>
                </a:solidFill>
                <a:latin typeface="Arial"/>
                <a:ea typeface="Arial"/>
                <a:cs typeface="Arial"/>
              </a:rPr>
              <a:t>1</a:t>
            </a:r>
          </a:p>
        </p:txBody>
      </p:sp>
      <p:sp>
        <p:nvSpPr>
          <p:cNvPr id="6" name="Upload customer profiles">
            <a:extLst xmlns:a="http://schemas.openxmlformats.org/drawingml/2006/main">
              <a:ext uri="{FF2B5EF4-FFF2-40B4-BE49-F238E27FC236}">
                <a16:creationId xmlns:a16="http://schemas.microsoft.com/office/drawing/2014/main" id="{B51F771D-F676-49AA-BD2E-19FD8E8939C6}"/>
              </a:ext>
            </a:extLst>
          </p:cNvPr>
          <p:cNvSpPr>
            <a:spLocks xmlns:a="http://schemas.openxmlformats.org/drawingml/2006/main" noGrp="1"/>
          </p:cNvSpPr>
          <p:nvPr/>
        </p:nvSpPr>
        <p:spPr>
          <a:xfrm xmlns:a="http://schemas.openxmlformats.org/drawingml/2006/main">
            <a:off x="1266825" y="2276475"/>
            <a:ext cx="609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Upload customer profiles</a:t>
            </a:r>
          </a:p>
        </p:txBody>
      </p:sp>
      <p:sp>
        <p:nvSpPr>
          <p:cNvPr id="7" name="2">
            <a:extLst xmlns:a="http://schemas.openxmlformats.org/drawingml/2006/main">
              <a:ext uri="{FF2B5EF4-FFF2-40B4-BE49-F238E27FC236}">
                <a16:creationId xmlns:a16="http://schemas.microsoft.com/office/drawing/2014/main" id="{7F173AE5-E7E3-4576-936C-B2ACCFC5E06C}"/>
              </a:ext>
            </a:extLst>
          </p:cNvPr>
          <p:cNvSpPr>
            <a:spLocks xmlns:a="http://schemas.openxmlformats.org/drawingml/2006/main" noGrp="1"/>
          </p:cNvSpPr>
          <p:nvPr/>
        </p:nvSpPr>
        <p:spPr>
          <a:xfrm xmlns:a="http://schemas.openxmlformats.org/drawingml/2006/main">
            <a:off x="609600" y="2990850"/>
            <a:ext cx="523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5866C"/>
                </a:solidFill>
                <a:latin typeface="Arial"/>
                <a:ea typeface="Arial"/>
                <a:cs typeface="Arial"/>
              </a:defRPr>
            </a:pPr>
            <a:r>
              <a:rPr sz="2700" b="1">
                <a:solidFill>
                  <a:srgbClr val="15866C"/>
                </a:solidFill>
                <a:latin typeface="Arial"/>
                <a:ea typeface="Arial"/>
                <a:cs typeface="Arial"/>
              </a:rPr>
              <a:t>2</a:t>
            </a:r>
          </a:p>
        </p:txBody>
      </p:sp>
      <p:sp>
        <p:nvSpPr>
          <p:cNvPr id="8" name="Choose a contact limit K">
            <a:extLst xmlns:a="http://schemas.openxmlformats.org/drawingml/2006/main">
              <a:ext uri="{FF2B5EF4-FFF2-40B4-BE49-F238E27FC236}">
                <a16:creationId xmlns:a16="http://schemas.microsoft.com/office/drawing/2014/main" id="{0AF38FCB-5B43-4832-8E6A-59C58820914F}"/>
              </a:ext>
            </a:extLst>
          </p:cNvPr>
          <p:cNvSpPr>
            <a:spLocks xmlns:a="http://schemas.openxmlformats.org/drawingml/2006/main" noGrp="1"/>
          </p:cNvSpPr>
          <p:nvPr/>
        </p:nvSpPr>
        <p:spPr>
          <a:xfrm xmlns:a="http://schemas.openxmlformats.org/drawingml/2006/main">
            <a:off x="1266825" y="3048000"/>
            <a:ext cx="609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Choose a contact limit K</a:t>
            </a:r>
          </a:p>
        </p:txBody>
      </p:sp>
      <p:sp>
        <p:nvSpPr>
          <p:cNvPr id="9" name="3">
            <a:extLst xmlns:a="http://schemas.openxmlformats.org/drawingml/2006/main">
              <a:ext uri="{FF2B5EF4-FFF2-40B4-BE49-F238E27FC236}">
                <a16:creationId xmlns:a16="http://schemas.microsoft.com/office/drawing/2014/main" id="{C5DD3141-AFEA-494C-A01B-AE6048E174E4}"/>
              </a:ext>
            </a:extLst>
          </p:cNvPr>
          <p:cNvSpPr>
            <a:spLocks xmlns:a="http://schemas.openxmlformats.org/drawingml/2006/main" noGrp="1"/>
          </p:cNvSpPr>
          <p:nvPr/>
        </p:nvSpPr>
        <p:spPr>
          <a:xfrm xmlns:a="http://schemas.openxmlformats.org/drawingml/2006/main">
            <a:off x="609600" y="3762375"/>
            <a:ext cx="523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5866C"/>
                </a:solidFill>
                <a:latin typeface="Arial"/>
                <a:ea typeface="Arial"/>
                <a:cs typeface="Arial"/>
              </a:defRPr>
            </a:pPr>
            <a:r>
              <a:rPr sz="2700" b="1">
                <a:solidFill>
                  <a:srgbClr val="15866C"/>
                </a:solidFill>
                <a:latin typeface="Arial"/>
                <a:ea typeface="Arial"/>
                <a:cs typeface="Arial"/>
              </a:rPr>
              <a:t>3</a:t>
            </a:r>
          </a:p>
        </p:txBody>
      </p:sp>
      <p:sp>
        <p:nvSpPr>
          <p:cNvPr id="10" name="View ranked IDs and estimated Yes probabiliti">
            <a:extLst xmlns:a="http://schemas.openxmlformats.org/drawingml/2006/main">
              <a:ext uri="{FF2B5EF4-FFF2-40B4-BE49-F238E27FC236}">
                <a16:creationId xmlns:a16="http://schemas.microsoft.com/office/drawing/2014/main" id="{DFAFCC2E-6272-4A36-A39B-0458D30BADF7}"/>
              </a:ext>
            </a:extLst>
          </p:cNvPr>
          <p:cNvSpPr>
            <a:spLocks xmlns:a="http://schemas.openxmlformats.org/drawingml/2006/main" noGrp="1"/>
          </p:cNvSpPr>
          <p:nvPr/>
        </p:nvSpPr>
        <p:spPr>
          <a:xfrm xmlns:a="http://schemas.openxmlformats.org/drawingml/2006/main">
            <a:off x="1266825" y="3819525"/>
            <a:ext cx="609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View ranked IDs and estimated Yes probabilities</a:t>
            </a:r>
          </a:p>
        </p:txBody>
      </p:sp>
      <p:sp>
        <p:nvSpPr>
          <p:cNvPr id="11" name="4">
            <a:extLst xmlns:a="http://schemas.openxmlformats.org/drawingml/2006/main">
              <a:ext uri="{FF2B5EF4-FFF2-40B4-BE49-F238E27FC236}">
                <a16:creationId xmlns:a16="http://schemas.microsoft.com/office/drawing/2014/main" id="{F540DF45-9D1D-449A-80B1-2182EFE58697}"/>
              </a:ext>
            </a:extLst>
          </p:cNvPr>
          <p:cNvSpPr>
            <a:spLocks xmlns:a="http://schemas.openxmlformats.org/drawingml/2006/main" noGrp="1"/>
          </p:cNvSpPr>
          <p:nvPr/>
        </p:nvSpPr>
        <p:spPr>
          <a:xfrm xmlns:a="http://schemas.openxmlformats.org/drawingml/2006/main">
            <a:off x="609600" y="4533900"/>
            <a:ext cx="523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5866C"/>
                </a:solidFill>
                <a:latin typeface="Arial"/>
                <a:ea typeface="Arial"/>
                <a:cs typeface="Arial"/>
              </a:defRPr>
            </a:pPr>
            <a:r>
              <a:rPr sz="2700" b="1">
                <a:solidFill>
                  <a:srgbClr val="15866C"/>
                </a:solidFill>
                <a:latin typeface="Arial"/>
                <a:ea typeface="Arial"/>
                <a:cs typeface="Arial"/>
              </a:rPr>
              <a:t>4</a:t>
            </a:r>
          </a:p>
        </p:txBody>
      </p:sp>
      <p:sp>
        <p:nvSpPr>
          <p:cNvPr id="12" name="Export the shortlist as a CSV file">
            <a:extLst xmlns:a="http://schemas.openxmlformats.org/drawingml/2006/main">
              <a:ext uri="{FF2B5EF4-FFF2-40B4-BE49-F238E27FC236}">
                <a16:creationId xmlns:a16="http://schemas.microsoft.com/office/drawing/2014/main" id="{842F19E8-55DF-4793-B9B7-9F08F18E5F68}"/>
              </a:ext>
            </a:extLst>
          </p:cNvPr>
          <p:cNvSpPr>
            <a:spLocks xmlns:a="http://schemas.openxmlformats.org/drawingml/2006/main" noGrp="1"/>
          </p:cNvSpPr>
          <p:nvPr/>
        </p:nvSpPr>
        <p:spPr>
          <a:xfrm xmlns:a="http://schemas.openxmlformats.org/drawingml/2006/main">
            <a:off x="1266825" y="4591050"/>
            <a:ext cx="609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02C32"/>
                </a:solidFill>
                <a:latin typeface="Arial"/>
                <a:ea typeface="Arial"/>
                <a:cs typeface="Arial"/>
              </a:defRPr>
            </a:pPr>
            <a:r>
              <a:rPr sz="2100" b="0">
                <a:solidFill>
                  <a:srgbClr val="102C32"/>
                </a:solidFill>
                <a:latin typeface="Arial"/>
                <a:ea typeface="Arial"/>
                <a:cs typeface="Arial"/>
              </a:rPr>
              <a:t>Export the shortlist as a CSV file</a:t>
            </a:r>
          </a:p>
        </p:txBody>
      </p:sp>
      <p:sp>
        <p:nvSpPr>
          <p:cNvPr id="13" name="Planned implementation">
            <a:extLst xmlns:a="http://schemas.openxmlformats.org/drawingml/2006/main">
              <a:ext uri="{FF2B5EF4-FFF2-40B4-BE49-F238E27FC236}">
                <a16:creationId xmlns:a16="http://schemas.microsoft.com/office/drawing/2014/main" id="{A8EBBA67-839A-4256-9EEB-DBF7B9CB7C7C}"/>
              </a:ext>
            </a:extLst>
          </p:cNvPr>
          <p:cNvSpPr>
            <a:spLocks xmlns:a="http://schemas.openxmlformats.org/drawingml/2006/main" noGrp="1"/>
          </p:cNvSpPr>
          <p:nvPr/>
        </p:nvSpPr>
        <p:spPr>
          <a:xfrm xmlns:a="http://schemas.openxmlformats.org/drawingml/2006/main">
            <a:off x="8105775" y="2219325"/>
            <a:ext cx="3486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C32"/>
                </a:solidFill>
                <a:latin typeface="Arial"/>
                <a:ea typeface="Arial"/>
                <a:cs typeface="Arial"/>
              </a:defRPr>
            </a:pPr>
            <a:r>
              <a:rPr sz="2175" b="1">
                <a:solidFill>
                  <a:srgbClr val="102C32"/>
                </a:solidFill>
                <a:latin typeface="Arial"/>
                <a:ea typeface="Arial"/>
                <a:cs typeface="Arial"/>
              </a:rPr>
              <a:t>Planned implementation</a:t>
            </a:r>
          </a:p>
        </p:txBody>
      </p:sp>
      <p:sp>
        <p:nvSpPr>
          <p:cNvPr id="14" name="Streamlit interface&#10;FastAPI scoring service&#10;S">
            <a:extLst xmlns:a="http://schemas.openxmlformats.org/drawingml/2006/main">
              <a:ext uri="{FF2B5EF4-FFF2-40B4-BE49-F238E27FC236}">
                <a16:creationId xmlns:a16="http://schemas.microsoft.com/office/drawing/2014/main" id="{4841DA85-5723-4D5C-BAE9-D7D63A37BD33}"/>
              </a:ext>
            </a:extLst>
          </p:cNvPr>
          <p:cNvSpPr>
            <a:spLocks xmlns:a="http://schemas.openxmlformats.org/drawingml/2006/main" noGrp="1"/>
          </p:cNvSpPr>
          <p:nvPr/>
        </p:nvSpPr>
        <p:spPr>
          <a:xfrm xmlns:a="http://schemas.openxmlformats.org/drawingml/2006/main">
            <a:off x="8105775" y="2847975"/>
            <a:ext cx="3381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02C32"/>
                </a:solidFill>
                <a:latin typeface="Arial"/>
                <a:ea typeface="Arial"/>
                <a:cs typeface="Arial"/>
              </a:defRPr>
            </a:pPr>
            <a:r>
              <a:rPr sz="1950" b="0">
                <a:solidFill>
                  <a:srgbClr val="102C32"/>
                </a:solidFill>
                <a:latin typeface="Arial"/>
                <a:ea typeface="Arial"/>
                <a:cs typeface="Arial"/>
              </a:rPr>
              <a:t>Streamlit interface</a:t>
            </a:r>
          </a:p>
          <a:p xmlns:a="http://schemas.openxmlformats.org/drawingml/2006/main">
            <a:pPr algn="l">
              <a:defRPr sz="1950" b="0">
                <a:solidFill>
                  <a:srgbClr val="102C32"/>
                </a:solidFill>
                <a:latin typeface="Arial"/>
                <a:ea typeface="Arial"/>
                <a:cs typeface="Arial"/>
              </a:defRPr>
            </a:pPr>
            <a:r>
              <a:rPr sz="1950" b="0">
                <a:solidFill>
                  <a:srgbClr val="102C32"/>
                </a:solidFill>
                <a:latin typeface="Arial"/>
                <a:ea typeface="Arial"/>
                <a:cs typeface="Arial"/>
              </a:rPr>
              <a:t>FastAPI scoring service</a:t>
            </a:r>
          </a:p>
          <a:p xmlns:a="http://schemas.openxmlformats.org/drawingml/2006/main">
            <a:pPr algn="l">
              <a:defRPr sz="1950" b="0">
                <a:solidFill>
                  <a:srgbClr val="102C32"/>
                </a:solidFill>
                <a:latin typeface="Arial"/>
                <a:ea typeface="Arial"/>
                <a:cs typeface="Arial"/>
              </a:defRPr>
            </a:pPr>
            <a:r>
              <a:rPr sz="1950" b="0">
                <a:solidFill>
                  <a:srgbClr val="102C32"/>
                </a:solidFill>
                <a:latin typeface="Arial"/>
                <a:ea typeface="Arial"/>
                <a:cs typeface="Arial"/>
              </a:rPr>
              <a:t>Saved scikit-learn pipeline</a:t>
            </a:r>
          </a:p>
          <a:p xmlns:a="http://schemas.openxmlformats.org/drawingml/2006/main">
            <a:pPr algn="l">
              <a:defRPr sz="1950" b="0">
                <a:solidFill>
                  <a:srgbClr val="102C32"/>
                </a:solidFill>
                <a:latin typeface="Arial"/>
                <a:ea typeface="Arial"/>
                <a:cs typeface="Arial"/>
              </a:defRPr>
            </a:pPr>
            <a:r>
              <a:rPr sz="1950" b="0">
                <a:solidFill>
                  <a:srgbClr val="102C32"/>
                </a:solidFill>
                <a:latin typeface="Arial"/>
                <a:ea typeface="Arial"/>
                <a:cs typeface="Arial"/>
              </a:rPr>
              <a:t>Docker package for the demo</a:t>
            </a:r>
          </a:p>
        </p:txBody>
      </p:sp>
      <p:sp>
        <p:nvSpPr>
          <p:cNvPr id="15" name="Input checks will report&#10;missing fields and&#10;u">
            <a:extLst xmlns:a="http://schemas.openxmlformats.org/drawingml/2006/main">
              <a:ext uri="{FF2B5EF4-FFF2-40B4-BE49-F238E27FC236}">
                <a16:creationId xmlns:a16="http://schemas.microsoft.com/office/drawing/2014/main" id="{85528D07-17DC-4999-882C-70EFD87B3C5D}"/>
              </a:ext>
            </a:extLst>
          </p:cNvPr>
          <p:cNvSpPr>
            <a:spLocks xmlns:a="http://schemas.openxmlformats.org/drawingml/2006/main" noGrp="1"/>
          </p:cNvSpPr>
          <p:nvPr/>
        </p:nvSpPr>
        <p:spPr>
          <a:xfrm xmlns:a="http://schemas.openxmlformats.org/drawingml/2006/main">
            <a:off x="8105775" y="4705350"/>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Input checks will report</a:t>
            </a:r>
          </a:p>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missing fields and</a:t>
            </a:r>
          </a:p>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unsupported values.</a:t>
            </a:r>
          </a:p>
        </p:txBody>
      </p:sp>
      <p:sp>
        <p:nvSpPr>
          <p:cNvPr id="16" name="Prototype scores refer to the supplied label.">
            <a:extLst xmlns:a="http://schemas.openxmlformats.org/drawingml/2006/main">
              <a:ext uri="{FF2B5EF4-FFF2-40B4-BE49-F238E27FC236}">
                <a16:creationId xmlns:a16="http://schemas.microsoft.com/office/drawing/2014/main" id="{8CDBB870-BC10-4B7D-8F8D-AD22DD26E928}"/>
              </a:ext>
            </a:extLst>
          </p:cNvPr>
          <p:cNvSpPr>
            <a:spLocks xmlns:a="http://schemas.openxmlformats.org/drawingml/2006/main" noGrp="1"/>
          </p:cNvSpPr>
          <p:nvPr/>
        </p:nvSpPr>
        <p:spPr>
          <a:xfrm xmlns:a="http://schemas.openxmlformats.org/drawingml/2006/main">
            <a:off x="609600" y="5876925"/>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02C32"/>
                </a:solidFill>
                <a:latin typeface="Arial"/>
                <a:ea typeface="Arial"/>
                <a:cs typeface="Arial"/>
              </a:defRPr>
            </a:pPr>
            <a:r>
              <a:rPr sz="1800" b="1">
                <a:solidFill>
                  <a:srgbClr val="102C32"/>
                </a:solidFill>
                <a:latin typeface="Arial"/>
                <a:ea typeface="Arial"/>
                <a:cs typeface="Arial"/>
              </a:rPr>
              <a:t>Prototype scores refer to the supplied label. Real outreach needs real-world validation.</a:t>
            </a:r>
          </a:p>
        </p:txBody>
      </p:sp>
    </p:spTree>
    <p:extLst>
      <p:ext uri="{BB962C8B-B14F-4D97-AF65-F5344CB8AC3E}">
        <p14:creationId xmlns:p14="http://schemas.microsoft.com/office/powerpoint/2010/main" val="7649510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liverables and next steps">
            <a:extLst xmlns:a="http://schemas.openxmlformats.org/drawingml/2006/main">
              <a:ext uri="{FF2B5EF4-FFF2-40B4-BE49-F238E27FC236}">
                <a16:creationId xmlns:a16="http://schemas.microsoft.com/office/drawing/2014/main" id="{A19E6845-21E2-4D7A-B73E-255C1D64E370}"/>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Deliverables and next steps</a:t>
            </a:r>
          </a:p>
        </p:txBody>
      </p:sp>
      <p:sp>
        <p:nvSpPr>
          <p:cNvPr id="2" name="MSBA265  /  Final Project Proposal">
            <a:extLst xmlns:a="http://schemas.openxmlformats.org/drawingml/2006/main">
              <a:ext uri="{FF2B5EF4-FFF2-40B4-BE49-F238E27FC236}">
                <a16:creationId xmlns:a16="http://schemas.microsoft.com/office/drawing/2014/main" id="{F9839B4D-D653-48D6-A0F0-7D77594E018F}"/>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96168"/>
                </a:solidFill>
                <a:latin typeface="Arial"/>
                <a:ea typeface="Arial"/>
                <a:cs typeface="Arial"/>
              </a:defRPr>
            </a:pPr>
            <a:r>
              <a:rPr sz="1275" b="0">
                <a:solidFill>
                  <a:srgbClr val="496168"/>
                </a:solidFill>
                <a:latin typeface="Arial"/>
                <a:ea typeface="Arial"/>
                <a:cs typeface="Arial"/>
              </a:rPr>
              <a:t>MSBA265  /  Final Project Proposal</a:t>
            </a:r>
          </a:p>
        </p:txBody>
      </p:sp>
      <p:sp>
        <p:nvSpPr>
          <p:cNvPr id="3" name="09">
            <a:extLst xmlns:a="http://schemas.openxmlformats.org/drawingml/2006/main">
              <a:ext uri="{FF2B5EF4-FFF2-40B4-BE49-F238E27FC236}">
                <a16:creationId xmlns:a16="http://schemas.microsoft.com/office/drawing/2014/main" id="{D118593F-8EB0-4D36-AC2D-8A4E07330A8A}"/>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96168"/>
                </a:solidFill>
                <a:latin typeface="Arial"/>
                <a:ea typeface="Arial"/>
                <a:cs typeface="Arial"/>
              </a:defRPr>
            </a:pPr>
            <a:r>
              <a:rPr sz="1350" b="0">
                <a:solidFill>
                  <a:srgbClr val="496168"/>
                </a:solidFill>
                <a:latin typeface="Arial"/>
                <a:ea typeface="Arial"/>
                <a:cs typeface="Arial"/>
              </a:rPr>
              <a:t>09</a:t>
            </a:r>
          </a:p>
        </p:txBody>
      </p:sp>
      <p:graphicFrame>
        <p:nvGraphicFramePr>
          <p:cNvPr id="10" name=""/>
          <p:cNvGraphicFramePr/>
          <p:nvPr/>
        </p:nvGraphicFramePr>
        <p:xfrm>
          <a:off xmlns:a="http://schemas.openxmlformats.org/drawingml/2006/main" x="609600" y="1466850"/>
          <a:ext xmlns:a="http://schemas.openxmlformats.org/drawingml/2006/main" cx="10972800" cy="3333750"/>
        </p:xfrm>
        <a:graphic xmlns:a="http://schemas.openxmlformats.org/drawingml/2006/main">
          <a:graphicData uri="http://schemas.openxmlformats.org/drawingml/2006/table">
            <a:tbl>
              <a:tblPr firstRow="1" bandRow="0"/>
              <a:tblGrid>
                <a:gridCol w="2524125"/>
                <a:gridCol w="6591300"/>
                <a:gridCol w="1857375"/>
              </a:tblGrid>
              <a:tr h="666750">
                <a:tc>
                  <a:txBody>
                    <a:bodyPr/>
                    <a:lstStyle/>
                    <a:p>
                      <a:r>
                        <a:rPr sz="1800" b="1">
                          <a:solidFill>
                            <a:srgbClr val="FFFFFF"/>
                          </a:solidFill>
                          <a:latin typeface="Arial"/>
                          <a:ea typeface="Arial"/>
                          <a:cs typeface="Arial"/>
                        </a:rPr>
                        <a:t>Stage</a:t>
                      </a:r>
                    </a:p>
                  </a:txBody>
                  <a:tcPr marL="133350" marR="133350" marT="114300" marB="114300" anchor="ctr">
                    <a:solidFill>
                      <a:srgbClr val="102C32"/>
                    </a:solidFill>
                  </a:tcPr>
                </a:tc>
                <a:tc>
                  <a:txBody>
                    <a:bodyPr/>
                    <a:lstStyle/>
                    <a:p>
                      <a:r>
                        <a:rPr sz="1800" b="1">
                          <a:solidFill>
                            <a:srgbClr val="FFFFFF"/>
                          </a:solidFill>
                          <a:latin typeface="Arial"/>
                          <a:ea typeface="Arial"/>
                          <a:cs typeface="Arial"/>
                        </a:rPr>
                        <a:t>Deliverable</a:t>
                      </a:r>
                    </a:p>
                  </a:txBody>
                  <a:tcPr marL="133350" marR="133350" marT="114300" marB="114300" anchor="ctr">
                    <a:solidFill>
                      <a:srgbClr val="102C32"/>
                    </a:solidFill>
                  </a:tcPr>
                </a:tc>
                <a:tc>
                  <a:txBody>
                    <a:bodyPr/>
                    <a:lstStyle/>
                    <a:p>
                      <a:r>
                        <a:rPr sz="1800" b="1">
                          <a:solidFill>
                            <a:srgbClr val="FFFFFF"/>
                          </a:solidFill>
                          <a:latin typeface="Arial"/>
                          <a:ea typeface="Arial"/>
                          <a:cs typeface="Arial"/>
                        </a:rPr>
                        <a:t>Status</a:t>
                      </a:r>
                    </a:p>
                  </a:txBody>
                  <a:tcPr marL="133350" marR="133350" marT="114300" marB="114300" anchor="ctr">
                    <a:solidFill>
                      <a:srgbClr val="102C32"/>
                    </a:solidFill>
                  </a:tcPr>
                </a:tc>
              </a:tr>
              <a:tr h="666750">
                <a:tc>
                  <a:txBody>
                    <a:bodyPr/>
                    <a:lstStyle/>
                    <a:p>
                      <a:r>
                        <a:rPr sz="1800">
                          <a:solidFill>
                            <a:srgbClr val="102C32"/>
                          </a:solidFill>
                          <a:latin typeface="Arial"/>
                          <a:ea typeface="Arial"/>
                          <a:cs typeface="Arial"/>
                        </a:rPr>
                        <a:t>Data understanding</a:t>
                      </a:r>
                    </a:p>
                  </a:txBody>
                  <a:tcPr marL="133350" marR="133350" marT="114300" marB="114300" anchor="ctr">
                    <a:solidFill>
                      <a:srgbClr val="EFF5F2"/>
                    </a:solidFill>
                  </a:tcPr>
                </a:tc>
                <a:tc>
                  <a:txBody>
                    <a:bodyPr/>
                    <a:lstStyle/>
                    <a:p>
                      <a:r>
                        <a:rPr sz="1800">
                          <a:solidFill>
                            <a:srgbClr val="102C32"/>
                          </a:solidFill>
                          <a:latin typeface="Arial"/>
                          <a:ea typeface="Arial"/>
                          <a:cs typeface="Arial"/>
                        </a:rPr>
                        <a:t>Cleaning notebook and EDA report</a:t>
                      </a:r>
                    </a:p>
                  </a:txBody>
                  <a:tcPr marL="133350" marR="133350" marT="114300" marB="114300" anchor="ctr">
                    <a:solidFill>
                      <a:srgbClr val="EFF5F2"/>
                    </a:solidFill>
                  </a:tcPr>
                </a:tc>
                <a:tc>
                  <a:txBody>
                    <a:bodyPr/>
                    <a:lstStyle/>
                    <a:p>
                      <a:r>
                        <a:rPr sz="1800">
                          <a:solidFill>
                            <a:srgbClr val="102C32"/>
                          </a:solidFill>
                          <a:latin typeface="Arial"/>
                          <a:ea typeface="Arial"/>
                          <a:cs typeface="Arial"/>
                        </a:rPr>
                        <a:t>Complete</a:t>
                      </a:r>
                    </a:p>
                  </a:txBody>
                  <a:tcPr marL="133350" marR="133350" marT="114300" marB="114300" anchor="ctr">
                    <a:solidFill>
                      <a:srgbClr val="EFF5F2"/>
                    </a:solidFill>
                  </a:tcPr>
                </a:tc>
              </a:tr>
              <a:tr h="666750">
                <a:tc>
                  <a:txBody>
                    <a:bodyPr/>
                    <a:lstStyle/>
                    <a:p>
                      <a:r>
                        <a:rPr sz="1800">
                          <a:solidFill>
                            <a:srgbClr val="102C32"/>
                          </a:solidFill>
                          <a:latin typeface="Arial"/>
                          <a:ea typeface="Arial"/>
                          <a:cs typeface="Arial"/>
                        </a:rPr>
                        <a:t>Model development</a:t>
                      </a:r>
                    </a:p>
                  </a:txBody>
                  <a:tcPr marL="133350" marR="133350" marT="114300" marB="114300" anchor="ctr">
                    <a:solidFill>
                      <a:srgbClr val="FFFFFF"/>
                    </a:solidFill>
                  </a:tcPr>
                </a:tc>
                <a:tc>
                  <a:txBody>
                    <a:bodyPr/>
                    <a:lstStyle/>
                    <a:p>
                      <a:r>
                        <a:rPr sz="1800">
                          <a:solidFill>
                            <a:srgbClr val="102C32"/>
                          </a:solidFill>
                          <a:latin typeface="Arial"/>
                          <a:ea typeface="Arial"/>
                          <a:cs typeface="Arial"/>
                        </a:rPr>
                        <a:t>Pipeline and comparison on held-out data</a:t>
                      </a:r>
                    </a:p>
                  </a:txBody>
                  <a:tcPr marL="133350" marR="133350" marT="114300" marB="114300" anchor="ctr">
                    <a:solidFill>
                      <a:srgbClr val="FFFFFF"/>
                    </a:solidFill>
                  </a:tcPr>
                </a:tc>
                <a:tc>
                  <a:txBody>
                    <a:bodyPr/>
                    <a:lstStyle/>
                    <a:p>
                      <a:r>
                        <a:rPr sz="1800">
                          <a:solidFill>
                            <a:srgbClr val="102C32"/>
                          </a:solidFill>
                          <a:latin typeface="Arial"/>
                          <a:ea typeface="Arial"/>
                          <a:cs typeface="Arial"/>
                        </a:rPr>
                        <a:t>Next</a:t>
                      </a:r>
                    </a:p>
                  </a:txBody>
                  <a:tcPr marL="133350" marR="133350" marT="114300" marB="114300" anchor="ctr">
                    <a:solidFill>
                      <a:srgbClr val="FFFFFF"/>
                    </a:solidFill>
                  </a:tcPr>
                </a:tc>
              </a:tr>
              <a:tr h="666750">
                <a:tc>
                  <a:txBody>
                    <a:bodyPr/>
                    <a:lstStyle/>
                    <a:p>
                      <a:r>
                        <a:rPr sz="1800">
                          <a:solidFill>
                            <a:srgbClr val="102C32"/>
                          </a:solidFill>
                          <a:latin typeface="Arial"/>
                          <a:ea typeface="Arial"/>
                          <a:cs typeface="Arial"/>
                        </a:rPr>
                        <a:t>Application</a:t>
                      </a:r>
                    </a:p>
                  </a:txBody>
                  <a:tcPr marL="133350" marR="133350" marT="114300" marB="114300" anchor="ctr">
                    <a:solidFill>
                      <a:srgbClr val="EFF5F2"/>
                    </a:solidFill>
                  </a:tcPr>
                </a:tc>
                <a:tc>
                  <a:txBody>
                    <a:bodyPr/>
                    <a:lstStyle/>
                    <a:p>
                      <a:r>
                        <a:rPr sz="1800">
                          <a:solidFill>
                            <a:srgbClr val="102C32"/>
                          </a:solidFill>
                          <a:latin typeface="Arial"/>
                          <a:ea typeface="Arial"/>
                          <a:cs typeface="Arial"/>
                        </a:rPr>
                        <a:t>Working prioritization demo</a:t>
                      </a:r>
                    </a:p>
                  </a:txBody>
                  <a:tcPr marL="133350" marR="133350" marT="114300" marB="114300" anchor="ctr">
                    <a:solidFill>
                      <a:srgbClr val="EFF5F2"/>
                    </a:solidFill>
                  </a:tcPr>
                </a:tc>
                <a:tc>
                  <a:txBody>
                    <a:bodyPr/>
                    <a:lstStyle/>
                    <a:p>
                      <a:r>
                        <a:rPr sz="1800">
                          <a:solidFill>
                            <a:srgbClr val="102C32"/>
                          </a:solidFill>
                          <a:latin typeface="Arial"/>
                          <a:ea typeface="Arial"/>
                          <a:cs typeface="Arial"/>
                        </a:rPr>
                        <a:t>Planned</a:t>
                      </a:r>
                    </a:p>
                  </a:txBody>
                  <a:tcPr marL="133350" marR="133350" marT="114300" marB="114300" anchor="ctr">
                    <a:solidFill>
                      <a:srgbClr val="EFF5F2"/>
                    </a:solidFill>
                  </a:tcPr>
                </a:tc>
              </a:tr>
              <a:tr h="666750">
                <a:tc>
                  <a:txBody>
                    <a:bodyPr/>
                    <a:lstStyle/>
                    <a:p>
                      <a:r>
                        <a:rPr sz="1800">
                          <a:solidFill>
                            <a:srgbClr val="102C32"/>
                          </a:solidFill>
                          <a:latin typeface="Arial"/>
                          <a:ea typeface="Arial"/>
                          <a:cs typeface="Arial"/>
                        </a:rPr>
                        <a:t>Final handoff</a:t>
                      </a:r>
                    </a:p>
                  </a:txBody>
                  <a:tcPr marL="133350" marR="133350" marT="114300" marB="114300" anchor="ctr">
                    <a:solidFill>
                      <a:srgbClr val="FFFFFF"/>
                    </a:solidFill>
                  </a:tcPr>
                </a:tc>
                <a:tc>
                  <a:txBody>
                    <a:bodyPr/>
                    <a:lstStyle/>
                    <a:p>
                      <a:r>
                        <a:rPr sz="1800">
                          <a:solidFill>
                            <a:srgbClr val="102C32"/>
                          </a:solidFill>
                          <a:latin typeface="Arial"/>
                          <a:ea typeface="Arial"/>
                          <a:cs typeface="Arial"/>
                        </a:rPr>
                        <a:t>Git repository, runbook, executive presentation</a:t>
                      </a:r>
                    </a:p>
                  </a:txBody>
                  <a:tcPr marL="133350" marR="133350" marT="114300" marB="114300" anchor="ctr">
                    <a:solidFill>
                      <a:srgbClr val="FFFFFF"/>
                    </a:solidFill>
                  </a:tcPr>
                </a:tc>
                <a:tc>
                  <a:txBody>
                    <a:bodyPr/>
                    <a:lstStyle/>
                    <a:p>
                      <a:r>
                        <a:rPr sz="1800">
                          <a:solidFill>
                            <a:srgbClr val="102C32"/>
                          </a:solidFill>
                          <a:latin typeface="Arial"/>
                          <a:ea typeface="Arial"/>
                          <a:cs typeface="Arial"/>
                        </a:rPr>
                        <a:t>Planned</a:t>
                      </a:r>
                    </a:p>
                  </a:txBody>
                  <a:tcPr marL="133350" marR="133350" marT="114300" marB="114300" anchor="ctr">
                    <a:solidFill>
                      <a:srgbClr val="FFFFFF"/>
                    </a:solidFill>
                  </a:tcPr>
                </a:tc>
              </a:tr>
            </a:tbl>
          </a:graphicData>
        </a:graphic>
      </p:graphicFrame>
      <p:sp>
        <p:nvSpPr>
          <p:cNvPr id="5" name="Reproducibility and monitoring plan">
            <a:extLst xmlns:a="http://schemas.openxmlformats.org/drawingml/2006/main">
              <a:ext uri="{FF2B5EF4-FFF2-40B4-BE49-F238E27FC236}">
                <a16:creationId xmlns:a16="http://schemas.microsoft.com/office/drawing/2014/main" id="{2765BC9B-BD04-44E0-96FE-1FA9FD8BD16B}"/>
              </a:ext>
            </a:extLst>
          </p:cNvPr>
          <p:cNvSpPr>
            <a:spLocks xmlns:a="http://schemas.openxmlformats.org/drawingml/2006/main" noGrp="1"/>
          </p:cNvSpPr>
          <p:nvPr/>
        </p:nvSpPr>
        <p:spPr>
          <a:xfrm xmlns:a="http://schemas.openxmlformats.org/drawingml/2006/main">
            <a:off x="609600" y="51149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866C"/>
                </a:solidFill>
                <a:latin typeface="Arial"/>
                <a:ea typeface="Arial"/>
                <a:cs typeface="Arial"/>
              </a:defRPr>
            </a:pPr>
            <a:r>
              <a:rPr sz="2175" b="1">
                <a:solidFill>
                  <a:srgbClr val="15866C"/>
                </a:solidFill>
                <a:latin typeface="Arial"/>
                <a:ea typeface="Arial"/>
                <a:cs typeface="Arial"/>
              </a:rPr>
              <a:t>Reproducibility and monitoring plan</a:t>
            </a:r>
          </a:p>
        </p:txBody>
      </p:sp>
      <p:sp>
        <p:nvSpPr>
          <p:cNvPr id="6" name="Kaggle API download and Mac/Windows setup che">
            <a:extLst xmlns:a="http://schemas.openxmlformats.org/drawingml/2006/main">
              <a:ext uri="{FF2B5EF4-FFF2-40B4-BE49-F238E27FC236}">
                <a16:creationId xmlns:a16="http://schemas.microsoft.com/office/drawing/2014/main" id="{83FEE33F-EC19-4ABC-B9ED-ED7A077CF8DA}"/>
              </a:ext>
            </a:extLst>
          </p:cNvPr>
          <p:cNvSpPr>
            <a:spLocks xmlns:a="http://schemas.openxmlformats.org/drawingml/2006/main" noGrp="1"/>
          </p:cNvSpPr>
          <p:nvPr/>
        </p:nvSpPr>
        <p:spPr>
          <a:xfrm xmlns:a="http://schemas.openxmlformats.org/drawingml/2006/main">
            <a:off x="609600" y="56102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Kaggle API download and Mac/Windows setup checks.</a:t>
            </a:r>
          </a:p>
          <a:p xmlns:a="http://schemas.openxmlformats.org/drawingml/2006/main">
            <a:pPr algn="l">
              <a:defRPr sz="1875" b="0">
                <a:solidFill>
                  <a:srgbClr val="102C32"/>
                </a:solidFill>
                <a:latin typeface="Arial"/>
                <a:ea typeface="Arial"/>
                <a:cs typeface="Arial"/>
              </a:defRPr>
            </a:pPr>
            <a:r>
              <a:rPr sz="1875" b="0">
                <a:solidFill>
                  <a:srgbClr val="102C32"/>
                </a:solidFill>
                <a:latin typeface="Arial"/>
                <a:ea typeface="Arial"/>
                <a:cs typeface="Arial"/>
              </a:rPr>
              <a:t>Monitor input errors and scoring failures. Simulate distribution drift.</a:t>
            </a:r>
          </a:p>
        </p:txBody>
      </p:sp>
    </p:spTree>
    <p:extLst>
      <p:ext uri="{BB962C8B-B14F-4D97-AF65-F5344CB8AC3E}">
        <p14:creationId xmlns:p14="http://schemas.microsoft.com/office/powerpoint/2010/main" val="14931140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ackup: predictor groups and definitions">
            <a:extLst xmlns:a="http://schemas.openxmlformats.org/drawingml/2006/main">
              <a:ext uri="{FF2B5EF4-FFF2-40B4-BE49-F238E27FC236}">
                <a16:creationId xmlns:a16="http://schemas.microsoft.com/office/drawing/2014/main" id="{87390452-C83C-4640-81EF-DFEBC870C71A}"/>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Backup: predictor groups and definitions</a:t>
            </a:r>
          </a:p>
        </p:txBody>
      </p:sp>
      <p:sp>
        <p:nvSpPr>
          <p:cNvPr id="2" name="MSBA265  /  Backup">
            <a:extLst xmlns:a="http://schemas.openxmlformats.org/drawingml/2006/main">
              <a:ext uri="{FF2B5EF4-FFF2-40B4-BE49-F238E27FC236}">
                <a16:creationId xmlns:a16="http://schemas.microsoft.com/office/drawing/2014/main" id="{C3F3282B-7175-4D38-BC69-8572FDA126DD}"/>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96168"/>
                </a:solidFill>
                <a:latin typeface="Arial"/>
                <a:ea typeface="Arial"/>
                <a:cs typeface="Arial"/>
              </a:defRPr>
            </a:pPr>
            <a:r>
              <a:rPr sz="1275" b="0">
                <a:solidFill>
                  <a:srgbClr val="496168"/>
                </a:solidFill>
                <a:latin typeface="Arial"/>
                <a:ea typeface="Arial"/>
                <a:cs typeface="Arial"/>
              </a:rPr>
              <a:t>MSBA265  /  Backup</a:t>
            </a:r>
          </a:p>
        </p:txBody>
      </p:sp>
      <p:sp>
        <p:nvSpPr>
          <p:cNvPr id="3" name="10">
            <a:extLst xmlns:a="http://schemas.openxmlformats.org/drawingml/2006/main">
              <a:ext uri="{FF2B5EF4-FFF2-40B4-BE49-F238E27FC236}">
                <a16:creationId xmlns:a16="http://schemas.microsoft.com/office/drawing/2014/main" id="{2CDECB22-04DA-4A83-B140-F7A9925D0F2C}"/>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96168"/>
                </a:solidFill>
                <a:latin typeface="Arial"/>
                <a:ea typeface="Arial"/>
                <a:cs typeface="Arial"/>
              </a:defRPr>
            </a:pPr>
            <a:r>
              <a:rPr sz="1350" b="0">
                <a:solidFill>
                  <a:srgbClr val="496168"/>
                </a:solidFill>
                <a:latin typeface="Arial"/>
                <a:ea typeface="Arial"/>
                <a:cs typeface="Arial"/>
              </a:rPr>
              <a:t>10</a:t>
            </a:r>
          </a:p>
        </p:txBody>
      </p:sp>
      <p:graphicFrame>
        <p:nvGraphicFramePr>
          <p:cNvPr id="9" name=""/>
          <p:cNvGraphicFramePr/>
          <p:nvPr/>
        </p:nvGraphicFramePr>
        <p:xfrm>
          <a:off xmlns:a="http://schemas.openxmlformats.org/drawingml/2006/main" x="609600" y="1457325"/>
          <a:ext xmlns:a="http://schemas.openxmlformats.org/drawingml/2006/main" cx="10972800" cy="3714750"/>
        </p:xfrm>
        <a:graphic xmlns:a="http://schemas.openxmlformats.org/drawingml/2006/main">
          <a:graphicData uri="http://schemas.openxmlformats.org/drawingml/2006/table">
            <a:tbl>
              <a:tblPr firstRow="1" bandRow="0"/>
              <a:tblGrid>
                <a:gridCol w="3476625"/>
                <a:gridCol w="7496175"/>
              </a:tblGrid>
              <a:tr h="619125">
                <a:tc>
                  <a:txBody>
                    <a:bodyPr/>
                    <a:lstStyle/>
                    <a:p>
                      <a:r>
                        <a:rPr sz="1800" b="1">
                          <a:solidFill>
                            <a:srgbClr val="FFFFFF"/>
                          </a:solidFill>
                          <a:latin typeface="Arial"/>
                          <a:ea typeface="Arial"/>
                          <a:cs typeface="Arial"/>
                        </a:rPr>
                        <a:t>Group</a:t>
                      </a:r>
                    </a:p>
                  </a:txBody>
                  <a:tcPr marL="133350" marR="133350" marT="114300" marB="114300" anchor="ctr">
                    <a:solidFill>
                      <a:srgbClr val="102C32"/>
                    </a:solidFill>
                  </a:tcPr>
                </a:tc>
                <a:tc>
                  <a:txBody>
                    <a:bodyPr/>
                    <a:lstStyle/>
                    <a:p>
                      <a:r>
                        <a:rPr sz="1800" b="1">
                          <a:solidFill>
                            <a:srgbClr val="FFFFFF"/>
                          </a:solidFill>
                          <a:latin typeface="Arial"/>
                          <a:ea typeface="Arial"/>
                          <a:cs typeface="Arial"/>
                        </a:rPr>
                        <a:t>Candidate predictors</a:t>
                      </a:r>
                    </a:p>
                  </a:txBody>
                  <a:tcPr marL="133350" marR="133350" marT="114300" marB="114300" anchor="ctr">
                    <a:solidFill>
                      <a:srgbClr val="102C32"/>
                    </a:solidFill>
                  </a:tcPr>
                </a:tc>
              </a:tr>
              <a:tr h="619125">
                <a:tc>
                  <a:txBody>
                    <a:bodyPr/>
                    <a:lstStyle/>
                    <a:p>
                      <a:r>
                        <a:rPr sz="1800">
                          <a:solidFill>
                            <a:srgbClr val="102C32"/>
                          </a:solidFill>
                          <a:latin typeface="Arial"/>
                          <a:ea typeface="Arial"/>
                          <a:cs typeface="Arial"/>
                        </a:rPr>
                        <a:t>Demographics and area</a:t>
                      </a:r>
                    </a:p>
                  </a:txBody>
                  <a:tcPr marL="133350" marR="133350" marT="114300" marB="114300" anchor="ctr">
                    <a:solidFill>
                      <a:srgbClr val="EFF5F2"/>
                    </a:solidFill>
                  </a:tcPr>
                </a:tc>
                <a:tc>
                  <a:txBody>
                    <a:bodyPr/>
                    <a:lstStyle/>
                    <a:p>
                      <a:r>
                        <a:rPr sz="1800">
                          <a:solidFill>
                            <a:srgbClr val="102C32"/>
                          </a:solidFill>
                          <a:latin typeface="Arial"/>
                          <a:ea typeface="Arial"/>
                          <a:cs typeface="Arial"/>
                        </a:rPr>
                        <a:t>Age, gender, city type</a:t>
                      </a:r>
                    </a:p>
                  </a:txBody>
                  <a:tcPr marL="133350" marR="133350" marT="114300" marB="114300" anchor="ctr">
                    <a:solidFill>
                      <a:srgbClr val="EFF5F2"/>
                    </a:solidFill>
                  </a:tcPr>
                </a:tc>
              </a:tr>
              <a:tr h="619125">
                <a:tc>
                  <a:txBody>
                    <a:bodyPr/>
                    <a:lstStyle/>
                    <a:p>
                      <a:r>
                        <a:rPr sz="1800">
                          <a:solidFill>
                            <a:srgbClr val="102C32"/>
                          </a:solidFill>
                          <a:latin typeface="Arial"/>
                          <a:ea typeface="Arial"/>
                          <a:cs typeface="Arial"/>
                        </a:rPr>
                        <a:t>Finance</a:t>
                      </a:r>
                    </a:p>
                  </a:txBody>
                  <a:tcPr marL="133350" marR="133350" marT="114300" marB="114300" anchor="ctr">
                    <a:solidFill>
                      <a:srgbClr val="FFFFFF"/>
                    </a:solidFill>
                  </a:tcPr>
                </a:tc>
                <a:tc>
                  <a:txBody>
                    <a:bodyPr/>
                    <a:lstStyle/>
                    <a:p>
                      <a:r>
                        <a:rPr sz="1800">
                          <a:solidFill>
                            <a:srgbClr val="102C32"/>
                          </a:solidFill>
                          <a:latin typeface="Arial"/>
                          <a:ea typeface="Arial"/>
                          <a:cs typeface="Arial"/>
                        </a:rPr>
                        <a:t>Annual income, subsidy availability</a:t>
                      </a:r>
                    </a:p>
                  </a:txBody>
                  <a:tcPr marL="133350" marR="133350" marT="114300" marB="114300" anchor="ctr">
                    <a:solidFill>
                      <a:srgbClr val="FFFFFF"/>
                    </a:solidFill>
                  </a:tcPr>
                </a:tc>
              </a:tr>
              <a:tr h="619125">
                <a:tc>
                  <a:txBody>
                    <a:bodyPr/>
                    <a:lstStyle/>
                    <a:p>
                      <a:r>
                        <a:rPr sz="1800">
                          <a:solidFill>
                            <a:srgbClr val="102C32"/>
                          </a:solidFill>
                          <a:latin typeface="Arial"/>
                          <a:ea typeface="Arial"/>
                          <a:cs typeface="Arial"/>
                        </a:rPr>
                        <a:t>Transportation</a:t>
                      </a:r>
                    </a:p>
                  </a:txBody>
                  <a:tcPr marL="133350" marR="133350" marT="114300" marB="114300" anchor="ctr">
                    <a:solidFill>
                      <a:srgbClr val="EFF5F2"/>
                    </a:solidFill>
                  </a:tcPr>
                </a:tc>
                <a:tc>
                  <a:txBody>
                    <a:bodyPr/>
                    <a:lstStyle/>
                    <a:p>
                      <a:r>
                        <a:rPr sz="1800">
                          <a:solidFill>
                            <a:srgbClr val="102C32"/>
                          </a:solidFill>
                          <a:latin typeface="Arial"/>
                          <a:ea typeface="Arial"/>
                          <a:cs typeface="Arial"/>
                        </a:rPr>
                        <a:t>Daily commute, cars owned, current car type</a:t>
                      </a:r>
                    </a:p>
                  </a:txBody>
                  <a:tcPr marL="133350" marR="133350" marT="114300" marB="114300" anchor="ctr">
                    <a:solidFill>
                      <a:srgbClr val="EFF5F2"/>
                    </a:solidFill>
                  </a:tcPr>
                </a:tc>
              </a:tr>
              <a:tr h="619125">
                <a:tc>
                  <a:txBody>
                    <a:bodyPr/>
                    <a:lstStyle/>
                    <a:p>
                      <a:r>
                        <a:rPr sz="1800">
                          <a:solidFill>
                            <a:srgbClr val="102C32"/>
                          </a:solidFill>
                          <a:latin typeface="Arial"/>
                          <a:ea typeface="Arial"/>
                          <a:cs typeface="Arial"/>
                        </a:rPr>
                        <a:t>Charging access</a:t>
                      </a:r>
                    </a:p>
                  </a:txBody>
                  <a:tcPr marL="133350" marR="133350" marT="114300" marB="114300" anchor="ctr">
                    <a:solidFill>
                      <a:srgbClr val="FFFFFF"/>
                    </a:solidFill>
                  </a:tcPr>
                </a:tc>
                <a:tc>
                  <a:txBody>
                    <a:bodyPr/>
                    <a:lstStyle/>
                    <a:p>
                      <a:r>
                        <a:rPr sz="1800">
                          <a:solidFill>
                            <a:srgbClr val="102C32"/>
                          </a:solidFill>
                          <a:latin typeface="Arial"/>
                          <a:ea typeface="Arial"/>
                          <a:cs typeface="Arial"/>
                        </a:rPr>
                        <a:t>Stations near home, stations near work, home charging</a:t>
                      </a:r>
                    </a:p>
                  </a:txBody>
                  <a:tcPr marL="133350" marR="133350" marT="114300" marB="114300" anchor="ctr">
                    <a:solidFill>
                      <a:srgbClr val="FFFFFF"/>
                    </a:solidFill>
                  </a:tcPr>
                </a:tc>
              </a:tr>
              <a:tr h="619125">
                <a:tc>
                  <a:txBody>
                    <a:bodyPr/>
                    <a:lstStyle/>
                    <a:p>
                      <a:r>
                        <a:rPr sz="1800">
                          <a:solidFill>
                            <a:srgbClr val="102C32"/>
                          </a:solidFill>
                          <a:latin typeface="Arial"/>
                          <a:ea typeface="Arial"/>
                          <a:cs typeface="Arial"/>
                        </a:rPr>
                        <a:t>Attitudes</a:t>
                      </a:r>
                    </a:p>
                  </a:txBody>
                  <a:tcPr marL="133350" marR="133350" marT="114300" marB="114300" anchor="ctr">
                    <a:solidFill>
                      <a:srgbClr val="EFF5F2"/>
                    </a:solidFill>
                  </a:tcPr>
                </a:tc>
                <a:tc>
                  <a:txBody>
                    <a:bodyPr/>
                    <a:lstStyle/>
                    <a:p>
                      <a:r>
                        <a:rPr sz="1800">
                          <a:solidFill>
                            <a:srgbClr val="102C32"/>
                          </a:solidFill>
                          <a:latin typeface="Arial"/>
                          <a:ea typeface="Arial"/>
                          <a:cs typeface="Arial"/>
                        </a:rPr>
                        <a:t>Environmental concern code, range anxiety</a:t>
                      </a:r>
                    </a:p>
                  </a:txBody>
                  <a:tcPr marL="133350" marR="133350" marT="114300" marB="114300" anchor="ctr">
                    <a:solidFill>
                      <a:srgbClr val="EFF5F2"/>
                    </a:solidFill>
                  </a:tcPr>
                </a:tc>
              </a:tr>
            </a:tbl>
          </a:graphicData>
        </a:graphic>
      </p:graphicFrame>
      <p:sp>
        <p:nvSpPr>
          <p:cNvPr id="5" name="Environmental concern uses codes 1–5. Survey ">
            <a:extLst xmlns:a="http://schemas.openxmlformats.org/drawingml/2006/main">
              <a:ext uri="{FF2B5EF4-FFF2-40B4-BE49-F238E27FC236}">
                <a16:creationId xmlns:a16="http://schemas.microsoft.com/office/drawing/2014/main" id="{A5C591BD-35B8-4776-988F-A7104E976FED}"/>
              </a:ext>
            </a:extLst>
          </p:cNvPr>
          <p:cNvSpPr>
            <a:spLocks xmlns:a="http://schemas.openxmlformats.org/drawingml/2006/main" noGrp="1"/>
          </p:cNvSpPr>
          <p:nvPr/>
        </p:nvSpPr>
        <p:spPr>
          <a:xfrm xmlns:a="http://schemas.openxmlformats.org/drawingml/2006/main">
            <a:off x="609600" y="5505450"/>
            <a:ext cx="108775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C32"/>
                </a:solidFill>
                <a:latin typeface="Arial"/>
                <a:ea typeface="Arial"/>
                <a:cs typeface="Arial"/>
              </a:defRPr>
            </a:pPr>
            <a:r>
              <a:rPr sz="1800" b="0">
                <a:solidFill>
                  <a:srgbClr val="102C32"/>
                </a:solidFill>
                <a:latin typeface="Arial"/>
                <a:ea typeface="Arial"/>
                <a:cs typeface="Arial"/>
              </a:rPr>
              <a:t>Environmental concern uses codes 1–5. Survey anchors and direction remain unclear.</a:t>
            </a:r>
          </a:p>
          <a:p xmlns:a="http://schemas.openxmlformats.org/drawingml/2006/main">
            <a:pPr algn="l">
              <a:defRPr sz="1800" b="0">
                <a:solidFill>
                  <a:srgbClr val="102C32"/>
                </a:solidFill>
                <a:latin typeface="Arial"/>
                <a:ea typeface="Arial"/>
                <a:cs typeface="Arial"/>
              </a:defRPr>
            </a:pPr>
            <a:r>
              <a:rPr sz="1800" b="0">
                <a:solidFill>
                  <a:srgbClr val="102C32"/>
                </a:solidFill>
                <a:latin typeface="Arial"/>
                <a:ea typeface="Arial"/>
                <a:cs typeface="Arial"/>
              </a:rPr>
              <a:t>Charging radius and the outcome timeframe also remain undocumented.</a:t>
            </a:r>
          </a:p>
        </p:txBody>
      </p:sp>
    </p:spTree>
    <p:extLst>
      <p:ext uri="{BB962C8B-B14F-4D97-AF65-F5344CB8AC3E}">
        <p14:creationId xmlns:p14="http://schemas.microsoft.com/office/powerpoint/2010/main" val="17869924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ackup: ranking metric definitions">
            <a:extLst xmlns:a="http://schemas.openxmlformats.org/drawingml/2006/main">
              <a:ext uri="{FF2B5EF4-FFF2-40B4-BE49-F238E27FC236}">
                <a16:creationId xmlns:a16="http://schemas.microsoft.com/office/drawing/2014/main" id="{195FCDCC-412E-4046-A7FF-E2E5BB403A4D}"/>
              </a:ext>
            </a:extLst>
          </p:cNvPr>
          <p:cNvSpPr>
            <a:spLocks xmlns:a="http://schemas.openxmlformats.org/drawingml/2006/main" noGrp="1"/>
          </p:cNvSpPr>
          <p:nvPr/>
        </p:nvSpPr>
        <p:spPr>
          <a:xfrm xmlns:a="http://schemas.openxmlformats.org/drawingml/2006/main">
            <a:off x="609600" y="457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02C32"/>
                </a:solidFill>
                <a:latin typeface="Arial"/>
                <a:ea typeface="Arial"/>
                <a:cs typeface="Arial"/>
              </a:defRPr>
            </a:pPr>
            <a:r>
              <a:rPr sz="3300" b="1">
                <a:solidFill>
                  <a:srgbClr val="102C32"/>
                </a:solidFill>
                <a:latin typeface="Arial"/>
                <a:ea typeface="Arial"/>
                <a:cs typeface="Arial"/>
              </a:rPr>
              <a:t>Backup: ranking metric definitions</a:t>
            </a:r>
          </a:p>
        </p:txBody>
      </p:sp>
      <p:sp>
        <p:nvSpPr>
          <p:cNvPr id="2" name="MSBA265  /  Backup">
            <a:extLst xmlns:a="http://schemas.openxmlformats.org/drawingml/2006/main">
              <a:ext uri="{FF2B5EF4-FFF2-40B4-BE49-F238E27FC236}">
                <a16:creationId xmlns:a16="http://schemas.microsoft.com/office/drawing/2014/main" id="{2BB7BF09-BC0C-4556-9DF4-0DFB912E7666}"/>
              </a:ext>
            </a:extLst>
          </p:cNvPr>
          <p:cNvSpPr>
            <a:spLocks xmlns:a="http://schemas.openxmlformats.org/drawingml/2006/main" noGrp="1"/>
          </p:cNvSpPr>
          <p:nvPr/>
        </p:nvSpPr>
        <p:spPr>
          <a:xfrm xmlns:a="http://schemas.openxmlformats.org/drawingml/2006/main">
            <a:off x="609600" y="643890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96168"/>
                </a:solidFill>
                <a:latin typeface="Arial"/>
                <a:ea typeface="Arial"/>
                <a:cs typeface="Arial"/>
              </a:defRPr>
            </a:pPr>
            <a:r>
              <a:rPr sz="1275" b="0">
                <a:solidFill>
                  <a:srgbClr val="496168"/>
                </a:solidFill>
                <a:latin typeface="Arial"/>
                <a:ea typeface="Arial"/>
                <a:cs typeface="Arial"/>
              </a:rPr>
              <a:t>MSBA265  /  Backup</a:t>
            </a:r>
          </a:p>
        </p:txBody>
      </p:sp>
      <p:sp>
        <p:nvSpPr>
          <p:cNvPr id="3" name="11">
            <a:extLst xmlns:a="http://schemas.openxmlformats.org/drawingml/2006/main">
              <a:ext uri="{FF2B5EF4-FFF2-40B4-BE49-F238E27FC236}">
                <a16:creationId xmlns:a16="http://schemas.microsoft.com/office/drawing/2014/main" id="{37AE8328-31AC-44AC-BB96-61377EA0C4E9}"/>
              </a:ext>
            </a:extLst>
          </p:cNvPr>
          <p:cNvSpPr>
            <a:spLocks xmlns:a="http://schemas.openxmlformats.org/drawingml/2006/main" noGrp="1"/>
          </p:cNvSpPr>
          <p:nvPr/>
        </p:nvSpPr>
        <p:spPr>
          <a:xfrm xmlns:a="http://schemas.openxmlformats.org/drawingml/2006/main">
            <a:off x="1095375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96168"/>
                </a:solidFill>
                <a:latin typeface="Arial"/>
                <a:ea typeface="Arial"/>
                <a:cs typeface="Arial"/>
              </a:defRPr>
            </a:pPr>
            <a:r>
              <a:rPr sz="1350" b="0">
                <a:solidFill>
                  <a:srgbClr val="496168"/>
                </a:solidFill>
                <a:latin typeface="Arial"/>
                <a:ea typeface="Arial"/>
                <a:cs typeface="Arial"/>
              </a:rPr>
              <a:t>11</a:t>
            </a:r>
          </a:p>
        </p:txBody>
      </p:sp>
      <p:sp>
        <p:nvSpPr>
          <p:cNvPr id="4" name="K is the number of profiles the manager can c">
            <a:extLst xmlns:a="http://schemas.openxmlformats.org/drawingml/2006/main">
              <a:ext uri="{FF2B5EF4-FFF2-40B4-BE49-F238E27FC236}">
                <a16:creationId xmlns:a16="http://schemas.microsoft.com/office/drawing/2014/main" id="{ABE29568-F1E6-4C00-BCD6-1D884BB46682}"/>
              </a:ext>
            </a:extLst>
          </p:cNvPr>
          <p:cNvSpPr>
            <a:spLocks xmlns:a="http://schemas.openxmlformats.org/drawingml/2006/main" noGrp="1"/>
          </p:cNvSpPr>
          <p:nvPr/>
        </p:nvSpPr>
        <p:spPr>
          <a:xfrm xmlns:a="http://schemas.openxmlformats.org/drawingml/2006/main">
            <a:off x="609600" y="136207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866C"/>
                </a:solidFill>
                <a:latin typeface="Arial"/>
                <a:ea typeface="Arial"/>
                <a:cs typeface="Arial"/>
              </a:defRPr>
            </a:pPr>
            <a:r>
              <a:rPr sz="2175" b="1">
                <a:solidFill>
                  <a:srgbClr val="15866C"/>
                </a:solidFill>
                <a:latin typeface="Arial"/>
                <a:ea typeface="Arial"/>
                <a:cs typeface="Arial"/>
              </a:rPr>
              <a:t>K is the number of profiles the manager can contact.</a:t>
            </a:r>
          </a:p>
        </p:txBody>
      </p:sp>
      <p:graphicFrame>
        <p:nvGraphicFramePr>
          <p:cNvPr id="12" name=""/>
          <p:cNvGraphicFramePr/>
          <p:nvPr/>
        </p:nvGraphicFramePr>
        <p:xfrm>
          <a:off xmlns:a="http://schemas.openxmlformats.org/drawingml/2006/main" x="609600" y="2085975"/>
          <a:ext xmlns:a="http://schemas.openxmlformats.org/drawingml/2006/main" cx="10972800" cy="2743200"/>
        </p:xfrm>
        <a:graphic xmlns:a="http://schemas.openxmlformats.org/drawingml/2006/main">
          <a:graphicData uri="http://schemas.openxmlformats.org/drawingml/2006/table">
            <a:tbl>
              <a:tblPr firstRow="1" bandRow="0"/>
              <a:tblGrid>
                <a:gridCol w="3143250"/>
                <a:gridCol w="7829550"/>
              </a:tblGrid>
              <a:tr h="685800">
                <a:tc>
                  <a:txBody>
                    <a:bodyPr/>
                    <a:lstStyle/>
                    <a:p>
                      <a:r>
                        <a:rPr sz="1875" b="1">
                          <a:solidFill>
                            <a:srgbClr val="FFFFFF"/>
                          </a:solidFill>
                          <a:latin typeface="Arial"/>
                          <a:ea typeface="Arial"/>
                          <a:cs typeface="Arial"/>
                        </a:rPr>
                        <a:t>Metric</a:t>
                      </a:r>
                    </a:p>
                  </a:txBody>
                  <a:tcPr marL="133350" marR="133350" marT="114300" marB="114300" anchor="ctr">
                    <a:solidFill>
                      <a:srgbClr val="102C32"/>
                    </a:solidFill>
                  </a:tcPr>
                </a:tc>
                <a:tc>
                  <a:txBody>
                    <a:bodyPr/>
                    <a:lstStyle/>
                    <a:p>
                      <a:r>
                        <a:rPr sz="1875" b="1">
                          <a:solidFill>
                            <a:srgbClr val="FFFFFF"/>
                          </a:solidFill>
                          <a:latin typeface="Arial"/>
                          <a:ea typeface="Arial"/>
                          <a:cs typeface="Arial"/>
                        </a:rPr>
                        <a:t>Definition</a:t>
                      </a:r>
                    </a:p>
                  </a:txBody>
                  <a:tcPr marL="133350" marR="133350" marT="114300" marB="114300" anchor="ctr">
                    <a:solidFill>
                      <a:srgbClr val="102C32"/>
                    </a:solidFill>
                  </a:tcPr>
                </a:tc>
              </a:tr>
              <a:tr h="685800">
                <a:tc>
                  <a:txBody>
                    <a:bodyPr/>
                    <a:lstStyle/>
                    <a:p>
                      <a:r>
                        <a:rPr sz="1875">
                          <a:solidFill>
                            <a:srgbClr val="102C32"/>
                          </a:solidFill>
                          <a:latin typeface="Arial"/>
                          <a:ea typeface="Arial"/>
                          <a:cs typeface="Arial"/>
                        </a:rPr>
                        <a:t>Precision@K</a:t>
                      </a:r>
                    </a:p>
                  </a:txBody>
                  <a:tcPr marL="133350" marR="133350" marT="114300" marB="114300" anchor="ctr">
                    <a:solidFill>
                      <a:srgbClr val="EFF5F2"/>
                    </a:solidFill>
                  </a:tcPr>
                </a:tc>
                <a:tc>
                  <a:txBody>
                    <a:bodyPr/>
                    <a:lstStyle/>
                    <a:p>
                      <a:r>
                        <a:rPr sz="1875">
                          <a:solidFill>
                            <a:srgbClr val="102C32"/>
                          </a:solidFill>
                          <a:latin typeface="Arial"/>
                          <a:ea typeface="Arial"/>
                          <a:cs typeface="Arial"/>
                        </a:rPr>
                        <a:t>Yes labels among the top K / K</a:t>
                      </a:r>
                    </a:p>
                  </a:txBody>
                  <a:tcPr marL="133350" marR="133350" marT="114300" marB="114300" anchor="ctr">
                    <a:solidFill>
                      <a:srgbClr val="EFF5F2"/>
                    </a:solidFill>
                  </a:tcPr>
                </a:tc>
              </a:tr>
              <a:tr h="685800">
                <a:tc>
                  <a:txBody>
                    <a:bodyPr/>
                    <a:lstStyle/>
                    <a:p>
                      <a:r>
                        <a:rPr sz="1875">
                          <a:solidFill>
                            <a:srgbClr val="102C32"/>
                          </a:solidFill>
                          <a:latin typeface="Arial"/>
                          <a:ea typeface="Arial"/>
                          <a:cs typeface="Arial"/>
                        </a:rPr>
                        <a:t>Recall@K</a:t>
                      </a:r>
                    </a:p>
                  </a:txBody>
                  <a:tcPr marL="133350" marR="133350" marT="114300" marB="114300" anchor="ctr">
                    <a:solidFill>
                      <a:srgbClr val="FFFFFF"/>
                    </a:solidFill>
                  </a:tcPr>
                </a:tc>
                <a:tc>
                  <a:txBody>
                    <a:bodyPr/>
                    <a:lstStyle/>
                    <a:p>
                      <a:r>
                        <a:rPr sz="1875">
                          <a:solidFill>
                            <a:srgbClr val="102C32"/>
                          </a:solidFill>
                          <a:latin typeface="Arial"/>
                          <a:ea typeface="Arial"/>
                          <a:cs typeface="Arial"/>
                        </a:rPr>
                        <a:t>Yes labels among the top K / all Yes labels in evaluation</a:t>
                      </a:r>
                    </a:p>
                  </a:txBody>
                  <a:tcPr marL="133350" marR="133350" marT="114300" marB="114300" anchor="ctr">
                    <a:solidFill>
                      <a:srgbClr val="FFFFFF"/>
                    </a:solidFill>
                  </a:tcPr>
                </a:tc>
              </a:tr>
              <a:tr h="685800">
                <a:tc>
                  <a:txBody>
                    <a:bodyPr/>
                    <a:lstStyle/>
                    <a:p>
                      <a:r>
                        <a:rPr sz="1875">
                          <a:solidFill>
                            <a:srgbClr val="102C32"/>
                          </a:solidFill>
                          <a:latin typeface="Arial"/>
                          <a:ea typeface="Arial"/>
                          <a:cs typeface="Arial"/>
                        </a:rPr>
                        <a:t>Lift@K</a:t>
                      </a:r>
                    </a:p>
                  </a:txBody>
                  <a:tcPr marL="133350" marR="133350" marT="114300" marB="114300" anchor="ctr">
                    <a:solidFill>
                      <a:srgbClr val="EFF5F2"/>
                    </a:solidFill>
                  </a:tcPr>
                </a:tc>
                <a:tc>
                  <a:txBody>
                    <a:bodyPr/>
                    <a:lstStyle/>
                    <a:p>
                      <a:r>
                        <a:rPr sz="1875">
                          <a:solidFill>
                            <a:srgbClr val="102C32"/>
                          </a:solidFill>
                          <a:latin typeface="Arial"/>
                          <a:ea typeface="Arial"/>
                          <a:cs typeface="Arial"/>
                        </a:rPr>
                        <a:t>Precision@K / evaluation-set Yes rate</a:t>
                      </a:r>
                    </a:p>
                  </a:txBody>
                  <a:tcPr marL="133350" marR="133350" marT="114300" marB="114300" anchor="ctr">
                    <a:solidFill>
                      <a:srgbClr val="EFF5F2"/>
                    </a:solidFill>
                  </a:tcPr>
                </a:tc>
              </a:tr>
            </a:tbl>
          </a:graphicData>
        </a:graphic>
      </p:graphicFrame>
      <p:sp>
        <p:nvSpPr>
          <p:cNvPr id="6" name="Comparison rule">
            <a:extLst xmlns:a="http://schemas.openxmlformats.org/drawingml/2006/main">
              <a:ext uri="{FF2B5EF4-FFF2-40B4-BE49-F238E27FC236}">
                <a16:creationId xmlns:a16="http://schemas.microsoft.com/office/drawing/2014/main" id="{B8949BFF-F245-44E4-A9DF-1AB1B58B9FB0}"/>
              </a:ext>
            </a:extLst>
          </p:cNvPr>
          <p:cNvSpPr>
            <a:spLocks xmlns:a="http://schemas.openxmlformats.org/drawingml/2006/main" noGrp="1"/>
          </p:cNvSpPr>
          <p:nvPr/>
        </p:nvSpPr>
        <p:spPr>
          <a:xfrm xmlns:a="http://schemas.openxmlformats.org/drawingml/2006/main">
            <a:off x="609600" y="52768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C32"/>
                </a:solidFill>
                <a:latin typeface="Arial"/>
                <a:ea typeface="Arial"/>
                <a:cs typeface="Arial"/>
              </a:defRPr>
            </a:pPr>
            <a:r>
              <a:rPr sz="2175" b="1">
                <a:solidFill>
                  <a:srgbClr val="102C32"/>
                </a:solidFill>
                <a:latin typeface="Arial"/>
                <a:ea typeface="Arial"/>
                <a:cs typeface="Arial"/>
              </a:rPr>
              <a:t>Comparison rule</a:t>
            </a:r>
          </a:p>
        </p:txBody>
      </p:sp>
      <p:sp>
        <p:nvSpPr>
          <p:cNvPr id="7" name="Use the same evaluation sample and contact ca">
            <a:extLst xmlns:a="http://schemas.openxmlformats.org/drawingml/2006/main">
              <a:ext uri="{FF2B5EF4-FFF2-40B4-BE49-F238E27FC236}">
                <a16:creationId xmlns:a16="http://schemas.microsoft.com/office/drawing/2014/main" id="{2624C268-28F6-4916-AD8A-4DA3D9C398C0}"/>
              </a:ext>
            </a:extLst>
          </p:cNvPr>
          <p:cNvSpPr>
            <a:spLocks xmlns:a="http://schemas.openxmlformats.org/drawingml/2006/main" noGrp="1"/>
          </p:cNvSpPr>
          <p:nvPr/>
        </p:nvSpPr>
        <p:spPr>
          <a:xfrm xmlns:a="http://schemas.openxmlformats.org/drawingml/2006/main">
            <a:off x="609600" y="5781675"/>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C32"/>
                </a:solidFill>
                <a:latin typeface="Arial"/>
                <a:ea typeface="Arial"/>
                <a:cs typeface="Arial"/>
              </a:defRPr>
            </a:pPr>
            <a:r>
              <a:rPr sz="1800" b="0">
                <a:solidFill>
                  <a:srgbClr val="102C32"/>
                </a:solidFill>
                <a:latin typeface="Arial"/>
                <a:ea typeface="Arial"/>
                <a:cs typeface="Arial"/>
              </a:rPr>
              <a:t>Use the same evaluation sample and contact capacity for every model.</a:t>
            </a:r>
          </a:p>
          <a:p xmlns:a="http://schemas.openxmlformats.org/drawingml/2006/main">
            <a:pPr algn="l">
              <a:defRPr sz="1800" b="0">
                <a:solidFill>
                  <a:srgbClr val="102C32"/>
                </a:solidFill>
                <a:latin typeface="Arial"/>
                <a:ea typeface="Arial"/>
                <a:cs typeface="Arial"/>
              </a:defRPr>
            </a:pPr>
            <a:r>
              <a:rPr sz="1800" b="0">
                <a:solidFill>
                  <a:srgbClr val="102C32"/>
                </a:solidFill>
                <a:latin typeface="Arial"/>
                <a:ea typeface="Arial"/>
                <a:cs typeface="Arial"/>
              </a:rPr>
              <a:t>Random selection has expected lift of 1.0. Model results remain pending.</a:t>
            </a:r>
          </a:p>
        </p:txBody>
      </p:sp>
    </p:spTree>
    <p:extLst>
      <p:ext uri="{BB962C8B-B14F-4D97-AF65-F5344CB8AC3E}">
        <p14:creationId xmlns:p14="http://schemas.microsoft.com/office/powerpoint/2010/main" val="1737055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2026-10-11T00:02:42.3110000Z</dcterms:created>
  <dcterms:modified xsi:type="dcterms:W3CDTF">2026-10-11T00:02:42.3110000Z</dcterms:modified>
</coreProperties>
</file>