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e25fe87c2fe4527" /><Relationship Type="http://schemas.openxmlformats.org/officeDocument/2006/relationships/extended-properties" Target="/docProps/app.xml" Id="Rf3cd3ea5d39248c4" /><Relationship Type="http://schemas.openxmlformats.org/officeDocument/2006/relationships/officeDocument" Target="/ppt/presentation.xml" Id="Raa367d445e834fad" /></Relationships>
</file>

<file path=ppt/presentation.xml><?xml version="1.0" encoding="utf-8"?>
<p:presentation xmlns:p="http://schemas.openxmlformats.org/presentationml/2006/main">
  <p:sldMasterIdLst>
    <p:sldMasterId xmlns:r="http://schemas.openxmlformats.org/officeDocument/2006/relationships" id="2147483648" r:id="Rdb70e4f1775b4cad"/>
  </p:sldMasterIdLst>
  <p:notesMasterIdLst>
    <p:notesMasterId xmlns:r="http://schemas.openxmlformats.org/officeDocument/2006/relationships" r:id="R5335a68a199b4958"/>
  </p:notesMasterIdLst>
  <p:sldIdLst>
    <p:sldId xmlns:r="http://schemas.openxmlformats.org/officeDocument/2006/relationships" id="256" r:id="R9ef0f996b8ea4673"/>
    <p:sldId xmlns:r="http://schemas.openxmlformats.org/officeDocument/2006/relationships" id="257" r:id="R1cee56f7b2f2401e"/>
    <p:sldId xmlns:r="http://schemas.openxmlformats.org/officeDocument/2006/relationships" id="258" r:id="R6eae6b422bcb4de9"/>
    <p:sldId xmlns:r="http://schemas.openxmlformats.org/officeDocument/2006/relationships" id="259" r:id="R2b1ae0eeae754982"/>
    <p:sldId xmlns:r="http://schemas.openxmlformats.org/officeDocument/2006/relationships" id="260" r:id="R0f5f438dfbb9490f"/>
    <p:sldId xmlns:r="http://schemas.openxmlformats.org/officeDocument/2006/relationships" id="261" r:id="R00df7edbb8904aa9"/>
    <p:sldId xmlns:r="http://schemas.openxmlformats.org/officeDocument/2006/relationships" id="262" r:id="Rba4d6c2e25104712"/>
    <p:sldId xmlns:r="http://schemas.openxmlformats.org/officeDocument/2006/relationships" id="263" r:id="R702fd5c7bba44d92"/>
    <p:sldId xmlns:r="http://schemas.openxmlformats.org/officeDocument/2006/relationships" id="264" r:id="R2916523ec99d4755"/>
    <p:sldId xmlns:r="http://schemas.openxmlformats.org/officeDocument/2006/relationships" id="265" r:id="Reb6de26eb68742ae"/>
    <p:sldId xmlns:r="http://schemas.openxmlformats.org/officeDocument/2006/relationships" id="266" r:id="R6c221c32c5ad4f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a4a6068f42445e" /><Relationship Type="http://schemas.openxmlformats.org/officeDocument/2006/relationships/slideMaster" Target="/ppt/slideMasters/slideMaster1.xml" Id="Rdb70e4f1775b4cad" /><Relationship Type="http://schemas.openxmlformats.org/officeDocument/2006/relationships/notesMaster" Target="/ppt/notesMasters/notesMaster1.xml" Id="R5335a68a199b4958" /><Relationship Type="http://schemas.openxmlformats.org/officeDocument/2006/relationships/presProps" Target="/ppt/presProps.xml" Id="Rf54a9dc23e104251" /><Relationship Type="http://schemas.openxmlformats.org/officeDocument/2006/relationships/tableStyles" Target="/ppt/tableStyles.xml" Id="R90f82f763e004c1b" /><Relationship Type="http://schemas.openxmlformats.org/officeDocument/2006/relationships/slide" Target="/ppt/slides/slide1.xml" Id="R9ef0f996b8ea4673" /><Relationship Type="http://schemas.openxmlformats.org/officeDocument/2006/relationships/slide" Target="/ppt/slides/slide2.xml" Id="R1cee56f7b2f2401e" /><Relationship Type="http://schemas.openxmlformats.org/officeDocument/2006/relationships/slide" Target="/ppt/slides/slide3.xml" Id="R6eae6b422bcb4de9" /><Relationship Type="http://schemas.openxmlformats.org/officeDocument/2006/relationships/slide" Target="/ppt/slides/slide4.xml" Id="R2b1ae0eeae754982" /><Relationship Type="http://schemas.openxmlformats.org/officeDocument/2006/relationships/slide" Target="/ppt/slides/slide5.xml" Id="R0f5f438dfbb9490f" /><Relationship Type="http://schemas.openxmlformats.org/officeDocument/2006/relationships/slide" Target="/ppt/slides/slide6.xml" Id="R00df7edbb8904aa9" /><Relationship Type="http://schemas.openxmlformats.org/officeDocument/2006/relationships/slide" Target="/ppt/slides/slide7.xml" Id="Rba4d6c2e25104712" /><Relationship Type="http://schemas.openxmlformats.org/officeDocument/2006/relationships/slide" Target="/ppt/slides/slide8.xml" Id="R702fd5c7bba44d92" /><Relationship Type="http://schemas.openxmlformats.org/officeDocument/2006/relationships/slide" Target="/ppt/slides/slide9.xml" Id="R2916523ec99d4755" /><Relationship Type="http://schemas.openxmlformats.org/officeDocument/2006/relationships/slide" Target="/ppt/slides/slide10.xml" Id="Reb6de26eb68742ae" /><Relationship Type="http://schemas.openxmlformats.org/officeDocument/2006/relationships/slide" Target="/ppt/slides/slide11.xml" Id="R6c221c32c5ad4f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3667d6a2e24b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3d03682e614e0e" /><Relationship Type="http://schemas.openxmlformats.org/officeDocument/2006/relationships/notesMaster" Target="/ppt/notesMasters/notesMaster1.xml" Id="Rcc0be26c62df4a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1c2c20330b4493" /><Relationship Type="http://schemas.openxmlformats.org/officeDocument/2006/relationships/notesMaster" Target="/ppt/notesMasters/notesMaster1.xml" Id="R0580b28b12d141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a23667cc6b41f7" /><Relationship Type="http://schemas.openxmlformats.org/officeDocument/2006/relationships/notesMaster" Target="/ppt/notesMasters/notesMaster1.xml" Id="R56d15b4bc44d45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d7e26c13bc4203" /><Relationship Type="http://schemas.openxmlformats.org/officeDocument/2006/relationships/notesMaster" Target="/ppt/notesMasters/notesMaster1.xml" Id="R32f99691e1c045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c85ec00a0d4336" /><Relationship Type="http://schemas.openxmlformats.org/officeDocument/2006/relationships/notesMaster" Target="/ppt/notesMasters/notesMaster1.xml" Id="R4985ef22957443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ec42bb5248496d" /><Relationship Type="http://schemas.openxmlformats.org/officeDocument/2006/relationships/notesMaster" Target="/ppt/notesMasters/notesMaster1.xml" Id="R34f9bc826c8745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3a556d1e3a486c" /><Relationship Type="http://schemas.openxmlformats.org/officeDocument/2006/relationships/notesMaster" Target="/ppt/notesMasters/notesMaster1.xml" Id="R8db4a02981644f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59cf9085af42b5" /><Relationship Type="http://schemas.openxmlformats.org/officeDocument/2006/relationships/notesMaster" Target="/ppt/notesMasters/notesMaster1.xml" Id="R550ef65aa5ae4f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1a5cf6e9e3455a" /><Relationship Type="http://schemas.openxmlformats.org/officeDocument/2006/relationships/notesMaster" Target="/ppt/notesMasters/notesMaster1.xml" Id="Ra9ed87c7df514d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7a9aa47a5f4a83" /><Relationship Type="http://schemas.openxmlformats.org/officeDocument/2006/relationships/notesMaster" Target="/ppt/notesMasters/notesMaster1.xml" Id="R25ce96490f9248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b8427a62e142a6" /><Relationship Type="http://schemas.openxmlformats.org/officeDocument/2006/relationships/notesMaster" Target="/ppt/notesMasters/notesMaster1.xml" Id="Rdedda4e9ed5d45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helps a manager decide which profiles to review first when contact capacity is limited. It ranks the supplied synthetic profiles and keeps the final decision with the manager. This demonstration shows the working tool, the evaluation evidence and a proposed pilot.</a:t>
            </a:r>
          </a:p>
          <a:p xmlns:a="http://schemas.openxmlformats.org/drawingml/2006/main">
            <a:r>
              <a:t/>
            </a:r>
          </a:p>
          <a:p xmlns:a="http://schemas.openxmlformats.org/drawingml/2006/main">
            <a:r>
              <a:t>Sources</a:t>
            </a:r>
          </a:p>
          <a:p xmlns:a="http://schemas.openxmlformats.org/drawingml/2006/main">
            <a:r>
              <a:t>docs/reports/modeling/holdout_ranking.csv</a:t>
            </a:r>
          </a:p>
          <a:p xmlns:a="http://schemas.openxmlformats.org/drawingml/2006/main">
            <a:r>
              <a:t>app.py</a:t>
            </a:r>
          </a:p>
          <a:p xmlns:a="http://schemas.openxmlformats.org/drawingml/2006/main">
            <a:r>
              <a:t>Cover artwork retained from the original proposal. AI-generated illustrative artwork, not a verified dealership, customer or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Which customers should an EV dealership prioritize for contact when its outreach capacity is limited?</a:t>
            </a:r>
          </a:p>
          <a:p xmlns:a="http://schemas.openxmlformats.org/drawingml/2006/main">
            <a:r>
              <a:t/>
            </a:r>
          </a:p>
          <a:p xmlns:a="http://schemas.openxmlformats.org/drawingml/2006/main">
            <a:r>
              <a:t>The number 50 is an illustration of a manager’s capacity, not an observed outreach result. A manager can change this limit in the tool. The product returns ranked profile IDs and recorded fields so staff can review the shortlist before deciding whether contact is appropriate.</a:t>
            </a:r>
          </a:p>
          <a:p xmlns:a="http://schemas.openxmlformats.org/drawingml/2006/main">
            <a:r>
              <a:t/>
            </a:r>
          </a:p>
          <a:p xmlns:a="http://schemas.openxmlformats.org/drawingml/2006/main">
            <a:r>
              <a:t>Sources</a:t>
            </a:r>
          </a:p>
          <a:p xmlns:a="http://schemas.openxmlformats.org/drawingml/2006/main">
            <a:r>
              <a:t>app.py</a:t>
            </a:r>
          </a:p>
          <a:p xmlns:a="http://schemas.openxmlformats.org/drawingml/2006/main">
            <a:r>
              <a:t>ev_project/scoring.py</a:t>
            </a:r>
          </a:p>
          <a:p xmlns:a="http://schemas.openxmlformats.org/drawingml/2006/main">
            <a:r>
              <a:t>Illustrative business scenario. No measured contact or sales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approved dataset has 668,665 labeled synthetic profiles and 286,571 profiles without labels. Thirteen recorded profile fields support ranking. ID stays outside the model inputs and links the output back to each record. The supplied label is Will_Buy_EV, with Yes and No values. The dataset does not establish actual purchases, the purchase timing, personal preferences or affordability. Recorded demographics are context rather than proof of a customer’s needs.</a:t>
            </a:r>
          </a:p>
          <a:p xmlns:a="http://schemas.openxmlformats.org/drawingml/2006/main">
            <a:r>
              <a:t/>
            </a:r>
          </a:p>
          <a:p xmlns:a="http://schemas.openxmlformats.org/drawingml/2006/main">
            <a:r>
              <a:t>Sources</a:t>
            </a:r>
          </a:p>
          <a:p xmlns:a="http://schemas.openxmlformats.org/drawingml/2006/main">
            <a:r>
              <a:t>https://www.kaggle.com/competitions/playground-series-s6e9</a:t>
            </a:r>
          </a:p>
          <a:p xmlns:a="http://schemas.openxmlformats.org/drawingml/2006/main">
            <a:r>
              <a:t>docs/reports/tables/file_summary.csv</a:t>
            </a:r>
          </a:p>
          <a:p xmlns:a="http://schemas.openxmlformats.org/drawingml/2006/main">
            <a:r>
              <a:t>docs/reports/tables/data_dictionary.csv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Conversation Guide starts after the manager creates a ranked shortlist and selects a customer. It provides an opening, questions about needs, discussion topics, concerns to explore and an optional appointment or test drive. Staff can edit the selected guide. They can download that script as a TXT file or export guides for the current top-K shortlist as a CSV, up to 1,000 profiles per batch. The guide uses recorded commute, charging context, range concerns and the current vehicle. Staff must verify those details. The ranking score stays unchanged and the app does not contact customers.</a:t>
            </a:r>
          </a:p>
          <a:p xmlns:a="http://schemas.openxmlformats.org/drawingml/2006/main">
            <a:r>
              <a:t/>
            </a:r>
          </a:p>
          <a:p xmlns:a="http://schemas.openxmlformats.org/drawingml/2006/main">
            <a:r>
              <a:t>Sources</a:t>
            </a:r>
          </a:p>
          <a:p xmlns:a="http://schemas.openxmlformats.org/drawingml/2006/main">
            <a:r>
              <a:t>app.py</a:t>
            </a:r>
          </a:p>
          <a:p xmlns:a="http://schemas.openxmlformats.org/drawingml/2006/main">
            <a:r>
              <a:t>ev_project/customer_details.py</a:t>
            </a:r>
          </a:p>
          <a:p xmlns:a="http://schemas.openxmlformats.org/drawingml/2006/main">
            <a:r>
              <a:t>ev_project/conversation_guide.py</a:t>
            </a:r>
          </a:p>
          <a:p xmlns:a="http://schemas.openxmlformats.org/drawingml/2006/main">
            <a:r>
              <a:t>Conversation guide implementation and bulk guide export in the updated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app capture shows the Customer Conversation Guide for a synthetic selected profile. Staff can check the recorded context, edit the draft and prepare a suitable conversation. The guide does not invent offers, pricing, savings or subsidy eligibility. Recorded demographic details do not determine the suggested questions. Staff should verify the customer’s situation before using the script. The guide supports preparation and does not establish a purchase outcome.</a:t>
            </a:r>
          </a:p>
          <a:p xmlns:a="http://schemas.openxmlformats.org/drawingml/2006/main">
            <a:r>
              <a:t/>
            </a:r>
          </a:p>
          <a:p xmlns:a="http://schemas.openxmlformats.org/drawingml/2006/main">
            <a:r>
              <a:t>Sources</a:t>
            </a:r>
          </a:p>
          <a:p xmlns:a="http://schemas.openxmlformats.org/drawingml/2006/main">
            <a:r>
              <a:t>app.py</a:t>
            </a:r>
          </a:p>
          <a:p xmlns:a="http://schemas.openxmlformats.org/drawingml/2006/main">
            <a:r>
              <a:t>ev_project/customer_details.py</a:t>
            </a:r>
          </a:p>
          <a:p xmlns:a="http://schemas.openxmlformats.org/drawingml/2006/main">
            <a:r>
              <a:t>ev_project/conversation_guide.py</a:t>
            </a:r>
          </a:p>
          <a:p xmlns:a="http://schemas.openxmlformats.org/drawingml/2006/main">
            <a:r>
              <a:t>Actual updated application screenshot: /Users/nguyenchau/Documents/Codex/2026-10-07/https-www-kaggle-com-competitions-playground/work/conversation_update_oct27/customer_conversation_guide.jpg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ranking selected the top 10,030 of 100,300 held-out synthetic profiles. Of those selected, 78.783649% have a supplied Yes label. The overall evaluation sample has a 17.464606% Yes rate. Their ratio is 4.511046. The chart stores these two rates rounded to twelve decimal places and displays whole percentages. These figures measure the concentration of labels in this evaluation sample. They do not measure contact success, sales conversion or expected revenue. The model selection used a separate validation sample and excluded this holdout from fitting.</a:t>
            </a:r>
          </a:p>
          <a:p xmlns:a="http://schemas.openxmlformats.org/drawingml/2006/main">
            <a:r>
              <a:t/>
            </a:r>
          </a:p>
          <a:p xmlns:a="http://schemas.openxmlformats.org/drawingml/2006/main">
            <a:r>
              <a:t>Sources</a:t>
            </a:r>
          </a:p>
          <a:p xmlns:a="http://schemas.openxmlformats.org/drawingml/2006/main">
            <a:r>
              <a:t>docs/reports/modeling/holdout_ranking.csv</a:t>
            </a:r>
          </a:p>
          <a:p xmlns:a="http://schemas.openxmlformats.org/drawingml/2006/main">
            <a:r>
              <a:t>docs/reports/modeling/holdout_metrics.csv</a:t>
            </a:r>
          </a:p>
          <a:p xmlns:a="http://schemas.openxmlformats.org/drawingml/2006/main">
            <a:r>
              <a:t>docs/reports/modeling/methodology.json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choices use the same 100,300 held-out synthetic profiles. At 1%, 5%, 10% and 20% capacity, the selected counts are 1,003, 5,015, 10,030 and 20,060. The Yes-label shares are 90.129611%, 84.666002%, 78.783649% and 66.186441%. The shares of all Yes profiles captured are 5.160701%, 24.239310%, 45.110464% and 75.794942%. The slide rounds these percentages to whole numbers. A company can choose capacity based on staff time and the cost of review. No outreach outcome is implied.</a:t>
            </a:r>
          </a:p>
          <a:p xmlns:a="http://schemas.openxmlformats.org/drawingml/2006/main">
            <a:r>
              <a:t/>
            </a:r>
          </a:p>
          <a:p xmlns:a="http://schemas.openxmlformats.org/drawingml/2006/main">
            <a:r>
              <a:t>Sources</a:t>
            </a:r>
          </a:p>
          <a:p xmlns:a="http://schemas.openxmlformats.org/drawingml/2006/main">
            <a:r>
              <a:t>docs/reports/modeling/holdout_ranking.csv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uses native editable flowchart symbols and attached directional connectors. The working technical flow includes profile data, checks, learning from the labeled data, evaluation, scoring and a manager’s review. The shortlist and conversation-guide downloads support the handoff for staff review. Staff can edit a selected guide, download its TXT script, or export guides for the current shortlist as CSV. Contacting customers and capturing actual outcomes are planned pilot activities. The dashed return arrow shows that planned feedback would support future data checks and review before updates. Staff should review any updates based on that feedback before wider use.</a:t>
            </a:r>
          </a:p>
          <a:p xmlns:a="http://schemas.openxmlformats.org/drawingml/2006/main">
            <a:r>
              <a:t/>
            </a:r>
          </a:p>
          <a:p xmlns:a="http://schemas.openxmlformats.org/drawingml/2006/main">
            <a:r>
              <a:t>Sources</a:t>
            </a:r>
          </a:p>
          <a:p xmlns:a="http://schemas.openxmlformats.org/drawingml/2006/main">
            <a:r>
              <a:t>ev_project/run_eda.py</a:t>
            </a:r>
          </a:p>
          <a:p xmlns:a="http://schemas.openxmlformats.org/drawingml/2006/main">
            <a:r>
              <a:t>ev_project/modeling.py</a:t>
            </a:r>
          </a:p>
          <a:p xmlns:a="http://schemas.openxmlformats.org/drawingml/2006/main">
            <a:r>
              <a:t>ev_project/scoring.py</a:t>
            </a:r>
          </a:p>
          <a:p xmlns:a="http://schemas.openxmlformats.org/drawingml/2006/main">
            <a:r>
              <a:t>app.py</a:t>
            </a:r>
          </a:p>
          <a:p xmlns:a="http://schemas.openxmlformats.org/drawingml/2006/main">
            <a:r>
              <a:t>docs/reports/modeling/methodology.json</a:t>
            </a:r>
          </a:p>
          <a:p xmlns:a="http://schemas.openxmlformats.org/drawingml/2006/main">
            <a:r>
              <a:t>Planned business pilot. Contact and feedback are not implemented as an operational campaign.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small, reviewed pilot is the proposed next business step. The company should agree the review limit, suitable permissions, a comparison with its current process, the observation period and measures of success before contacting anyone. Staff should confirm the profile information. Real outcomes and subgroup checks are needed before deciding whether the tool should support broader use.</a:t>
            </a:r>
          </a:p>
          <a:p xmlns:a="http://schemas.openxmlformats.org/drawingml/2006/main">
            <a:r>
              <a:t/>
            </a:r>
          </a:p>
          <a:p xmlns:a="http://schemas.openxmlformats.org/drawingml/2006/main">
            <a:r>
              <a:t>Sources</a:t>
            </a:r>
          </a:p>
          <a:p xmlns:a="http://schemas.openxmlformats.org/drawingml/2006/main">
            <a:r>
              <a:t>Project recommendation informed by docs/reports/modeling/holdout_ranking.csv</a:t>
            </a:r>
          </a:p>
          <a:p xmlns:a="http://schemas.openxmlformats.org/drawingml/2006/main">
            <a:r>
              <a:t>No operational pilot, conversion uplift or external validation has yet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Guides are draft conversation support based on recorded profile fields. Staff can edit a selected guide and download its TXT file. A bulk CSV contains guides for the current top-K shortlist, with a maximum of 1,000 profiles per batch. Staff verify facts and approve any contact. The app does not send messages or call customers. Ranking scores stay unchanged. Actual business outcomes still require a reviewed pilot.</a:t>
            </a:r>
          </a:p>
          <a:p xmlns:a="http://schemas.openxmlformats.org/drawingml/2006/main">
            <a:r>
              <a:t/>
            </a:r>
          </a:p>
          <a:p xmlns:a="http://schemas.openxmlformats.org/drawingml/2006/main">
            <a:r>
              <a:t>Sources</a:t>
            </a:r>
          </a:p>
          <a:p xmlns:a="http://schemas.openxmlformats.org/drawingml/2006/main">
            <a:r>
              <a:t>app.py</a:t>
            </a:r>
          </a:p>
          <a:p xmlns:a="http://schemas.openxmlformats.org/drawingml/2006/main">
            <a:r>
              <a:t>ev_project/customer_details.py</a:t>
            </a:r>
          </a:p>
          <a:p xmlns:a="http://schemas.openxmlformats.org/drawingml/2006/main">
            <a:r>
              <a:t>ev_project/conversation_guide.py</a:t>
            </a:r>
          </a:p>
          <a:p xmlns:a="http://schemas.openxmlformats.org/drawingml/2006/main">
            <a:r>
              <a:t>Updated Customer Conversation Guide workflow and export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limitations remain material. The source is synthetic, transaction timing is unverified, and no company outcome study or fairness audit has established suitability for deployment. A separate scoring service, a portable deployment package and monitoring are planned. In the implementation plan these correspond to API integration, Docker packaging and monitoring of input errors, scoring failures and changes in incoming data. These items are planned work, not completed product features.</a:t>
            </a:r>
          </a:p>
          <a:p xmlns:a="http://schemas.openxmlformats.org/drawingml/2006/main">
            <a:r>
              <a:t/>
            </a:r>
          </a:p>
          <a:p xmlns:a="http://schemas.openxmlformats.org/drawingml/2006/main">
            <a:r>
              <a:t>Sources</a:t>
            </a:r>
          </a:p>
          <a:p xmlns:a="http://schemas.openxmlformats.org/drawingml/2006/main">
            <a:r>
              <a:t>docs/reports/tables/data_dictionary.csv</a:t>
            </a:r>
          </a:p>
          <a:p xmlns:a="http://schemas.openxmlformats.org/drawingml/2006/main">
            <a:r>
              <a:t>docs/reports/modeling/methodology.json</a:t>
            </a:r>
          </a:p>
          <a:p xmlns:a="http://schemas.openxmlformats.org/drawingml/2006/main">
            <a:r>
              <a:t>app.py</a:t>
            </a:r>
          </a:p>
          <a:p xmlns:a="http://schemas.openxmlformats.org/drawingml/2006/main">
            <a:r>
              <a:t>Project roadmap: API integration, Docker packaging, monitoring and external validation remain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a26f19435f4d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574c96fae849cf" /><Relationship Type="http://schemas.openxmlformats.org/officeDocument/2006/relationships/slideLayout" Target="/ppt/slideLayouts/slideLayout1.xml" Id="Rfe339c9243324e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339c9243324e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286e9e86f94d19" /><Relationship Type="http://schemas.openxmlformats.org/officeDocument/2006/relationships/image" Target="/ppt/media/image.png" Id="R94c8e05ba8074b4a" /><Relationship Type="http://schemas.openxmlformats.org/officeDocument/2006/relationships/notesSlide" Target="/ppt/notesSlides/notesSlide1.xml" Id="R969dfd4be98242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a3116272444852" /><Relationship Type="http://schemas.openxmlformats.org/officeDocument/2006/relationships/notesSlide" Target="/ppt/notesSlides/notesSlide2.xml" Id="R7f6cc2272a614a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18759077b74f30" /><Relationship Type="http://schemas.openxmlformats.org/officeDocument/2006/relationships/notesSlide" Target="/ppt/notesSlides/notesSlide3.xml" Id="Rdaecbb1be6e84b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2a7e32b7e8435a" /><Relationship Type="http://schemas.openxmlformats.org/officeDocument/2006/relationships/notesSlide" Target="/ppt/notesSlides/notesSlide4.xml" Id="R6728bb2cdcb743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099731006042b6" /><Relationship Type="http://schemas.openxmlformats.org/officeDocument/2006/relationships/image" Target="/ppt/media/conversation-guide-demo.jpeg" Id="R6931e79faa124b6c" /><Relationship Type="http://schemas.openxmlformats.org/officeDocument/2006/relationships/notesSlide" Target="/ppt/notesSlides/notesSlide5.xml" Id="Rc6e16131216c40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78e643340a44bb" /><Relationship Type="http://schemas.openxmlformats.org/officeDocument/2006/relationships/chart" Target="/ppt/slides/charts/chart1.xml" Id="Re226cf20d0734c8c" /><Relationship Type="http://schemas.openxmlformats.org/officeDocument/2006/relationships/notesSlide" Target="/ppt/notesSlides/notesSlide6.xml" Id="R50cb919b0f1744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afcf28692a44e6" /><Relationship Type="http://schemas.openxmlformats.org/officeDocument/2006/relationships/notesSlide" Target="/ppt/notesSlides/notesSlide7.xml" Id="R0ef7c3feb3a348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483e4385824a44" /><Relationship Type="http://schemas.openxmlformats.org/officeDocument/2006/relationships/notesSlide" Target="/ppt/notesSlides/notesSlide8.xml" Id="Re313944b28fd46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f1560442964f70" /><Relationship Type="http://schemas.openxmlformats.org/officeDocument/2006/relationships/notesSlide" Target="/ppt/notesSlides/notesSlide9.xml" Id="R031a82ca11014f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e81948e8c84a1a" /><Relationship Type="http://schemas.openxmlformats.org/officeDocument/2006/relationships/notesSlide" Target="/ppt/notesSlides/notesSlide10.xml" Id="R695f625d6ddf43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55fb4c4bde0450d" /><Relationship Type="http://schemas.openxmlformats.org/officeDocument/2006/relationships/notesSlide" Target="/ppt/notesSlides/notesSlide11.xml" Id="R5153cfb223e044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with a Yes label</c:v>
          </c:tx>
          <c:spPr>
            <a:solidFill xmlns:a="http://schemas.openxmlformats.org/drawingml/2006/main">
              <a:srgbClr val="15866C"/>
            </a:solidFill>
          </c:spPr>
          <c:invertIfNegative val="0"/>
          <c:dPt>
            <c:idx val="0"/>
            <c:invertIfNegative val="0"/>
            <c:spPr>
              <a:solidFill xmlns:a="http://schemas.openxmlformats.org/drawingml/2006/main">
                <a:srgbClr val="81969C"/>
              </a:solidFill>
            </c:spPr>
          </c:dPt>
          <c:dPt>
            <c:idx val="1"/>
            <c:invertIfNegative val="0"/>
            <c:spPr>
              <a:solidFill xmlns:a="http://schemas.openxmlformats.org/drawingml/2006/main">
                <a:srgbClr val="15866C"/>
              </a:solidFill>
            </c:spPr>
          </c:dPt>
          <c:cat>
            <c:strRef>
              <c:f>'Chart Data'!$A$2:$A$3</c:f>
              <c:strCache>
                <c:ptCount val="2"/>
                <c:pt idx="0">
                  <c:v>All evaluation profiles</c:v>
                </c:pt>
                <c:pt idx="1">
                  <c:v>Top 10% of the list</c:v>
                </c:pt>
              </c:strCache>
            </c:strRef>
          </c:cat>
          <c:val>
            <c:numRef>
              <c:f>'Chart Data'!$B$2:$B$3</c:f>
              <c:numCache>
                <c:formatCode>0%</c:formatCode>
                <c:ptCount val="2"/>
                <c:pt idx="0">
                  <c:v>0.174646061815</c:v>
                </c:pt>
                <c:pt idx="1">
                  <c:v>0.787836490528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75" b="1">
                  <a:solidFill>
                    <a:srgbClr val="102C32"/>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DD9"/>
            </a:solidFill>
          </a:ln>
        </c:spPr>
        <c:txPr>
          <a:bodyPr xmlns:a="http://schemas.openxmlformats.org/drawingml/2006/main" anchorCtr="1"/>
          <a:lstStyle xmlns:a="http://schemas.openxmlformats.org/drawingml/2006/main"/>
          <a:p xmlns:a="http://schemas.openxmlformats.org/drawingml/2006/main">
            <a:pPr>
              <a:defRPr sz="1875">
                <a:solidFill>
                  <a:srgbClr val="102C3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EDD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496168"/>
                </a:solidFill>
                <a:latin typeface="Arial"/>
                <a:ea typeface="Arial"/>
                <a:cs typeface="Arial"/>
              </a:defRPr>
            </a:pPr>
          </a:p>
        </c:txPr>
        <c:crossAx val="48650112"/>
        <c:crossBetween val="between"/>
        <c:majorUnit val="0.25"/>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2"/>
        </a:solidFill>
      </p:bgPr>
    </p:bg>
    <p:spTree>
      <p:nvGrpSpPr>
        <p:cNvPr id="1" name=""/>
        <p:cNvGrpSpPr/>
        <p:nvPr/>
      </p:nvGrpSpPr>
      <p:grpSpPr>
        <a:xfrm xmlns:a="http://schemas.openxmlformats.org/drawingml/2006/main"/>
      </p:grpSpPr>
      <p:sp>
        <p:nvSpPr>
          <p:cNvPr id="7" name="MSBA265  /  Final Project Proposal">
            <a:extLst xmlns:a="http://schemas.openxmlformats.org/drawingml/2006/main">
              <a:ext uri="{FF2B5EF4-FFF2-40B4-BE49-F238E27FC236}">
                <a16:creationId xmlns:a16="http://schemas.microsoft.com/office/drawing/2014/main" id="{F2B4ED21-E4C6-449E-A5E7-E011756BFE6C}"/>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9DAD5"/>
                </a:solidFill>
                <a:latin typeface="Arial"/>
                <a:ea typeface="Arial"/>
                <a:cs typeface="Arial"/>
              </a:defRPr>
            </a:pPr>
            <a:r>
              <a:rPr sz="1275" b="0">
                <a:solidFill>
                  <a:srgbClr val="C9DAD5"/>
                </a:solidFill>
                <a:latin typeface="Arial"/>
                <a:ea typeface="Arial"/>
                <a:cs typeface="Arial"/>
              </a:rPr>
              <a:t>EV Customer Prioritization</a:t>
            </a:r>
          </a:p>
        </p:txBody>
      </p:sp>
      <p:sp>
        <p:nvSpPr>
          <p:cNvPr id="2" name="01">
            <a:extLst xmlns:a="http://schemas.openxmlformats.org/drawingml/2006/main">
              <a:ext uri="{FF2B5EF4-FFF2-40B4-BE49-F238E27FC236}">
                <a16:creationId xmlns:a16="http://schemas.microsoft.com/office/drawing/2014/main" id="{0C59BF84-1A55-40F9-9085-E1200071417D}"/>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C9DAD5"/>
                </a:solidFill>
                <a:latin typeface="Arial"/>
                <a:ea typeface="Arial"/>
                <a:cs typeface="Arial"/>
              </a:defRPr>
            </a:pPr>
            <a:r>
              <a:rPr sz="1350" b="0">
                <a:solidFill>
                  <a:srgbClr val="C9DAD5"/>
                </a:solidFill>
                <a:latin typeface="Arial"/>
                <a:ea typeface="Arial"/>
                <a:cs typeface="Arial"/>
              </a:rPr>
              <a:t>01</a:t>
            </a:r>
          </a:p>
        </p:txBody>
      </p:sp>
      <p:pic>
        <p:nvPicPr>
          <p:cNvPr id="9" name="">
            <a:extLst xmlns:a="http://schemas.openxmlformats.org/drawingml/2006/main">
              <a:ext uri="{FF2B5EF4-FFF2-40B4-BE49-F238E27FC236}">
                <a16:creationId xmlns:a16="http://schemas.microsoft.com/office/drawing/2014/main" id="{F7F6CD6A-DB6C-49B2-ABEE-8C195F080131}"/>
              </a:ext>
            </a:extLst>
          </p:cNvPr>
          <p:cNvPicPr>
            <a:picLocks xmlns:a="http://schemas.openxmlformats.org/drawingml/2006/main" noChangeAspect="1"/>
          </p:cNvPicPr>
          <p:nvPr/>
        </p:nvPicPr>
        <p:blipFill>
          <a:blip xmlns:r="http://schemas.openxmlformats.org/officeDocument/2006/relationships" xmlns:a="http://schemas.openxmlformats.org/drawingml/2006/main" r:embed="R94c8e05ba8074b4a"/>
          <a:srcRect xmlns:a="http://schemas.openxmlformats.org/drawingml/2006/main" l="0" t="1498" r="0" b="1498"/>
          <a:stretch xmlns:a="http://schemas.openxmlformats.org/drawingml/2006/main">
            <a:fillRect l="0" t="0" r="0" b="0"/>
          </a:stretch>
        </p:blipFill>
        <p:spPr>
          <a:xfrm xmlns:a="http://schemas.openxmlformats.org/drawingml/2006/main">
            <a:off x="6534150" y="0"/>
            <a:ext cx="5657850" cy="6858000"/>
          </a:xfrm>
          <a:prstGeom xmlns:a="http://schemas.openxmlformats.org/drawingml/2006/main" prst="rect">
            <a:avLst/>
          </a:prstGeom>
        </p:spPr>
      </p:pic>
      <p:sp>
        <p:nvSpPr>
          <p:cNvPr id="4" name="EV Customer&#10;Prioritization">
            <a:extLst xmlns:a="http://schemas.openxmlformats.org/drawingml/2006/main">
              <a:ext uri="{FF2B5EF4-FFF2-40B4-BE49-F238E27FC236}">
                <a16:creationId xmlns:a16="http://schemas.microsoft.com/office/drawing/2014/main" id="{1495A16D-B1D7-4876-9F0C-8BBFD2751E3F}"/>
              </a:ext>
            </a:extLst>
          </p:cNvPr>
          <p:cNvSpPr>
            <a:spLocks xmlns:a="http://schemas.openxmlformats.org/drawingml/2006/main" noGrp="1"/>
          </p:cNvSpPr>
          <p:nvPr/>
        </p:nvSpPr>
        <p:spPr>
          <a:xfrm xmlns:a="http://schemas.openxmlformats.org/drawingml/2006/main">
            <a:off x="609600" y="1428750"/>
            <a:ext cx="56769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500" b="1">
                <a:solidFill>
                  <a:srgbClr val="FFFFFF"/>
                </a:solidFill>
                <a:latin typeface="Arial"/>
                <a:ea typeface="Arial"/>
                <a:cs typeface="Arial"/>
              </a:defRPr>
            </a:pPr>
            <a:r>
              <a:rPr sz="4500" b="1">
                <a:solidFill>
                  <a:srgbClr val="FFFFFF"/>
                </a:solidFill>
                <a:latin typeface="Arial"/>
                <a:ea typeface="Arial"/>
                <a:cs typeface="Arial"/>
              </a:rPr>
              <a:t>EV Customer</a:t>
            </a:r>
          </a:p>
          <a:p xmlns:a="http://schemas.openxmlformats.org/drawingml/2006/main">
            <a:pPr algn="l">
              <a:buNone/>
              <a:defRPr sz="4500" b="1">
                <a:solidFill>
                  <a:srgbClr val="FFFFFF"/>
                </a:solidFill>
                <a:latin typeface="Arial"/>
                <a:ea typeface="Arial"/>
                <a:cs typeface="Arial"/>
              </a:defRPr>
            </a:pPr>
            <a:r>
              <a:rPr sz="4500" b="1">
                <a:solidFill>
                  <a:srgbClr val="FFFFFF"/>
                </a:solidFill>
                <a:latin typeface="Arial"/>
                <a:ea typeface="Arial"/>
                <a:cs typeface="Arial"/>
              </a:rPr>
              <a:t>Prioritization</a:t>
            </a:r>
          </a:p>
        </p:txBody>
      </p:sp>
      <p:sp>
        <p:nvSpPr>
          <p:cNvPr id="5" name="Final Project Proposal">
            <a:extLst xmlns:a="http://schemas.openxmlformats.org/drawingml/2006/main">
              <a:ext uri="{FF2B5EF4-FFF2-40B4-BE49-F238E27FC236}">
                <a16:creationId xmlns:a16="http://schemas.microsoft.com/office/drawing/2014/main" id="{D8F943D9-F139-42CA-A72A-6AD93734E818}"/>
              </a:ext>
            </a:extLst>
          </p:cNvPr>
          <p:cNvSpPr>
            <a:spLocks xmlns:a="http://schemas.openxmlformats.org/drawingml/2006/main" noGrp="1"/>
          </p:cNvSpPr>
          <p:nvPr/>
        </p:nvSpPr>
        <p:spPr>
          <a:xfrm xmlns:a="http://schemas.openxmlformats.org/drawingml/2006/main">
            <a:off x="609600" y="3467100"/>
            <a:ext cx="552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C9DAD5"/>
                </a:solidFill>
                <a:latin typeface="Arial"/>
                <a:ea typeface="Arial"/>
                <a:cs typeface="Arial"/>
              </a:defRPr>
            </a:defPPr>
            <a:lvl1pPr>
              <a:defRPr sz="2250">
                <a:solidFill>
                  <a:srgbClr val="C9DAD5"/>
                </a:solidFill>
                <a:latin typeface="Arial"/>
                <a:ea typeface="Arial"/>
                <a:cs typeface="Arial"/>
              </a:defRPr>
            </a:lvl1pPr>
            <a:lvl2pPr>
              <a:defRPr sz="2250">
                <a:solidFill>
                  <a:srgbClr val="C9DAD5"/>
                </a:solidFill>
                <a:latin typeface="Arial"/>
                <a:ea typeface="Arial"/>
                <a:cs typeface="Arial"/>
              </a:defRPr>
            </a:lvl2pPr>
            <a:lvl3pPr>
              <a:defRPr sz="2250">
                <a:solidFill>
                  <a:srgbClr val="C9DAD5"/>
                </a:solidFill>
                <a:latin typeface="Arial"/>
                <a:ea typeface="Arial"/>
                <a:cs typeface="Arial"/>
              </a:defRPr>
            </a:lvl3pPr>
            <a:lvl4pPr>
              <a:defRPr sz="2250">
                <a:solidFill>
                  <a:srgbClr val="C9DAD5"/>
                </a:solidFill>
                <a:latin typeface="Arial"/>
                <a:ea typeface="Arial"/>
                <a:cs typeface="Arial"/>
              </a:defRPr>
            </a:lvl4pPr>
            <a:lvl5pPr>
              <a:defRPr sz="2250">
                <a:solidFill>
                  <a:srgbClr val="C9DAD5"/>
                </a:solidFill>
                <a:latin typeface="Arial"/>
                <a:ea typeface="Arial"/>
                <a:cs typeface="Arial"/>
              </a:defRPr>
            </a:lvl5pPr>
            <a:lvl6pPr>
              <a:defRPr sz="2250">
                <a:solidFill>
                  <a:srgbClr val="C9DAD5"/>
                </a:solidFill>
                <a:latin typeface="Arial"/>
                <a:ea typeface="Arial"/>
                <a:cs typeface="Arial"/>
              </a:defRPr>
            </a:lvl6pPr>
            <a:lvl7pPr>
              <a:defRPr sz="2250">
                <a:solidFill>
                  <a:srgbClr val="C9DAD5"/>
                </a:solidFill>
                <a:latin typeface="Arial"/>
                <a:ea typeface="Arial"/>
                <a:cs typeface="Arial"/>
              </a:defRPr>
            </a:lvl7pPr>
            <a:lvl8pPr>
              <a:defRPr sz="2250">
                <a:solidFill>
                  <a:srgbClr val="C9DAD5"/>
                </a:solidFill>
                <a:latin typeface="Arial"/>
                <a:ea typeface="Arial"/>
                <a:cs typeface="Arial"/>
              </a:defRPr>
            </a:lvl8pPr>
            <a:lvl9pPr>
              <a:defRPr sz="2250">
                <a:solidFill>
                  <a:srgbClr val="C9DAD5"/>
                </a:solidFill>
                <a:latin typeface="Arial"/>
                <a:ea typeface="Arial"/>
                <a:cs typeface="Arial"/>
              </a:defRPr>
            </a:lvl9pPr>
          </a:lstStyle>
          <a:p xmlns:a="http://schemas.openxmlformats.org/drawingml/2006/main">
            <a:pPr algn="l">
              <a:buNone/>
              <a:defRPr sz="2250" b="0">
                <a:solidFill>
                  <a:srgbClr val="C9DAD5"/>
                </a:solidFill>
                <a:latin typeface="Arial"/>
                <a:ea typeface="Arial"/>
                <a:cs typeface="Arial"/>
              </a:defRPr>
            </a:pPr>
            <a:r>
              <a:rPr sz="2250" b="0">
                <a:solidFill>
                  <a:srgbClr val="C9DAD5"/>
                </a:solidFill>
                <a:latin typeface="Arial"/>
                <a:ea typeface="Arial"/>
                <a:cs typeface="Arial"/>
              </a:rPr>
              <a:t>Stakeholder demonstration</a:t>
            </a:r>
          </a:p>
        </p:txBody>
      </p:sp>
      <p:sp>
        <p:nvSpPr>
          <p:cNvPr id="6" name="Nu Quynh Chau Nguyen&#10;MSBA265">
            <a:extLst xmlns:a="http://schemas.openxmlformats.org/drawingml/2006/main">
              <a:ext uri="{FF2B5EF4-FFF2-40B4-BE49-F238E27FC236}">
                <a16:creationId xmlns:a16="http://schemas.microsoft.com/office/drawing/2014/main" id="{4C9CA86E-C758-4408-89F2-640AF625C1F4}"/>
              </a:ext>
            </a:extLst>
          </p:cNvPr>
          <p:cNvSpPr>
            <a:spLocks xmlns:a="http://schemas.openxmlformats.org/drawingml/2006/main" noGrp="1"/>
          </p:cNvSpPr>
          <p:nvPr/>
        </p:nvSpPr>
        <p:spPr>
          <a:xfrm xmlns:a="http://schemas.openxmlformats.org/drawingml/2006/main">
            <a:off x="609600" y="4791075"/>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Nu Quynh Chau Nguyen</a:t>
            </a:r>
          </a:p>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MSBA265</a:t>
            </a:r>
          </a:p>
        </p:txBody>
      </p:sp>
    </p:spTree>
    <p:extLst>
      <p:ext uri="{BB962C8B-B14F-4D97-AF65-F5344CB8AC3E}">
        <p14:creationId xmlns:p14="http://schemas.microsoft.com/office/powerpoint/2010/main" val="5923462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16709D8-E04D-4CB8-BEC9-5BF648133985}"/>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buNone/>
              <a:defRPr sz="3300" b="1">
                <a:solidFill>
                  <a:srgbClr val="102C32"/>
                </a:solidFill>
                <a:latin typeface="Arial"/>
                <a:ea typeface="Arial"/>
                <a:cs typeface="Arial"/>
              </a:defRPr>
            </a:lvl1pPr>
            <a:lvl2pPr>
              <a:buNone/>
              <a:defRPr sz="3300" b="1">
                <a:solidFill>
                  <a:srgbClr val="102C32"/>
                </a:solidFill>
                <a:latin typeface="Arial"/>
                <a:ea typeface="Arial"/>
                <a:cs typeface="Arial"/>
              </a:defRPr>
            </a:lvl2pPr>
            <a:lvl3pPr>
              <a:buNone/>
              <a:defRPr sz="3300" b="1">
                <a:solidFill>
                  <a:srgbClr val="102C32"/>
                </a:solidFill>
                <a:latin typeface="Arial"/>
                <a:ea typeface="Arial"/>
                <a:cs typeface="Arial"/>
              </a:defRPr>
            </a:lvl3pPr>
            <a:lvl4pPr>
              <a:buNone/>
              <a:defRPr sz="3300" b="1">
                <a:solidFill>
                  <a:srgbClr val="102C32"/>
                </a:solidFill>
                <a:latin typeface="Arial"/>
                <a:ea typeface="Arial"/>
                <a:cs typeface="Arial"/>
              </a:defRPr>
            </a:lvl4pPr>
            <a:lvl5pPr>
              <a:buNone/>
              <a:defRPr sz="3300" b="1">
                <a:solidFill>
                  <a:srgbClr val="102C32"/>
                </a:solidFill>
                <a:latin typeface="Arial"/>
                <a:ea typeface="Arial"/>
                <a:cs typeface="Arial"/>
              </a:defRPr>
            </a:lvl5pPr>
            <a:lvl6pPr>
              <a:buNone/>
              <a:defRPr sz="3300" b="1">
                <a:solidFill>
                  <a:srgbClr val="102C32"/>
                </a:solidFill>
                <a:latin typeface="Arial"/>
                <a:ea typeface="Arial"/>
                <a:cs typeface="Arial"/>
              </a:defRPr>
            </a:lvl6pPr>
            <a:lvl7pPr>
              <a:buNone/>
              <a:defRPr sz="3300" b="1">
                <a:solidFill>
                  <a:srgbClr val="102C32"/>
                </a:solidFill>
                <a:latin typeface="Arial"/>
                <a:ea typeface="Arial"/>
                <a:cs typeface="Arial"/>
              </a:defRPr>
            </a:lvl7pPr>
            <a:lvl8pPr>
              <a:buNone/>
              <a:defRPr sz="3300" b="1">
                <a:solidFill>
                  <a:srgbClr val="102C32"/>
                </a:solidFill>
                <a:latin typeface="Arial"/>
                <a:ea typeface="Arial"/>
                <a:cs typeface="Arial"/>
              </a:defRPr>
            </a:lvl8pPr>
            <a:lvl9pPr>
              <a:buNone/>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Limited contact capacity</a:t>
            </a:r>
          </a:p>
        </p:txBody>
      </p:sp>
      <p:sp>
        <p:nvSpPr>
          <p:cNvPr id="2" name="MSBA265  /  Final Project Proposal">
            <a:extLst xmlns:a="http://schemas.openxmlformats.org/drawingml/2006/main">
              <a:ext uri="{FF2B5EF4-FFF2-40B4-BE49-F238E27FC236}">
                <a16:creationId xmlns:a16="http://schemas.microsoft.com/office/drawing/2014/main" id="{9E741BA1-7AFE-4204-93A7-E9DA891D4AE8}"/>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2">
            <a:extLst xmlns:a="http://schemas.openxmlformats.org/drawingml/2006/main">
              <a:ext uri="{FF2B5EF4-FFF2-40B4-BE49-F238E27FC236}">
                <a16:creationId xmlns:a16="http://schemas.microsoft.com/office/drawing/2014/main" id="{30610BCF-83DE-433F-8CCC-C0803036B8D3}"/>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02</a:t>
            </a:r>
          </a:p>
        </p:txBody>
      </p:sp>
      <p:sp>
        <p:nvSpPr>
          <p:cNvPr id="11" name="Which profiles should receive review first?">
            <a:extLst xmlns:a="http://schemas.openxmlformats.org/drawingml/2006/main">
              <a:ext uri="{FF2B5EF4-FFF2-40B4-BE49-F238E27FC236}">
                <a16:creationId xmlns:a16="http://schemas.microsoft.com/office/drawing/2014/main" id="{452EA08D-0B17-4C71-8D6F-121F0F05CEF2}"/>
              </a:ext>
            </a:extLst>
          </p:cNvPr>
          <p:cNvSpPr>
            <a:spLocks xmlns:a="http://schemas.openxmlformats.org/drawingml/2006/main" noGrp="1"/>
          </p:cNvSpPr>
          <p:nvPr/>
        </p:nvSpPr>
        <p:spPr>
          <a:xfrm xmlns:a="http://schemas.openxmlformats.org/drawingml/2006/main">
            <a:off x="609600" y="14954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02C32"/>
                </a:solidFill>
                <a:latin typeface="Arial"/>
                <a:ea typeface="Arial"/>
                <a:cs typeface="Arial"/>
              </a:defRPr>
            </a:defPPr>
            <a:lvl1pPr algn="l">
              <a:buNone/>
              <a:defRPr sz="3225" b="1">
                <a:solidFill>
                  <a:srgbClr val="102C32"/>
                </a:solidFill>
                <a:latin typeface="Arial"/>
                <a:ea typeface="Arial"/>
                <a:cs typeface="Arial"/>
              </a:defRPr>
            </a:lvl1pPr>
            <a:lvl2pPr algn="l">
              <a:buNone/>
              <a:defRPr sz="3225" b="1">
                <a:solidFill>
                  <a:srgbClr val="102C32"/>
                </a:solidFill>
                <a:latin typeface="Arial"/>
                <a:ea typeface="Arial"/>
                <a:cs typeface="Arial"/>
              </a:defRPr>
            </a:lvl2pPr>
            <a:lvl3pPr algn="l">
              <a:buNone/>
              <a:defRPr sz="3225" b="1">
                <a:solidFill>
                  <a:srgbClr val="102C32"/>
                </a:solidFill>
                <a:latin typeface="Arial"/>
                <a:ea typeface="Arial"/>
                <a:cs typeface="Arial"/>
              </a:defRPr>
            </a:lvl3pPr>
            <a:lvl4pPr algn="l">
              <a:buNone/>
              <a:defRPr sz="3225" b="1">
                <a:solidFill>
                  <a:srgbClr val="102C32"/>
                </a:solidFill>
                <a:latin typeface="Arial"/>
                <a:ea typeface="Arial"/>
                <a:cs typeface="Arial"/>
              </a:defRPr>
            </a:lvl4pPr>
            <a:lvl5pPr algn="l">
              <a:buNone/>
              <a:defRPr sz="3225" b="1">
                <a:solidFill>
                  <a:srgbClr val="102C32"/>
                </a:solidFill>
                <a:latin typeface="Arial"/>
                <a:ea typeface="Arial"/>
                <a:cs typeface="Arial"/>
              </a:defRPr>
            </a:lvl5pPr>
            <a:lvl6pPr algn="l">
              <a:buNone/>
              <a:defRPr sz="3225" b="1">
                <a:solidFill>
                  <a:srgbClr val="102C32"/>
                </a:solidFill>
                <a:latin typeface="Arial"/>
                <a:ea typeface="Arial"/>
                <a:cs typeface="Arial"/>
              </a:defRPr>
            </a:lvl6pPr>
            <a:lvl7pPr algn="l">
              <a:buNone/>
              <a:defRPr sz="3225" b="1">
                <a:solidFill>
                  <a:srgbClr val="102C32"/>
                </a:solidFill>
                <a:latin typeface="Arial"/>
                <a:ea typeface="Arial"/>
                <a:cs typeface="Arial"/>
              </a:defRPr>
            </a:lvl7pPr>
            <a:lvl8pPr algn="l">
              <a:buNone/>
              <a:defRPr sz="3225" b="1">
                <a:solidFill>
                  <a:srgbClr val="102C32"/>
                </a:solidFill>
                <a:latin typeface="Arial"/>
                <a:ea typeface="Arial"/>
                <a:cs typeface="Arial"/>
              </a:defRPr>
            </a:lvl8pPr>
            <a:lvl9pPr algn="l">
              <a:buNone/>
              <a:defRPr sz="3225" b="1">
                <a:solidFill>
                  <a:srgbClr val="102C32"/>
                </a:solidFill>
                <a:latin typeface="Arial"/>
                <a:ea typeface="Arial"/>
                <a:cs typeface="Arial"/>
              </a:defRPr>
            </a:lvl9pPr>
          </a:lstStyle>
          <a:p xmlns:a="http://schemas.openxmlformats.org/drawingml/2006/main">
            <a:pPr algn="l">
              <a:buNone/>
              <a:defRPr sz="3225" b="1">
                <a:solidFill>
                  <a:srgbClr val="102C32"/>
                </a:solidFill>
                <a:latin typeface="Arial"/>
                <a:ea typeface="Arial"/>
                <a:cs typeface="Arial"/>
              </a:defRPr>
            </a:pPr>
            <a:r>
              <a:rPr sz="3225" b="1">
                <a:solidFill>
                  <a:srgbClr val="102C32"/>
                </a:solidFill>
                <a:latin typeface="Arial"/>
                <a:ea typeface="Arial"/>
                <a:cs typeface="Arial"/>
              </a:rPr>
              <a:t>Which customers should an EV dealership prioritize for contact when its outreach capacity is limited?</a:t>
            </a:r>
          </a:p>
        </p:txBody>
      </p:sp>
      <p:sp>
        <p:nvSpPr>
          <p:cNvPr id="12" name="Illustrative scenario">
            <a:extLst xmlns:a="http://schemas.openxmlformats.org/drawingml/2006/main">
              <a:ext uri="{FF2B5EF4-FFF2-40B4-BE49-F238E27FC236}">
                <a16:creationId xmlns:a16="http://schemas.microsoft.com/office/drawing/2014/main" id="{9874E727-9B2D-4100-ADF7-E3E1FF6C5EF2}"/>
              </a:ext>
            </a:extLst>
          </p:cNvPr>
          <p:cNvSpPr>
            <a:spLocks xmlns:a="http://schemas.openxmlformats.org/drawingml/2006/main" noGrp="1"/>
          </p:cNvSpPr>
          <p:nvPr/>
        </p:nvSpPr>
        <p:spPr>
          <a:xfrm xmlns:a="http://schemas.openxmlformats.org/drawingml/2006/main">
            <a:off x="609600" y="30099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866C"/>
                </a:solidFill>
                <a:latin typeface="Arial"/>
                <a:ea typeface="Arial"/>
                <a:cs typeface="Arial"/>
              </a:defRPr>
            </a:defPPr>
            <a:lvl1pPr algn="l">
              <a:buNone/>
              <a:defRPr sz="2025" b="1">
                <a:solidFill>
                  <a:srgbClr val="15866C"/>
                </a:solidFill>
                <a:latin typeface="Arial"/>
                <a:ea typeface="Arial"/>
                <a:cs typeface="Arial"/>
              </a:defRPr>
            </a:lvl1pPr>
            <a:lvl2pPr algn="l">
              <a:buNone/>
              <a:defRPr sz="2025" b="1">
                <a:solidFill>
                  <a:srgbClr val="15866C"/>
                </a:solidFill>
                <a:latin typeface="Arial"/>
                <a:ea typeface="Arial"/>
                <a:cs typeface="Arial"/>
              </a:defRPr>
            </a:lvl2pPr>
            <a:lvl3pPr algn="l">
              <a:buNone/>
              <a:defRPr sz="2025" b="1">
                <a:solidFill>
                  <a:srgbClr val="15866C"/>
                </a:solidFill>
                <a:latin typeface="Arial"/>
                <a:ea typeface="Arial"/>
                <a:cs typeface="Arial"/>
              </a:defRPr>
            </a:lvl3pPr>
            <a:lvl4pPr algn="l">
              <a:buNone/>
              <a:defRPr sz="2025" b="1">
                <a:solidFill>
                  <a:srgbClr val="15866C"/>
                </a:solidFill>
                <a:latin typeface="Arial"/>
                <a:ea typeface="Arial"/>
                <a:cs typeface="Arial"/>
              </a:defRPr>
            </a:lvl4pPr>
            <a:lvl5pPr algn="l">
              <a:buNone/>
              <a:defRPr sz="2025" b="1">
                <a:solidFill>
                  <a:srgbClr val="15866C"/>
                </a:solidFill>
                <a:latin typeface="Arial"/>
                <a:ea typeface="Arial"/>
                <a:cs typeface="Arial"/>
              </a:defRPr>
            </a:lvl5pPr>
            <a:lvl6pPr algn="l">
              <a:buNone/>
              <a:defRPr sz="2025" b="1">
                <a:solidFill>
                  <a:srgbClr val="15866C"/>
                </a:solidFill>
                <a:latin typeface="Arial"/>
                <a:ea typeface="Arial"/>
                <a:cs typeface="Arial"/>
              </a:defRPr>
            </a:lvl6pPr>
            <a:lvl7pPr algn="l">
              <a:buNone/>
              <a:defRPr sz="2025" b="1">
                <a:solidFill>
                  <a:srgbClr val="15866C"/>
                </a:solidFill>
                <a:latin typeface="Arial"/>
                <a:ea typeface="Arial"/>
                <a:cs typeface="Arial"/>
              </a:defRPr>
            </a:lvl7pPr>
            <a:lvl8pPr algn="l">
              <a:buNone/>
              <a:defRPr sz="2025" b="1">
                <a:solidFill>
                  <a:srgbClr val="15866C"/>
                </a:solidFill>
                <a:latin typeface="Arial"/>
                <a:ea typeface="Arial"/>
                <a:cs typeface="Arial"/>
              </a:defRPr>
            </a:lvl8pPr>
            <a:lvl9pPr algn="l">
              <a:buNone/>
              <a:defRPr sz="2025" b="1">
                <a:solidFill>
                  <a:srgbClr val="15866C"/>
                </a:solidFill>
                <a:latin typeface="Arial"/>
                <a:ea typeface="Arial"/>
                <a:cs typeface="Arial"/>
              </a:defRPr>
            </a:lvl9pPr>
          </a:lstStyle>
          <a:p xmlns:a="http://schemas.openxmlformats.org/drawingml/2006/main">
            <a:pPr algn="l">
              <a:buNone/>
              <a:defRPr sz="2025" b="1">
                <a:solidFill>
                  <a:srgbClr val="15866C"/>
                </a:solidFill>
                <a:latin typeface="Arial"/>
                <a:ea typeface="Arial"/>
                <a:cs typeface="Arial"/>
              </a:defRPr>
            </a:pPr>
            <a:r>
              <a:rPr sz="2025" b="1">
                <a:solidFill>
                  <a:srgbClr val="15866C"/>
                </a:solidFill>
                <a:latin typeface="Arial"/>
                <a:ea typeface="Arial"/>
                <a:cs typeface="Arial"/>
              </a:rPr>
              <a:t>Illustrative scenario</a:t>
            </a:r>
          </a:p>
        </p:txBody>
      </p:sp>
      <p:sp>
        <p:nvSpPr>
          <p:cNvPr id="13" name="A team can review 50 profiles.&#10;The manager set">
            <a:extLst xmlns:a="http://schemas.openxmlformats.org/drawingml/2006/main">
              <a:ext uri="{FF2B5EF4-FFF2-40B4-BE49-F238E27FC236}">
                <a16:creationId xmlns:a16="http://schemas.microsoft.com/office/drawing/2014/main" id="{2B913E91-73AF-4136-9A24-23AA6A2EAF17}"/>
              </a:ext>
            </a:extLst>
          </p:cNvPr>
          <p:cNvSpPr>
            <a:spLocks xmlns:a="http://schemas.openxmlformats.org/drawingml/2006/main" noGrp="1"/>
          </p:cNvSpPr>
          <p:nvPr/>
        </p:nvSpPr>
        <p:spPr>
          <a:xfrm xmlns:a="http://schemas.openxmlformats.org/drawingml/2006/main">
            <a:off x="609600" y="35242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C32"/>
                </a:solidFill>
                <a:latin typeface="Arial"/>
                <a:ea typeface="Arial"/>
                <a:cs typeface="Arial"/>
              </a:defRPr>
            </a:defPPr>
            <a:lvl1pPr algn="l">
              <a:buNone/>
              <a:defRPr sz="2175" b="0">
                <a:solidFill>
                  <a:srgbClr val="102C32"/>
                </a:solidFill>
                <a:latin typeface="Arial"/>
                <a:ea typeface="Arial"/>
                <a:cs typeface="Arial"/>
              </a:defRPr>
            </a:lvl1pPr>
            <a:lvl2pPr algn="l">
              <a:buNone/>
              <a:defRPr sz="2175" b="0">
                <a:solidFill>
                  <a:srgbClr val="102C32"/>
                </a:solidFill>
                <a:latin typeface="Arial"/>
                <a:ea typeface="Arial"/>
                <a:cs typeface="Arial"/>
              </a:defRPr>
            </a:lvl2pPr>
            <a:lvl3pPr algn="l">
              <a:buNone/>
              <a:defRPr sz="2175" b="0">
                <a:solidFill>
                  <a:srgbClr val="102C32"/>
                </a:solidFill>
                <a:latin typeface="Arial"/>
                <a:ea typeface="Arial"/>
                <a:cs typeface="Arial"/>
              </a:defRPr>
            </a:lvl3pPr>
            <a:lvl4pPr algn="l">
              <a:buNone/>
              <a:defRPr sz="2175" b="0">
                <a:solidFill>
                  <a:srgbClr val="102C32"/>
                </a:solidFill>
                <a:latin typeface="Arial"/>
                <a:ea typeface="Arial"/>
                <a:cs typeface="Arial"/>
              </a:defRPr>
            </a:lvl4pPr>
            <a:lvl5pPr algn="l">
              <a:buNone/>
              <a:defRPr sz="2175" b="0">
                <a:solidFill>
                  <a:srgbClr val="102C32"/>
                </a:solidFill>
                <a:latin typeface="Arial"/>
                <a:ea typeface="Arial"/>
                <a:cs typeface="Arial"/>
              </a:defRPr>
            </a:lvl5pPr>
            <a:lvl6pPr algn="l">
              <a:buNone/>
              <a:defRPr sz="2175" b="0">
                <a:solidFill>
                  <a:srgbClr val="102C32"/>
                </a:solidFill>
                <a:latin typeface="Arial"/>
                <a:ea typeface="Arial"/>
                <a:cs typeface="Arial"/>
              </a:defRPr>
            </a:lvl6pPr>
            <a:lvl7pPr algn="l">
              <a:buNone/>
              <a:defRPr sz="2175" b="0">
                <a:solidFill>
                  <a:srgbClr val="102C32"/>
                </a:solidFill>
                <a:latin typeface="Arial"/>
                <a:ea typeface="Arial"/>
                <a:cs typeface="Arial"/>
              </a:defRPr>
            </a:lvl7pPr>
            <a:lvl8pPr algn="l">
              <a:buNone/>
              <a:defRPr sz="2175" b="0">
                <a:solidFill>
                  <a:srgbClr val="102C32"/>
                </a:solidFill>
                <a:latin typeface="Arial"/>
                <a:ea typeface="Arial"/>
                <a:cs typeface="Arial"/>
              </a:defRPr>
            </a:lvl8pPr>
            <a:lvl9pPr algn="l">
              <a:buNone/>
              <a:defRPr sz="2175" b="0">
                <a:solidFill>
                  <a:srgbClr val="102C32"/>
                </a:solidFill>
                <a:latin typeface="Arial"/>
                <a:ea typeface="Arial"/>
                <a:cs typeface="Arial"/>
              </a:defRPr>
            </a:lvl9pPr>
          </a:lstStyle>
          <a:p xmlns:a="http://schemas.openxmlformats.org/drawingml/2006/main">
            <a:pPr algn="l">
              <a:buNone/>
              <a:defRPr sz="2175" b="0">
                <a:solidFill>
                  <a:srgbClr val="102C32"/>
                </a:solidFill>
                <a:latin typeface="Arial"/>
                <a:ea typeface="Arial"/>
                <a:cs typeface="Arial"/>
              </a:defRPr>
            </a:pPr>
            <a:r>
              <a:rPr sz="2175" b="0">
                <a:solidFill>
                  <a:srgbClr val="102C32"/>
                </a:solidFill>
                <a:latin typeface="Arial"/>
                <a:ea typeface="Arial"/>
                <a:cs typeface="Arial"/>
              </a:rPr>
              <a:t>A team can review 50 profiles.</a:t>
            </a:r>
          </a:p>
          <a:p xmlns:a="http://schemas.openxmlformats.org/drawingml/2006/main">
            <a:pPr algn="l">
              <a:buNone/>
              <a:defRPr sz="2175" b="0">
                <a:solidFill>
                  <a:srgbClr val="102C32"/>
                </a:solidFill>
                <a:latin typeface="Arial"/>
                <a:ea typeface="Arial"/>
                <a:cs typeface="Arial"/>
              </a:defRPr>
            </a:pPr>
            <a:r>
              <a:rPr sz="2175" b="0">
                <a:solidFill>
                  <a:srgbClr val="102C32"/>
                </a:solidFill>
                <a:latin typeface="Arial"/>
                <a:ea typeface="Arial"/>
                <a:cs typeface="Arial"/>
              </a:rPr>
              <a:t>The manager sets the limit to match</a:t>
            </a:r>
          </a:p>
          <a:p xmlns:a="http://schemas.openxmlformats.org/drawingml/2006/main">
            <a:pPr algn="l">
              <a:buNone/>
              <a:defRPr sz="2175" b="0">
                <a:solidFill>
                  <a:srgbClr val="102C32"/>
                </a:solidFill>
                <a:latin typeface="Arial"/>
                <a:ea typeface="Arial"/>
                <a:cs typeface="Arial"/>
              </a:defRPr>
            </a:pPr>
            <a:r>
              <a:rPr sz="2175" b="0">
                <a:solidFill>
                  <a:srgbClr val="102C32"/>
                </a:solidFill>
                <a:latin typeface="Arial"/>
                <a:ea typeface="Arial"/>
                <a:cs typeface="Arial"/>
              </a:rPr>
              <a:t>the team’s available time.</a:t>
            </a:r>
          </a:p>
        </p:txBody>
      </p:sp>
      <p:sp>
        <p:nvSpPr>
          <p:cNvPr id="14" name="The tool’s role">
            <a:extLst xmlns:a="http://schemas.openxmlformats.org/drawingml/2006/main">
              <a:ext uri="{FF2B5EF4-FFF2-40B4-BE49-F238E27FC236}">
                <a16:creationId xmlns:a16="http://schemas.microsoft.com/office/drawing/2014/main" id="{F10DDBFC-8AF5-4EA2-B3B1-35CF4779C32B}"/>
              </a:ext>
            </a:extLst>
          </p:cNvPr>
          <p:cNvSpPr>
            <a:spLocks xmlns:a="http://schemas.openxmlformats.org/drawingml/2006/main" noGrp="1"/>
          </p:cNvSpPr>
          <p:nvPr/>
        </p:nvSpPr>
        <p:spPr>
          <a:xfrm xmlns:a="http://schemas.openxmlformats.org/drawingml/2006/main">
            <a:off x="6705600" y="30099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866C"/>
                </a:solidFill>
                <a:latin typeface="Arial"/>
                <a:ea typeface="Arial"/>
                <a:cs typeface="Arial"/>
              </a:defRPr>
            </a:defPPr>
            <a:lvl1pPr algn="l">
              <a:buNone/>
              <a:defRPr sz="2025" b="1">
                <a:solidFill>
                  <a:srgbClr val="15866C"/>
                </a:solidFill>
                <a:latin typeface="Arial"/>
                <a:ea typeface="Arial"/>
                <a:cs typeface="Arial"/>
              </a:defRPr>
            </a:lvl1pPr>
            <a:lvl2pPr algn="l">
              <a:buNone/>
              <a:defRPr sz="2025" b="1">
                <a:solidFill>
                  <a:srgbClr val="15866C"/>
                </a:solidFill>
                <a:latin typeface="Arial"/>
                <a:ea typeface="Arial"/>
                <a:cs typeface="Arial"/>
              </a:defRPr>
            </a:lvl2pPr>
            <a:lvl3pPr algn="l">
              <a:buNone/>
              <a:defRPr sz="2025" b="1">
                <a:solidFill>
                  <a:srgbClr val="15866C"/>
                </a:solidFill>
                <a:latin typeface="Arial"/>
                <a:ea typeface="Arial"/>
                <a:cs typeface="Arial"/>
              </a:defRPr>
            </a:lvl3pPr>
            <a:lvl4pPr algn="l">
              <a:buNone/>
              <a:defRPr sz="2025" b="1">
                <a:solidFill>
                  <a:srgbClr val="15866C"/>
                </a:solidFill>
                <a:latin typeface="Arial"/>
                <a:ea typeface="Arial"/>
                <a:cs typeface="Arial"/>
              </a:defRPr>
            </a:lvl4pPr>
            <a:lvl5pPr algn="l">
              <a:buNone/>
              <a:defRPr sz="2025" b="1">
                <a:solidFill>
                  <a:srgbClr val="15866C"/>
                </a:solidFill>
                <a:latin typeface="Arial"/>
                <a:ea typeface="Arial"/>
                <a:cs typeface="Arial"/>
              </a:defRPr>
            </a:lvl5pPr>
            <a:lvl6pPr algn="l">
              <a:buNone/>
              <a:defRPr sz="2025" b="1">
                <a:solidFill>
                  <a:srgbClr val="15866C"/>
                </a:solidFill>
                <a:latin typeface="Arial"/>
                <a:ea typeface="Arial"/>
                <a:cs typeface="Arial"/>
              </a:defRPr>
            </a:lvl6pPr>
            <a:lvl7pPr algn="l">
              <a:buNone/>
              <a:defRPr sz="2025" b="1">
                <a:solidFill>
                  <a:srgbClr val="15866C"/>
                </a:solidFill>
                <a:latin typeface="Arial"/>
                <a:ea typeface="Arial"/>
                <a:cs typeface="Arial"/>
              </a:defRPr>
            </a:lvl7pPr>
            <a:lvl8pPr algn="l">
              <a:buNone/>
              <a:defRPr sz="2025" b="1">
                <a:solidFill>
                  <a:srgbClr val="15866C"/>
                </a:solidFill>
                <a:latin typeface="Arial"/>
                <a:ea typeface="Arial"/>
                <a:cs typeface="Arial"/>
              </a:defRPr>
            </a:lvl8pPr>
            <a:lvl9pPr algn="l">
              <a:buNone/>
              <a:defRPr sz="2025" b="1">
                <a:solidFill>
                  <a:srgbClr val="15866C"/>
                </a:solidFill>
                <a:latin typeface="Arial"/>
                <a:ea typeface="Arial"/>
                <a:cs typeface="Arial"/>
              </a:defRPr>
            </a:lvl9pPr>
          </a:lstStyle>
          <a:p xmlns:a="http://schemas.openxmlformats.org/drawingml/2006/main">
            <a:pPr algn="l">
              <a:buNone/>
              <a:defRPr sz="2025" b="1">
                <a:solidFill>
                  <a:srgbClr val="15866C"/>
                </a:solidFill>
                <a:latin typeface="Arial"/>
                <a:ea typeface="Arial"/>
                <a:cs typeface="Arial"/>
              </a:defRPr>
            </a:pPr>
            <a:r>
              <a:rPr sz="2025" b="1">
                <a:solidFill>
                  <a:srgbClr val="15866C"/>
                </a:solidFill>
                <a:latin typeface="Arial"/>
                <a:ea typeface="Arial"/>
                <a:cs typeface="Arial"/>
              </a:rPr>
              <a:t>The tool’s role</a:t>
            </a:r>
          </a:p>
        </p:txBody>
      </p:sp>
      <p:sp>
        <p:nvSpPr>
          <p:cNvPr id="15" name="Rank the supplied profiles and&#10;return 50 IDs f">
            <a:extLst xmlns:a="http://schemas.openxmlformats.org/drawingml/2006/main">
              <a:ext uri="{FF2B5EF4-FFF2-40B4-BE49-F238E27FC236}">
                <a16:creationId xmlns:a16="http://schemas.microsoft.com/office/drawing/2014/main" id="{3C58F788-528D-405B-A819-96E5546C2D8C}"/>
              </a:ext>
            </a:extLst>
          </p:cNvPr>
          <p:cNvSpPr>
            <a:spLocks xmlns:a="http://schemas.openxmlformats.org/drawingml/2006/main" noGrp="1"/>
          </p:cNvSpPr>
          <p:nvPr/>
        </p:nvSpPr>
        <p:spPr>
          <a:xfrm xmlns:a="http://schemas.openxmlformats.org/drawingml/2006/main">
            <a:off x="6705600" y="352425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C32"/>
                </a:solidFill>
                <a:latin typeface="Arial"/>
                <a:ea typeface="Arial"/>
                <a:cs typeface="Arial"/>
              </a:defRPr>
            </a:defPPr>
            <a:lvl1pPr algn="l">
              <a:buNone/>
              <a:defRPr sz="2175" b="0">
                <a:solidFill>
                  <a:srgbClr val="102C32"/>
                </a:solidFill>
                <a:latin typeface="Arial"/>
                <a:ea typeface="Arial"/>
                <a:cs typeface="Arial"/>
              </a:defRPr>
            </a:lvl1pPr>
            <a:lvl2pPr algn="l">
              <a:buNone/>
              <a:defRPr sz="2175" b="0">
                <a:solidFill>
                  <a:srgbClr val="102C32"/>
                </a:solidFill>
                <a:latin typeface="Arial"/>
                <a:ea typeface="Arial"/>
                <a:cs typeface="Arial"/>
              </a:defRPr>
            </a:lvl2pPr>
            <a:lvl3pPr algn="l">
              <a:buNone/>
              <a:defRPr sz="2175" b="0">
                <a:solidFill>
                  <a:srgbClr val="102C32"/>
                </a:solidFill>
                <a:latin typeface="Arial"/>
                <a:ea typeface="Arial"/>
                <a:cs typeface="Arial"/>
              </a:defRPr>
            </a:lvl3pPr>
            <a:lvl4pPr algn="l">
              <a:buNone/>
              <a:defRPr sz="2175" b="0">
                <a:solidFill>
                  <a:srgbClr val="102C32"/>
                </a:solidFill>
                <a:latin typeface="Arial"/>
                <a:ea typeface="Arial"/>
                <a:cs typeface="Arial"/>
              </a:defRPr>
            </a:lvl4pPr>
            <a:lvl5pPr algn="l">
              <a:buNone/>
              <a:defRPr sz="2175" b="0">
                <a:solidFill>
                  <a:srgbClr val="102C32"/>
                </a:solidFill>
                <a:latin typeface="Arial"/>
                <a:ea typeface="Arial"/>
                <a:cs typeface="Arial"/>
              </a:defRPr>
            </a:lvl5pPr>
            <a:lvl6pPr algn="l">
              <a:buNone/>
              <a:defRPr sz="2175" b="0">
                <a:solidFill>
                  <a:srgbClr val="102C32"/>
                </a:solidFill>
                <a:latin typeface="Arial"/>
                <a:ea typeface="Arial"/>
                <a:cs typeface="Arial"/>
              </a:defRPr>
            </a:lvl6pPr>
            <a:lvl7pPr algn="l">
              <a:buNone/>
              <a:defRPr sz="2175" b="0">
                <a:solidFill>
                  <a:srgbClr val="102C32"/>
                </a:solidFill>
                <a:latin typeface="Arial"/>
                <a:ea typeface="Arial"/>
                <a:cs typeface="Arial"/>
              </a:defRPr>
            </a:lvl7pPr>
            <a:lvl8pPr algn="l">
              <a:buNone/>
              <a:defRPr sz="2175" b="0">
                <a:solidFill>
                  <a:srgbClr val="102C32"/>
                </a:solidFill>
                <a:latin typeface="Arial"/>
                <a:ea typeface="Arial"/>
                <a:cs typeface="Arial"/>
              </a:defRPr>
            </a:lvl8pPr>
            <a:lvl9pPr algn="l">
              <a:buNone/>
              <a:defRPr sz="2175" b="0">
                <a:solidFill>
                  <a:srgbClr val="102C32"/>
                </a:solidFill>
                <a:latin typeface="Arial"/>
                <a:ea typeface="Arial"/>
                <a:cs typeface="Arial"/>
              </a:defRPr>
            </a:lvl9pPr>
          </a:lstStyle>
          <a:p xmlns:a="http://schemas.openxmlformats.org/drawingml/2006/main">
            <a:pPr algn="l">
              <a:buNone/>
              <a:defRPr sz="2175" b="0">
                <a:solidFill>
                  <a:srgbClr val="102C32"/>
                </a:solidFill>
                <a:latin typeface="Arial"/>
                <a:ea typeface="Arial"/>
                <a:cs typeface="Arial"/>
              </a:defRPr>
            </a:pPr>
            <a:r>
              <a:rPr sz="2175" b="0">
                <a:solidFill>
                  <a:srgbClr val="102C32"/>
                </a:solidFill>
                <a:latin typeface="Arial"/>
                <a:ea typeface="Arial"/>
                <a:cs typeface="Arial"/>
              </a:rPr>
              <a:t>Rank the supplied profiles and</a:t>
            </a:r>
          </a:p>
          <a:p xmlns:a="http://schemas.openxmlformats.org/drawingml/2006/main">
            <a:pPr algn="l">
              <a:buNone/>
              <a:defRPr sz="2175" b="0">
                <a:solidFill>
                  <a:srgbClr val="102C32"/>
                </a:solidFill>
                <a:latin typeface="Arial"/>
                <a:ea typeface="Arial"/>
                <a:cs typeface="Arial"/>
              </a:defRPr>
            </a:pPr>
            <a:r>
              <a:rPr sz="2175" b="0">
                <a:solidFill>
                  <a:srgbClr val="102C32"/>
                </a:solidFill>
                <a:latin typeface="Arial"/>
                <a:ea typeface="Arial"/>
                <a:cs typeface="Arial"/>
              </a:rPr>
              <a:t>return 50 IDs for staff review.</a:t>
            </a:r>
          </a:p>
          <a:p xmlns:a="http://schemas.openxmlformats.org/drawingml/2006/main">
            <a:pPr algn="l">
              <a:buNone/>
              <a:defRPr sz="2175" b="0">
                <a:solidFill>
                  <a:srgbClr val="102C32"/>
                </a:solidFill>
                <a:latin typeface="Arial"/>
                <a:ea typeface="Arial"/>
                <a:cs typeface="Arial"/>
              </a:defRPr>
            </a:pPr>
            <a:r>
              <a:rPr sz="2175" b="0">
                <a:solidFill>
                  <a:srgbClr val="102C32"/>
                </a:solidFill>
                <a:latin typeface="Arial"/>
                <a:ea typeface="Arial"/>
                <a:cs typeface="Arial"/>
              </a:rPr>
              <a:t>The manager approves any contact.</a:t>
            </a:r>
          </a:p>
        </p:txBody>
      </p:sp>
      <p:sp>
        <p:nvSpPr>
          <p:cNvPr id="16" name="Goal: find more profiles with a Yes label with">
            <a:extLst xmlns:a="http://schemas.openxmlformats.org/drawingml/2006/main">
              <a:ext uri="{FF2B5EF4-FFF2-40B4-BE49-F238E27FC236}">
                <a16:creationId xmlns:a16="http://schemas.microsoft.com/office/drawing/2014/main" id="{67083CE9-1CA2-4245-B1D8-9ED9CB8E88FE}"/>
              </a:ext>
            </a:extLst>
          </p:cNvPr>
          <p:cNvSpPr>
            <a:spLocks xmlns:a="http://schemas.openxmlformats.org/drawingml/2006/main" noGrp="1"/>
          </p:cNvSpPr>
          <p:nvPr/>
        </p:nvSpPr>
        <p:spPr>
          <a:xfrm xmlns:a="http://schemas.openxmlformats.org/drawingml/2006/main">
            <a:off x="609600" y="53911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C32"/>
                </a:solidFill>
                <a:latin typeface="Arial"/>
                <a:ea typeface="Arial"/>
                <a:cs typeface="Arial"/>
              </a:defRPr>
            </a:defPPr>
            <a:lvl1pPr algn="l">
              <a:buNone/>
              <a:defRPr sz="2175" b="1">
                <a:solidFill>
                  <a:srgbClr val="102C32"/>
                </a:solidFill>
                <a:latin typeface="Arial"/>
                <a:ea typeface="Arial"/>
                <a:cs typeface="Arial"/>
              </a:defRPr>
            </a:lvl1pPr>
            <a:lvl2pPr algn="l">
              <a:buNone/>
              <a:defRPr sz="2175" b="1">
                <a:solidFill>
                  <a:srgbClr val="102C32"/>
                </a:solidFill>
                <a:latin typeface="Arial"/>
                <a:ea typeface="Arial"/>
                <a:cs typeface="Arial"/>
              </a:defRPr>
            </a:lvl2pPr>
            <a:lvl3pPr algn="l">
              <a:buNone/>
              <a:defRPr sz="2175" b="1">
                <a:solidFill>
                  <a:srgbClr val="102C32"/>
                </a:solidFill>
                <a:latin typeface="Arial"/>
                <a:ea typeface="Arial"/>
                <a:cs typeface="Arial"/>
              </a:defRPr>
            </a:lvl3pPr>
            <a:lvl4pPr algn="l">
              <a:buNone/>
              <a:defRPr sz="2175" b="1">
                <a:solidFill>
                  <a:srgbClr val="102C32"/>
                </a:solidFill>
                <a:latin typeface="Arial"/>
                <a:ea typeface="Arial"/>
                <a:cs typeface="Arial"/>
              </a:defRPr>
            </a:lvl4pPr>
            <a:lvl5pPr algn="l">
              <a:buNone/>
              <a:defRPr sz="2175" b="1">
                <a:solidFill>
                  <a:srgbClr val="102C32"/>
                </a:solidFill>
                <a:latin typeface="Arial"/>
                <a:ea typeface="Arial"/>
                <a:cs typeface="Arial"/>
              </a:defRPr>
            </a:lvl5pPr>
            <a:lvl6pPr algn="l">
              <a:buNone/>
              <a:defRPr sz="2175" b="1">
                <a:solidFill>
                  <a:srgbClr val="102C32"/>
                </a:solidFill>
                <a:latin typeface="Arial"/>
                <a:ea typeface="Arial"/>
                <a:cs typeface="Arial"/>
              </a:defRPr>
            </a:lvl6pPr>
            <a:lvl7pPr algn="l">
              <a:buNone/>
              <a:defRPr sz="2175" b="1">
                <a:solidFill>
                  <a:srgbClr val="102C32"/>
                </a:solidFill>
                <a:latin typeface="Arial"/>
                <a:ea typeface="Arial"/>
                <a:cs typeface="Arial"/>
              </a:defRPr>
            </a:lvl7pPr>
            <a:lvl8pPr algn="l">
              <a:buNone/>
              <a:defRPr sz="2175" b="1">
                <a:solidFill>
                  <a:srgbClr val="102C32"/>
                </a:solidFill>
                <a:latin typeface="Arial"/>
                <a:ea typeface="Arial"/>
                <a:cs typeface="Arial"/>
              </a:defRPr>
            </a:lvl8pPr>
            <a:lvl9pPr algn="l">
              <a:buNone/>
              <a:defRPr sz="2175" b="1">
                <a:solidFill>
                  <a:srgbClr val="102C32"/>
                </a:solidFill>
                <a:latin typeface="Arial"/>
                <a:ea typeface="Arial"/>
                <a:cs typeface="Arial"/>
              </a:defRPr>
            </a:lvl9pPr>
          </a:lstStyle>
          <a:p xmlns:a="http://schemas.openxmlformats.org/drawingml/2006/main">
            <a:pPr algn="l">
              <a:buNone/>
              <a:defRPr sz="2175" b="1">
                <a:solidFill>
                  <a:srgbClr val="102C32"/>
                </a:solidFill>
                <a:latin typeface="Arial"/>
                <a:ea typeface="Arial"/>
                <a:cs typeface="Arial"/>
              </a:defRPr>
            </a:pPr>
            <a:r>
              <a:rPr sz="2175" b="1">
                <a:solidFill>
                  <a:srgbClr val="102C32"/>
                </a:solidFill>
                <a:latin typeface="Arial"/>
                <a:ea typeface="Arial"/>
                <a:cs typeface="Arial"/>
              </a:rPr>
              <a:t>Goal: find more profiles with a Yes label within the same review limit</a:t>
            </a:r>
          </a:p>
        </p:txBody>
      </p:sp>
    </p:spTree>
    <p:extLst>
      <p:ext uri="{BB962C8B-B14F-4D97-AF65-F5344CB8AC3E}">
        <p14:creationId xmlns:p14="http://schemas.microsoft.com/office/powerpoint/2010/main" val="587612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773D1B6-59B2-462D-9BE9-4B067D077E9E}"/>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The approved profile data</a:t>
            </a:r>
          </a:p>
        </p:txBody>
      </p:sp>
      <p:sp>
        <p:nvSpPr>
          <p:cNvPr id="2" name="MSBA265  /  Final Project Proposal">
            <a:extLst xmlns:a="http://schemas.openxmlformats.org/drawingml/2006/main">
              <a:ext uri="{FF2B5EF4-FFF2-40B4-BE49-F238E27FC236}">
                <a16:creationId xmlns:a16="http://schemas.microsoft.com/office/drawing/2014/main" id="{21AACC2D-1DFB-4961-B4F2-35E41DEC15E3}"/>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3">
            <a:extLst xmlns:a="http://schemas.openxmlformats.org/drawingml/2006/main">
              <a:ext uri="{FF2B5EF4-FFF2-40B4-BE49-F238E27FC236}">
                <a16:creationId xmlns:a16="http://schemas.microsoft.com/office/drawing/2014/main" id="{26F23E9D-CBE2-4104-B6CA-23DB56CEE95A}"/>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03</a:t>
            </a:r>
          </a:p>
        </p:txBody>
      </p:sp>
      <p:sp>
        <p:nvSpPr>
          <p:cNvPr id="11" name="Kaggle: Predicting Electric Vehicle Purchases">
            <a:extLst xmlns:a="http://schemas.openxmlformats.org/drawingml/2006/main">
              <a:ext uri="{FF2B5EF4-FFF2-40B4-BE49-F238E27FC236}">
                <a16:creationId xmlns:a16="http://schemas.microsoft.com/office/drawing/2014/main" id="{3DE29F57-772E-40B4-98E4-B193BDD9C920}"/>
              </a:ext>
            </a:extLst>
          </p:cNvPr>
          <p:cNvSpPr>
            <a:spLocks xmlns:a="http://schemas.openxmlformats.org/drawingml/2006/main" noGrp="1"/>
          </p:cNvSpPr>
          <p:nvPr/>
        </p:nvSpPr>
        <p:spPr>
          <a:xfrm xmlns:a="http://schemas.openxmlformats.org/drawingml/2006/main">
            <a:off x="609600" y="13144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866C"/>
                </a:solidFill>
                <a:latin typeface="Arial"/>
                <a:ea typeface="Arial"/>
                <a:cs typeface="Arial"/>
              </a:defRPr>
            </a:defPPr>
            <a:lvl1pPr algn="l">
              <a:defRPr sz="2250" b="1">
                <a:solidFill>
                  <a:srgbClr val="15866C"/>
                </a:solidFill>
                <a:latin typeface="Arial"/>
                <a:ea typeface="Arial"/>
                <a:cs typeface="Arial"/>
              </a:defRPr>
            </a:lvl1pPr>
            <a:lvl2pPr algn="l">
              <a:defRPr sz="2250" b="1">
                <a:solidFill>
                  <a:srgbClr val="15866C"/>
                </a:solidFill>
                <a:latin typeface="Arial"/>
                <a:ea typeface="Arial"/>
                <a:cs typeface="Arial"/>
              </a:defRPr>
            </a:lvl2pPr>
            <a:lvl3pPr algn="l">
              <a:defRPr sz="2250" b="1">
                <a:solidFill>
                  <a:srgbClr val="15866C"/>
                </a:solidFill>
                <a:latin typeface="Arial"/>
                <a:ea typeface="Arial"/>
                <a:cs typeface="Arial"/>
              </a:defRPr>
            </a:lvl3pPr>
            <a:lvl4pPr algn="l">
              <a:defRPr sz="2250" b="1">
                <a:solidFill>
                  <a:srgbClr val="15866C"/>
                </a:solidFill>
                <a:latin typeface="Arial"/>
                <a:ea typeface="Arial"/>
                <a:cs typeface="Arial"/>
              </a:defRPr>
            </a:lvl4pPr>
            <a:lvl5pPr algn="l">
              <a:defRPr sz="2250" b="1">
                <a:solidFill>
                  <a:srgbClr val="15866C"/>
                </a:solidFill>
                <a:latin typeface="Arial"/>
                <a:ea typeface="Arial"/>
                <a:cs typeface="Arial"/>
              </a:defRPr>
            </a:lvl5pPr>
            <a:lvl6pPr algn="l">
              <a:defRPr sz="2250" b="1">
                <a:solidFill>
                  <a:srgbClr val="15866C"/>
                </a:solidFill>
                <a:latin typeface="Arial"/>
                <a:ea typeface="Arial"/>
                <a:cs typeface="Arial"/>
              </a:defRPr>
            </a:lvl6pPr>
            <a:lvl7pPr algn="l">
              <a:defRPr sz="2250" b="1">
                <a:solidFill>
                  <a:srgbClr val="15866C"/>
                </a:solidFill>
                <a:latin typeface="Arial"/>
                <a:ea typeface="Arial"/>
                <a:cs typeface="Arial"/>
              </a:defRPr>
            </a:lvl7pPr>
            <a:lvl8pPr algn="l">
              <a:defRPr sz="2250" b="1">
                <a:solidFill>
                  <a:srgbClr val="15866C"/>
                </a:solidFill>
                <a:latin typeface="Arial"/>
                <a:ea typeface="Arial"/>
                <a:cs typeface="Arial"/>
              </a:defRPr>
            </a:lvl8pPr>
            <a:lvl9pPr algn="l">
              <a:defRPr sz="2250" b="1">
                <a:solidFill>
                  <a:srgbClr val="15866C"/>
                </a:solidFill>
                <a:latin typeface="Arial"/>
                <a:ea typeface="Arial"/>
                <a:cs typeface="Arial"/>
              </a:defRPr>
            </a:lvl9pPr>
          </a:lstStyle>
          <a:p xmlns:a="http://schemas.openxmlformats.org/drawingml/2006/main">
            <a:pPr algn="l">
              <a:defRPr sz="2250" b="1">
                <a:solidFill>
                  <a:srgbClr val="15866C"/>
                </a:solidFill>
                <a:latin typeface="Arial"/>
                <a:ea typeface="Arial"/>
                <a:cs typeface="Arial"/>
              </a:defRPr>
            </a:pPr>
            <a:r>
              <a:rPr sz="2250" b="1">
                <a:solidFill>
                  <a:srgbClr val="15866C"/>
                </a:solidFill>
                <a:latin typeface="Arial"/>
                <a:ea typeface="Arial"/>
                <a:cs typeface="Arial"/>
              </a:rPr>
              <a:t>Kaggle: Predicting Electric Vehicle Purchases</a:t>
            </a:r>
          </a:p>
        </p:txBody>
      </p:sp>
      <p:graphicFrame>
        <p:nvGraphicFramePr>
          <p:cNvPr id="12" name="">
            <a:extLst xmlns:a="http://schemas.openxmlformats.org/drawingml/2006/main">
              <a:ext uri="{FF2B5EF4-FFF2-40B4-BE49-F238E27FC236}">
                <a16:creationId xmlns:a16="http://schemas.microsoft.com/office/drawing/2014/main" id="{19BCF12D-8C12-4B7D-9465-7B1D0B2ED263}"/>
              </a:ext>
            </a:extLst>
          </p:cNvPr>
          <p:cNvGraphicFramePr/>
          <p:nvPr/>
        </p:nvGraphicFramePr>
        <p:xfrm>
          <a:off xmlns:a="http://schemas.openxmlformats.org/drawingml/2006/main" x="609600" y="1990725"/>
          <a:ext xmlns:a="http://schemas.openxmlformats.org/drawingml/2006/main" cx="10972800" cy="2133600"/>
        </p:xfrm>
        <a:graphic xmlns:a="http://schemas.openxmlformats.org/drawingml/2006/main">
          <a:graphicData uri="http://schemas.openxmlformats.org/drawingml/2006/table">
            <a:tbl>
              <a:tblPr/>
              <a:tblGrid>
                <a:gridCol w="2952750"/>
                <a:gridCol w="2047875"/>
                <a:gridCol w="5972175"/>
              </a:tblGrid>
              <a:tr h="609600">
                <a:tc>
                  <a:txBody>
                    <a:bodyPr/>
                    <a:lstStyle/>
                    <a:p>
                      <a:r>
                        <a:rPr sz="2025" b="1">
                          <a:solidFill>
                            <a:srgbClr val="FFFFFF"/>
                          </a:solidFill>
                          <a:latin typeface="Arial"/>
                          <a:ea typeface="Arial"/>
                          <a:cs typeface="Arial"/>
                        </a:rPr>
                        <a:t>File</a:t>
                      </a:r>
                    </a:p>
                  </a:txBody>
                  <a:tcPr marL="133350" marR="114300" marT="114300" marB="95250" anchor="ctr">
                    <a:lnL w="9525">
                      <a:solidFill>
                        <a:srgbClr val="CEDDD9"/>
                      </a:solidFill>
                      <a:prstDash val="solid"/>
                    </a:lnL>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Profiles</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Available information</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r>
              <a:tr h="0">
                <a:tc>
                  <a:txBody>
                    <a:bodyPr/>
                    <a:lstStyle/>
                    <a:p>
                      <a:r>
                        <a:rPr sz="2025" b="0">
                          <a:solidFill>
                            <a:srgbClr val="102C32"/>
                          </a:solidFill>
                          <a:latin typeface="Arial"/>
                          <a:ea typeface="Arial"/>
                          <a:cs typeface="Arial"/>
                        </a:rPr>
                        <a:t>train.csv</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668,665</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Profile fields and Yes / No labels</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2025" b="0">
                          <a:solidFill>
                            <a:srgbClr val="102C32"/>
                          </a:solidFill>
                          <a:latin typeface="Arial"/>
                          <a:ea typeface="Arial"/>
                          <a:cs typeface="Arial"/>
                        </a:rPr>
                        <a:t>test.csv</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286,571</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Profile fields without outcome labels</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bl>
          </a:graphicData>
        </a:graphic>
      </p:graphicFrame>
      <p:sp>
        <p:nvSpPr>
          <p:cNvPr id="13" name="13 input fields">
            <a:extLst xmlns:a="http://schemas.openxmlformats.org/drawingml/2006/main">
              <a:ext uri="{FF2B5EF4-FFF2-40B4-BE49-F238E27FC236}">
                <a16:creationId xmlns:a16="http://schemas.microsoft.com/office/drawing/2014/main" id="{2D3EE349-93A8-43BE-942C-9DA8E6BDDA99}"/>
              </a:ext>
            </a:extLst>
          </p:cNvPr>
          <p:cNvSpPr>
            <a:spLocks xmlns:a="http://schemas.openxmlformats.org/drawingml/2006/main" noGrp="1"/>
          </p:cNvSpPr>
          <p:nvPr/>
        </p:nvSpPr>
        <p:spPr>
          <a:xfrm xmlns:a="http://schemas.openxmlformats.org/drawingml/2006/main">
            <a:off x="609600" y="45243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C32"/>
                </a:solidFill>
                <a:latin typeface="Arial"/>
                <a:ea typeface="Arial"/>
                <a:cs typeface="Arial"/>
              </a:defRPr>
            </a:defPPr>
            <a:lvl1pPr algn="l">
              <a:defRPr sz="2325" b="1">
                <a:solidFill>
                  <a:srgbClr val="102C32"/>
                </a:solidFill>
                <a:latin typeface="Arial"/>
                <a:ea typeface="Arial"/>
                <a:cs typeface="Arial"/>
              </a:defRPr>
            </a:lvl1pPr>
            <a:lvl2pPr algn="l">
              <a:defRPr sz="2325" b="1">
                <a:solidFill>
                  <a:srgbClr val="102C32"/>
                </a:solidFill>
                <a:latin typeface="Arial"/>
                <a:ea typeface="Arial"/>
                <a:cs typeface="Arial"/>
              </a:defRPr>
            </a:lvl2pPr>
            <a:lvl3pPr algn="l">
              <a:defRPr sz="2325" b="1">
                <a:solidFill>
                  <a:srgbClr val="102C32"/>
                </a:solidFill>
                <a:latin typeface="Arial"/>
                <a:ea typeface="Arial"/>
                <a:cs typeface="Arial"/>
              </a:defRPr>
            </a:lvl3pPr>
            <a:lvl4pPr algn="l">
              <a:defRPr sz="2325" b="1">
                <a:solidFill>
                  <a:srgbClr val="102C32"/>
                </a:solidFill>
                <a:latin typeface="Arial"/>
                <a:ea typeface="Arial"/>
                <a:cs typeface="Arial"/>
              </a:defRPr>
            </a:lvl4pPr>
            <a:lvl5pPr algn="l">
              <a:defRPr sz="2325" b="1">
                <a:solidFill>
                  <a:srgbClr val="102C32"/>
                </a:solidFill>
                <a:latin typeface="Arial"/>
                <a:ea typeface="Arial"/>
                <a:cs typeface="Arial"/>
              </a:defRPr>
            </a:lvl5pPr>
            <a:lvl6pPr algn="l">
              <a:defRPr sz="2325" b="1">
                <a:solidFill>
                  <a:srgbClr val="102C32"/>
                </a:solidFill>
                <a:latin typeface="Arial"/>
                <a:ea typeface="Arial"/>
                <a:cs typeface="Arial"/>
              </a:defRPr>
            </a:lvl6pPr>
            <a:lvl7pPr algn="l">
              <a:defRPr sz="2325" b="1">
                <a:solidFill>
                  <a:srgbClr val="102C32"/>
                </a:solidFill>
                <a:latin typeface="Arial"/>
                <a:ea typeface="Arial"/>
                <a:cs typeface="Arial"/>
              </a:defRPr>
            </a:lvl7pPr>
            <a:lvl8pPr algn="l">
              <a:defRPr sz="2325" b="1">
                <a:solidFill>
                  <a:srgbClr val="102C32"/>
                </a:solidFill>
                <a:latin typeface="Arial"/>
                <a:ea typeface="Arial"/>
                <a:cs typeface="Arial"/>
              </a:defRPr>
            </a:lvl8pPr>
            <a:lvl9pPr algn="l">
              <a:defRPr sz="2325" b="1">
                <a:solidFill>
                  <a:srgbClr val="102C32"/>
                </a:solidFill>
                <a:latin typeface="Arial"/>
                <a:ea typeface="Arial"/>
                <a:cs typeface="Arial"/>
              </a:defRPr>
            </a:lvl9pPr>
          </a:lstStyle>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13 input fields</a:t>
            </a:r>
          </a:p>
        </p:txBody>
      </p:sp>
      <p:sp>
        <p:nvSpPr>
          <p:cNvPr id="14" name="Travel, charging, finances and attitudes&#10;Recor">
            <a:extLst xmlns:a="http://schemas.openxmlformats.org/drawingml/2006/main">
              <a:ext uri="{FF2B5EF4-FFF2-40B4-BE49-F238E27FC236}">
                <a16:creationId xmlns:a16="http://schemas.microsoft.com/office/drawing/2014/main" id="{C0264568-0921-43E8-98A6-160FF5493210}"/>
              </a:ext>
            </a:extLst>
          </p:cNvPr>
          <p:cNvSpPr>
            <a:spLocks xmlns:a="http://schemas.openxmlformats.org/drawingml/2006/main" noGrp="1"/>
          </p:cNvSpPr>
          <p:nvPr/>
        </p:nvSpPr>
        <p:spPr>
          <a:xfrm xmlns:a="http://schemas.openxmlformats.org/drawingml/2006/main">
            <a:off x="609600" y="50101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02C32"/>
                </a:solidFill>
                <a:latin typeface="Arial"/>
                <a:ea typeface="Arial"/>
                <a:cs typeface="Arial"/>
              </a:defRPr>
            </a:defPPr>
            <a:lvl1pPr algn="l">
              <a:defRPr sz="1875" b="0">
                <a:solidFill>
                  <a:srgbClr val="102C32"/>
                </a:solidFill>
                <a:latin typeface="Arial"/>
                <a:ea typeface="Arial"/>
                <a:cs typeface="Arial"/>
              </a:defRPr>
            </a:lvl1pPr>
            <a:lvl2pPr algn="l">
              <a:defRPr sz="1875" b="0">
                <a:solidFill>
                  <a:srgbClr val="102C32"/>
                </a:solidFill>
                <a:latin typeface="Arial"/>
                <a:ea typeface="Arial"/>
                <a:cs typeface="Arial"/>
              </a:defRPr>
            </a:lvl2pPr>
            <a:lvl3pPr algn="l">
              <a:defRPr sz="1875" b="0">
                <a:solidFill>
                  <a:srgbClr val="102C32"/>
                </a:solidFill>
                <a:latin typeface="Arial"/>
                <a:ea typeface="Arial"/>
                <a:cs typeface="Arial"/>
              </a:defRPr>
            </a:lvl3pPr>
            <a:lvl4pPr algn="l">
              <a:defRPr sz="1875" b="0">
                <a:solidFill>
                  <a:srgbClr val="102C32"/>
                </a:solidFill>
                <a:latin typeface="Arial"/>
                <a:ea typeface="Arial"/>
                <a:cs typeface="Arial"/>
              </a:defRPr>
            </a:lvl4pPr>
            <a:lvl5pPr algn="l">
              <a:defRPr sz="1875" b="0">
                <a:solidFill>
                  <a:srgbClr val="102C32"/>
                </a:solidFill>
                <a:latin typeface="Arial"/>
                <a:ea typeface="Arial"/>
                <a:cs typeface="Arial"/>
              </a:defRPr>
            </a:lvl5pPr>
            <a:lvl6pPr algn="l">
              <a:defRPr sz="1875" b="0">
                <a:solidFill>
                  <a:srgbClr val="102C32"/>
                </a:solidFill>
                <a:latin typeface="Arial"/>
                <a:ea typeface="Arial"/>
                <a:cs typeface="Arial"/>
              </a:defRPr>
            </a:lvl6pPr>
            <a:lvl7pPr algn="l">
              <a:defRPr sz="1875" b="0">
                <a:solidFill>
                  <a:srgbClr val="102C32"/>
                </a:solidFill>
                <a:latin typeface="Arial"/>
                <a:ea typeface="Arial"/>
                <a:cs typeface="Arial"/>
              </a:defRPr>
            </a:lvl7pPr>
            <a:lvl8pPr algn="l">
              <a:defRPr sz="1875" b="0">
                <a:solidFill>
                  <a:srgbClr val="102C32"/>
                </a:solidFill>
                <a:latin typeface="Arial"/>
                <a:ea typeface="Arial"/>
                <a:cs typeface="Arial"/>
              </a:defRPr>
            </a:lvl8pPr>
            <a:lvl9pPr algn="l">
              <a:defRPr sz="1875" b="0">
                <a:solidFill>
                  <a:srgbClr val="102C32"/>
                </a:solidFill>
                <a:latin typeface="Arial"/>
                <a:ea typeface="Arial"/>
                <a:cs typeface="Arial"/>
              </a:defRPr>
            </a:lvl9pPr>
          </a:lstStyle>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Travel, charging, finances and attitudes</a:t>
            </a:r>
          </a:p>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Recorded demographics provide context.</a:t>
            </a:r>
          </a:p>
        </p:txBody>
      </p:sp>
      <p:sp>
        <p:nvSpPr>
          <p:cNvPr id="15" name="Synthetic profiles with IDs">
            <a:extLst xmlns:a="http://schemas.openxmlformats.org/drawingml/2006/main">
              <a:ext uri="{FF2B5EF4-FFF2-40B4-BE49-F238E27FC236}">
                <a16:creationId xmlns:a16="http://schemas.microsoft.com/office/drawing/2014/main" id="{01F58E1C-0DA7-4595-8264-76A8F1C9CE01}"/>
              </a:ext>
            </a:extLst>
          </p:cNvPr>
          <p:cNvSpPr>
            <a:spLocks xmlns:a="http://schemas.openxmlformats.org/drawingml/2006/main" noGrp="1"/>
          </p:cNvSpPr>
          <p:nvPr/>
        </p:nvSpPr>
        <p:spPr>
          <a:xfrm xmlns:a="http://schemas.openxmlformats.org/drawingml/2006/main">
            <a:off x="6705600" y="452437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C32"/>
                </a:solidFill>
                <a:latin typeface="Arial"/>
                <a:ea typeface="Arial"/>
                <a:cs typeface="Arial"/>
              </a:defRPr>
            </a:defPPr>
            <a:lvl1pPr algn="l">
              <a:defRPr sz="2325" b="1">
                <a:solidFill>
                  <a:srgbClr val="102C32"/>
                </a:solidFill>
                <a:latin typeface="Arial"/>
                <a:ea typeface="Arial"/>
                <a:cs typeface="Arial"/>
              </a:defRPr>
            </a:lvl1pPr>
            <a:lvl2pPr algn="l">
              <a:defRPr sz="2325" b="1">
                <a:solidFill>
                  <a:srgbClr val="102C32"/>
                </a:solidFill>
                <a:latin typeface="Arial"/>
                <a:ea typeface="Arial"/>
                <a:cs typeface="Arial"/>
              </a:defRPr>
            </a:lvl2pPr>
            <a:lvl3pPr algn="l">
              <a:defRPr sz="2325" b="1">
                <a:solidFill>
                  <a:srgbClr val="102C32"/>
                </a:solidFill>
                <a:latin typeface="Arial"/>
                <a:ea typeface="Arial"/>
                <a:cs typeface="Arial"/>
              </a:defRPr>
            </a:lvl3pPr>
            <a:lvl4pPr algn="l">
              <a:defRPr sz="2325" b="1">
                <a:solidFill>
                  <a:srgbClr val="102C32"/>
                </a:solidFill>
                <a:latin typeface="Arial"/>
                <a:ea typeface="Arial"/>
                <a:cs typeface="Arial"/>
              </a:defRPr>
            </a:lvl4pPr>
            <a:lvl5pPr algn="l">
              <a:defRPr sz="2325" b="1">
                <a:solidFill>
                  <a:srgbClr val="102C32"/>
                </a:solidFill>
                <a:latin typeface="Arial"/>
                <a:ea typeface="Arial"/>
                <a:cs typeface="Arial"/>
              </a:defRPr>
            </a:lvl5pPr>
            <a:lvl6pPr algn="l">
              <a:defRPr sz="2325" b="1">
                <a:solidFill>
                  <a:srgbClr val="102C32"/>
                </a:solidFill>
                <a:latin typeface="Arial"/>
                <a:ea typeface="Arial"/>
                <a:cs typeface="Arial"/>
              </a:defRPr>
            </a:lvl6pPr>
            <a:lvl7pPr algn="l">
              <a:defRPr sz="2325" b="1">
                <a:solidFill>
                  <a:srgbClr val="102C32"/>
                </a:solidFill>
                <a:latin typeface="Arial"/>
                <a:ea typeface="Arial"/>
                <a:cs typeface="Arial"/>
              </a:defRPr>
            </a:lvl7pPr>
            <a:lvl8pPr algn="l">
              <a:defRPr sz="2325" b="1">
                <a:solidFill>
                  <a:srgbClr val="102C32"/>
                </a:solidFill>
                <a:latin typeface="Arial"/>
                <a:ea typeface="Arial"/>
                <a:cs typeface="Arial"/>
              </a:defRPr>
            </a:lvl8pPr>
            <a:lvl9pPr algn="l">
              <a:defRPr sz="2325" b="1">
                <a:solidFill>
                  <a:srgbClr val="102C32"/>
                </a:solidFill>
                <a:latin typeface="Arial"/>
                <a:ea typeface="Arial"/>
                <a:cs typeface="Arial"/>
              </a:defRPr>
            </a:lvl9pPr>
          </a:lstStyle>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Synthetic profiles with IDs</a:t>
            </a:r>
          </a:p>
        </p:txBody>
      </p:sp>
      <p:sp>
        <p:nvSpPr>
          <p:cNvPr id="16" name="No names, emails or phone numbers&#10;Preferences ">
            <a:extLst xmlns:a="http://schemas.openxmlformats.org/drawingml/2006/main">
              <a:ext uri="{FF2B5EF4-FFF2-40B4-BE49-F238E27FC236}">
                <a16:creationId xmlns:a16="http://schemas.microsoft.com/office/drawing/2014/main" id="{74FB757E-6D72-4B46-87F9-F22F32091B09}"/>
              </a:ext>
            </a:extLst>
          </p:cNvPr>
          <p:cNvSpPr>
            <a:spLocks xmlns:a="http://schemas.openxmlformats.org/drawingml/2006/main" noGrp="1"/>
          </p:cNvSpPr>
          <p:nvPr/>
        </p:nvSpPr>
        <p:spPr>
          <a:xfrm xmlns:a="http://schemas.openxmlformats.org/drawingml/2006/main">
            <a:off x="6705600" y="501015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02C32"/>
                </a:solidFill>
                <a:latin typeface="Arial"/>
                <a:ea typeface="Arial"/>
                <a:cs typeface="Arial"/>
              </a:defRPr>
            </a:defPPr>
            <a:lvl1pPr algn="l">
              <a:defRPr sz="1875" b="0">
                <a:solidFill>
                  <a:srgbClr val="102C32"/>
                </a:solidFill>
                <a:latin typeface="Arial"/>
                <a:ea typeface="Arial"/>
                <a:cs typeface="Arial"/>
              </a:defRPr>
            </a:lvl1pPr>
            <a:lvl2pPr algn="l">
              <a:defRPr sz="1875" b="0">
                <a:solidFill>
                  <a:srgbClr val="102C32"/>
                </a:solidFill>
                <a:latin typeface="Arial"/>
                <a:ea typeface="Arial"/>
                <a:cs typeface="Arial"/>
              </a:defRPr>
            </a:lvl2pPr>
            <a:lvl3pPr algn="l">
              <a:defRPr sz="1875" b="0">
                <a:solidFill>
                  <a:srgbClr val="102C32"/>
                </a:solidFill>
                <a:latin typeface="Arial"/>
                <a:ea typeface="Arial"/>
                <a:cs typeface="Arial"/>
              </a:defRPr>
            </a:lvl3pPr>
            <a:lvl4pPr algn="l">
              <a:defRPr sz="1875" b="0">
                <a:solidFill>
                  <a:srgbClr val="102C32"/>
                </a:solidFill>
                <a:latin typeface="Arial"/>
                <a:ea typeface="Arial"/>
                <a:cs typeface="Arial"/>
              </a:defRPr>
            </a:lvl4pPr>
            <a:lvl5pPr algn="l">
              <a:defRPr sz="1875" b="0">
                <a:solidFill>
                  <a:srgbClr val="102C32"/>
                </a:solidFill>
                <a:latin typeface="Arial"/>
                <a:ea typeface="Arial"/>
                <a:cs typeface="Arial"/>
              </a:defRPr>
            </a:lvl5pPr>
            <a:lvl6pPr algn="l">
              <a:defRPr sz="1875" b="0">
                <a:solidFill>
                  <a:srgbClr val="102C32"/>
                </a:solidFill>
                <a:latin typeface="Arial"/>
                <a:ea typeface="Arial"/>
                <a:cs typeface="Arial"/>
              </a:defRPr>
            </a:lvl6pPr>
            <a:lvl7pPr algn="l">
              <a:defRPr sz="1875" b="0">
                <a:solidFill>
                  <a:srgbClr val="102C32"/>
                </a:solidFill>
                <a:latin typeface="Arial"/>
                <a:ea typeface="Arial"/>
                <a:cs typeface="Arial"/>
              </a:defRPr>
            </a:lvl7pPr>
            <a:lvl8pPr algn="l">
              <a:defRPr sz="1875" b="0">
                <a:solidFill>
                  <a:srgbClr val="102C32"/>
                </a:solidFill>
                <a:latin typeface="Arial"/>
                <a:ea typeface="Arial"/>
                <a:cs typeface="Arial"/>
              </a:defRPr>
            </a:lvl8pPr>
            <a:lvl9pPr algn="l">
              <a:defRPr sz="1875" b="0">
                <a:solidFill>
                  <a:srgbClr val="102C32"/>
                </a:solidFill>
                <a:latin typeface="Arial"/>
                <a:ea typeface="Arial"/>
                <a:cs typeface="Arial"/>
              </a:defRPr>
            </a:lvl9pPr>
          </a:lstStyle>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No names, emails or phone numbers</a:t>
            </a:r>
          </a:p>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Preferences and affordability remain unverified.</a:t>
            </a:r>
          </a:p>
        </p:txBody>
      </p:sp>
    </p:spTree>
    <p:extLst>
      <p:ext uri="{BB962C8B-B14F-4D97-AF65-F5344CB8AC3E}">
        <p14:creationId xmlns:p14="http://schemas.microsoft.com/office/powerpoint/2010/main" val="9655100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4990EF9-805A-4714-B4E5-97B6147EEB07}"/>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buNone/>
              <a:defRPr sz="3300" b="1">
                <a:solidFill>
                  <a:srgbClr val="102C32"/>
                </a:solidFill>
                <a:latin typeface="Arial"/>
                <a:ea typeface="Arial"/>
                <a:cs typeface="Arial"/>
              </a:defRPr>
            </a:lvl1pPr>
            <a:lvl2pPr>
              <a:buNone/>
              <a:defRPr sz="3300" b="1">
                <a:solidFill>
                  <a:srgbClr val="102C32"/>
                </a:solidFill>
                <a:latin typeface="Arial"/>
                <a:ea typeface="Arial"/>
                <a:cs typeface="Arial"/>
              </a:defRPr>
            </a:lvl2pPr>
            <a:lvl3pPr>
              <a:buNone/>
              <a:defRPr sz="3300" b="1">
                <a:solidFill>
                  <a:srgbClr val="102C32"/>
                </a:solidFill>
                <a:latin typeface="Arial"/>
                <a:ea typeface="Arial"/>
                <a:cs typeface="Arial"/>
              </a:defRPr>
            </a:lvl3pPr>
            <a:lvl4pPr>
              <a:buNone/>
              <a:defRPr sz="3300" b="1">
                <a:solidFill>
                  <a:srgbClr val="102C32"/>
                </a:solidFill>
                <a:latin typeface="Arial"/>
                <a:ea typeface="Arial"/>
                <a:cs typeface="Arial"/>
              </a:defRPr>
            </a:lvl4pPr>
            <a:lvl5pPr>
              <a:buNone/>
              <a:defRPr sz="3300" b="1">
                <a:solidFill>
                  <a:srgbClr val="102C32"/>
                </a:solidFill>
                <a:latin typeface="Arial"/>
                <a:ea typeface="Arial"/>
                <a:cs typeface="Arial"/>
              </a:defRPr>
            </a:lvl5pPr>
            <a:lvl6pPr>
              <a:buNone/>
              <a:defRPr sz="3300" b="1">
                <a:solidFill>
                  <a:srgbClr val="102C32"/>
                </a:solidFill>
                <a:latin typeface="Arial"/>
                <a:ea typeface="Arial"/>
                <a:cs typeface="Arial"/>
              </a:defRPr>
            </a:lvl6pPr>
            <a:lvl7pPr>
              <a:buNone/>
              <a:defRPr sz="3300" b="1">
                <a:solidFill>
                  <a:srgbClr val="102C32"/>
                </a:solidFill>
                <a:latin typeface="Arial"/>
                <a:ea typeface="Arial"/>
                <a:cs typeface="Arial"/>
              </a:defRPr>
            </a:lvl7pPr>
            <a:lvl8pPr>
              <a:buNone/>
              <a:defRPr sz="3300" b="1">
                <a:solidFill>
                  <a:srgbClr val="102C32"/>
                </a:solidFill>
                <a:latin typeface="Arial"/>
                <a:ea typeface="Arial"/>
                <a:cs typeface="Arial"/>
              </a:defRPr>
            </a:lvl8pPr>
            <a:lvl9pPr>
              <a:buNone/>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Customer Conversation Guide</a:t>
            </a:r>
          </a:p>
        </p:txBody>
      </p:sp>
      <p:sp>
        <p:nvSpPr>
          <p:cNvPr id="2" name="MSBA265  /  Final Project Proposal">
            <a:extLst xmlns:a="http://schemas.openxmlformats.org/drawingml/2006/main">
              <a:ext uri="{FF2B5EF4-FFF2-40B4-BE49-F238E27FC236}">
                <a16:creationId xmlns:a16="http://schemas.microsoft.com/office/drawing/2014/main" id="{BAF65893-36E2-494B-945D-4F788C8E9ED6}"/>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4">
            <a:extLst xmlns:a="http://schemas.openxmlformats.org/drawingml/2006/main">
              <a:ext uri="{FF2B5EF4-FFF2-40B4-BE49-F238E27FC236}">
                <a16:creationId xmlns:a16="http://schemas.microsoft.com/office/drawing/2014/main" id="{68F858B6-687F-4CCE-82AC-E5B5DBEEBF24}"/>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04</a:t>
            </a:r>
          </a:p>
        </p:txBody>
      </p:sp>
      <p:sp>
        <p:nvSpPr>
          <p:cNvPr id="11" name="A draft for staff to review and edit">
            <a:extLst xmlns:a="http://schemas.openxmlformats.org/drawingml/2006/main">
              <a:ext uri="{FF2B5EF4-FFF2-40B4-BE49-F238E27FC236}">
                <a16:creationId xmlns:a16="http://schemas.microsoft.com/office/drawing/2014/main" id="{86307000-0DB2-4A07-B00E-E2E5A99D14BB}"/>
              </a:ext>
            </a:extLst>
          </p:cNvPr>
          <p:cNvSpPr>
            <a:spLocks xmlns:a="http://schemas.openxmlformats.org/drawingml/2006/main" noGrp="1"/>
          </p:cNvSpPr>
          <p:nvPr/>
        </p:nvSpPr>
        <p:spPr>
          <a:xfrm xmlns:a="http://schemas.openxmlformats.org/drawingml/2006/main">
            <a:off x="609600" y="13716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5866C"/>
                </a:solidFill>
                <a:latin typeface="Arial"/>
                <a:ea typeface="Arial"/>
                <a:cs typeface="Arial"/>
              </a:defRPr>
            </a:defPPr>
            <a:lvl1pPr>
              <a:defRPr sz="2325" b="1">
                <a:solidFill>
                  <a:srgbClr val="15866C"/>
                </a:solidFill>
                <a:latin typeface="Arial"/>
                <a:ea typeface="Arial"/>
                <a:cs typeface="Arial"/>
              </a:defRPr>
            </a:lvl1pPr>
            <a:lvl2pPr>
              <a:defRPr sz="2325" b="1">
                <a:solidFill>
                  <a:srgbClr val="15866C"/>
                </a:solidFill>
                <a:latin typeface="Arial"/>
                <a:ea typeface="Arial"/>
                <a:cs typeface="Arial"/>
              </a:defRPr>
            </a:lvl2pPr>
            <a:lvl3pPr>
              <a:defRPr sz="2325" b="1">
                <a:solidFill>
                  <a:srgbClr val="15866C"/>
                </a:solidFill>
                <a:latin typeface="Arial"/>
                <a:ea typeface="Arial"/>
                <a:cs typeface="Arial"/>
              </a:defRPr>
            </a:lvl3pPr>
            <a:lvl4pPr>
              <a:defRPr sz="2325" b="1">
                <a:solidFill>
                  <a:srgbClr val="15866C"/>
                </a:solidFill>
                <a:latin typeface="Arial"/>
                <a:ea typeface="Arial"/>
                <a:cs typeface="Arial"/>
              </a:defRPr>
            </a:lvl4pPr>
            <a:lvl5pPr>
              <a:defRPr sz="2325" b="1">
                <a:solidFill>
                  <a:srgbClr val="15866C"/>
                </a:solidFill>
                <a:latin typeface="Arial"/>
                <a:ea typeface="Arial"/>
                <a:cs typeface="Arial"/>
              </a:defRPr>
            </a:lvl5pPr>
            <a:lvl6pPr>
              <a:defRPr sz="2325" b="1">
                <a:solidFill>
                  <a:srgbClr val="15866C"/>
                </a:solidFill>
                <a:latin typeface="Arial"/>
                <a:ea typeface="Arial"/>
                <a:cs typeface="Arial"/>
              </a:defRPr>
            </a:lvl6pPr>
            <a:lvl7pPr>
              <a:defRPr sz="2325" b="1">
                <a:solidFill>
                  <a:srgbClr val="15866C"/>
                </a:solidFill>
                <a:latin typeface="Arial"/>
                <a:ea typeface="Arial"/>
                <a:cs typeface="Arial"/>
              </a:defRPr>
            </a:lvl7pPr>
            <a:lvl8pPr>
              <a:defRPr sz="2325" b="1">
                <a:solidFill>
                  <a:srgbClr val="15866C"/>
                </a:solidFill>
                <a:latin typeface="Arial"/>
                <a:ea typeface="Arial"/>
                <a:cs typeface="Arial"/>
              </a:defRPr>
            </a:lvl8pPr>
            <a:lvl9pPr>
              <a:defRPr sz="2325" b="1">
                <a:solidFill>
                  <a:srgbClr val="15866C"/>
                </a:solidFill>
                <a:latin typeface="Arial"/>
                <a:ea typeface="Arial"/>
                <a:cs typeface="Arial"/>
              </a:defRPr>
            </a:lvl9pPr>
          </a:lstStyle>
          <a:p xmlns:a="http://schemas.openxmlformats.org/drawingml/2006/main">
            <a:pPr>
              <a:defRPr sz="2325" b="1">
                <a:solidFill>
                  <a:srgbClr val="15866C"/>
                </a:solidFill>
                <a:latin typeface="Arial"/>
                <a:ea typeface="Arial"/>
                <a:cs typeface="Arial"/>
              </a:defRPr>
            </a:pPr>
            <a:r>
              <a:rPr sz="2325" b="1">
                <a:solidFill>
                  <a:srgbClr val="15866C"/>
                </a:solidFill>
                <a:latin typeface="Arial"/>
                <a:ea typeface="Arial"/>
                <a:cs typeface="Arial"/>
              </a:rPr>
              <a:t>A draft for staff to review and edit</a:t>
            </a:r>
          </a:p>
        </p:txBody>
      </p:sp>
      <p:sp>
        <p:nvSpPr>
          <p:cNvPr id="12" name="1">
            <a:extLst xmlns:a="http://schemas.openxmlformats.org/drawingml/2006/main">
              <a:ext uri="{FF2B5EF4-FFF2-40B4-BE49-F238E27FC236}">
                <a16:creationId xmlns:a16="http://schemas.microsoft.com/office/drawing/2014/main" id="{60BEF635-CACC-47E8-BF0C-C6A595A155AB}"/>
              </a:ext>
            </a:extLst>
          </p:cNvPr>
          <p:cNvSpPr>
            <a:spLocks xmlns:a="http://schemas.openxmlformats.org/drawingml/2006/main" noGrp="1"/>
          </p:cNvSpPr>
          <p:nvPr/>
        </p:nvSpPr>
        <p:spPr>
          <a:xfrm xmlns:a="http://schemas.openxmlformats.org/drawingml/2006/main">
            <a:off x="609600" y="225742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5866C"/>
                </a:solidFill>
                <a:latin typeface="Arial"/>
                <a:ea typeface="Arial"/>
                <a:cs typeface="Arial"/>
              </a:defRPr>
            </a:defPPr>
            <a:lvl1pPr>
              <a:defRPr sz="2700" b="1">
                <a:solidFill>
                  <a:srgbClr val="15866C"/>
                </a:solidFill>
                <a:latin typeface="Arial"/>
                <a:ea typeface="Arial"/>
                <a:cs typeface="Arial"/>
              </a:defRPr>
            </a:lvl1pPr>
            <a:lvl2pPr>
              <a:defRPr sz="2700" b="1">
                <a:solidFill>
                  <a:srgbClr val="15866C"/>
                </a:solidFill>
                <a:latin typeface="Arial"/>
                <a:ea typeface="Arial"/>
                <a:cs typeface="Arial"/>
              </a:defRPr>
            </a:lvl2pPr>
            <a:lvl3pPr>
              <a:defRPr sz="2700" b="1">
                <a:solidFill>
                  <a:srgbClr val="15866C"/>
                </a:solidFill>
                <a:latin typeface="Arial"/>
                <a:ea typeface="Arial"/>
                <a:cs typeface="Arial"/>
              </a:defRPr>
            </a:lvl3pPr>
            <a:lvl4pPr>
              <a:defRPr sz="2700" b="1">
                <a:solidFill>
                  <a:srgbClr val="15866C"/>
                </a:solidFill>
                <a:latin typeface="Arial"/>
                <a:ea typeface="Arial"/>
                <a:cs typeface="Arial"/>
              </a:defRPr>
            </a:lvl4pPr>
            <a:lvl5pPr>
              <a:defRPr sz="2700" b="1">
                <a:solidFill>
                  <a:srgbClr val="15866C"/>
                </a:solidFill>
                <a:latin typeface="Arial"/>
                <a:ea typeface="Arial"/>
                <a:cs typeface="Arial"/>
              </a:defRPr>
            </a:lvl5pPr>
            <a:lvl6pPr>
              <a:defRPr sz="2700" b="1">
                <a:solidFill>
                  <a:srgbClr val="15866C"/>
                </a:solidFill>
                <a:latin typeface="Arial"/>
                <a:ea typeface="Arial"/>
                <a:cs typeface="Arial"/>
              </a:defRPr>
            </a:lvl6pPr>
            <a:lvl7pPr>
              <a:defRPr sz="2700" b="1">
                <a:solidFill>
                  <a:srgbClr val="15866C"/>
                </a:solidFill>
                <a:latin typeface="Arial"/>
                <a:ea typeface="Arial"/>
                <a:cs typeface="Arial"/>
              </a:defRPr>
            </a:lvl7pPr>
            <a:lvl8pPr>
              <a:defRPr sz="2700" b="1">
                <a:solidFill>
                  <a:srgbClr val="15866C"/>
                </a:solidFill>
                <a:latin typeface="Arial"/>
                <a:ea typeface="Arial"/>
                <a:cs typeface="Arial"/>
              </a:defRPr>
            </a:lvl8pPr>
            <a:lvl9pPr>
              <a:defRPr sz="2700" b="1">
                <a:solidFill>
                  <a:srgbClr val="15866C"/>
                </a:solidFill>
                <a:latin typeface="Arial"/>
                <a:ea typeface="Arial"/>
                <a:cs typeface="Arial"/>
              </a:defRPr>
            </a:lvl9pPr>
          </a:lstStyle>
          <a:p xmlns:a="http://schemas.openxmlformats.org/drawingml/2006/main">
            <a:pPr>
              <a:defRPr sz="2700" b="1">
                <a:solidFill>
                  <a:srgbClr val="15866C"/>
                </a:solidFill>
                <a:latin typeface="Arial"/>
                <a:ea typeface="Arial"/>
                <a:cs typeface="Arial"/>
              </a:defRPr>
            </a:pPr>
            <a:r>
              <a:rPr sz="2700" b="1">
                <a:solidFill>
                  <a:srgbClr val="15866C"/>
                </a:solidFill>
                <a:latin typeface="Arial"/>
                <a:ea typeface="Arial"/>
                <a:cs typeface="Arial"/>
              </a:rPr>
              <a:t>1</a:t>
            </a:r>
          </a:p>
        </p:txBody>
      </p:sp>
      <p:sp>
        <p:nvSpPr>
          <p:cNvPr id="13" name="Upload profiles and rank a shortlist">
            <a:extLst xmlns:a="http://schemas.openxmlformats.org/drawingml/2006/main">
              <a:ext uri="{FF2B5EF4-FFF2-40B4-BE49-F238E27FC236}">
                <a16:creationId xmlns:a16="http://schemas.microsoft.com/office/drawing/2014/main" id="{17C91910-11F5-4385-8D59-1530351A113B}"/>
              </a:ext>
            </a:extLst>
          </p:cNvPr>
          <p:cNvSpPr>
            <a:spLocks xmlns:a="http://schemas.openxmlformats.org/drawingml/2006/main" noGrp="1"/>
          </p:cNvSpPr>
          <p:nvPr/>
        </p:nvSpPr>
        <p:spPr>
          <a:xfrm xmlns:a="http://schemas.openxmlformats.org/drawingml/2006/main">
            <a:off x="1295400" y="23145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02C32"/>
                </a:solidFill>
                <a:latin typeface="Arial"/>
                <a:ea typeface="Arial"/>
                <a:cs typeface="Arial"/>
              </a:defRPr>
            </a:defPPr>
            <a:lvl1pPr>
              <a:defRPr sz="2175" b="0">
                <a:solidFill>
                  <a:srgbClr val="102C32"/>
                </a:solidFill>
                <a:latin typeface="Arial"/>
                <a:ea typeface="Arial"/>
                <a:cs typeface="Arial"/>
              </a:defRPr>
            </a:lvl1pPr>
            <a:lvl2pPr>
              <a:defRPr sz="2175" b="0">
                <a:solidFill>
                  <a:srgbClr val="102C32"/>
                </a:solidFill>
                <a:latin typeface="Arial"/>
                <a:ea typeface="Arial"/>
                <a:cs typeface="Arial"/>
              </a:defRPr>
            </a:lvl2pPr>
            <a:lvl3pPr>
              <a:defRPr sz="2175" b="0">
                <a:solidFill>
                  <a:srgbClr val="102C32"/>
                </a:solidFill>
                <a:latin typeface="Arial"/>
                <a:ea typeface="Arial"/>
                <a:cs typeface="Arial"/>
              </a:defRPr>
            </a:lvl3pPr>
            <a:lvl4pPr>
              <a:defRPr sz="2175" b="0">
                <a:solidFill>
                  <a:srgbClr val="102C32"/>
                </a:solidFill>
                <a:latin typeface="Arial"/>
                <a:ea typeface="Arial"/>
                <a:cs typeface="Arial"/>
              </a:defRPr>
            </a:lvl4pPr>
            <a:lvl5pPr>
              <a:defRPr sz="2175" b="0">
                <a:solidFill>
                  <a:srgbClr val="102C32"/>
                </a:solidFill>
                <a:latin typeface="Arial"/>
                <a:ea typeface="Arial"/>
                <a:cs typeface="Arial"/>
              </a:defRPr>
            </a:lvl5pPr>
            <a:lvl6pPr>
              <a:defRPr sz="2175" b="0">
                <a:solidFill>
                  <a:srgbClr val="102C32"/>
                </a:solidFill>
                <a:latin typeface="Arial"/>
                <a:ea typeface="Arial"/>
                <a:cs typeface="Arial"/>
              </a:defRPr>
            </a:lvl6pPr>
            <a:lvl7pPr>
              <a:defRPr sz="2175" b="0">
                <a:solidFill>
                  <a:srgbClr val="102C32"/>
                </a:solidFill>
                <a:latin typeface="Arial"/>
                <a:ea typeface="Arial"/>
                <a:cs typeface="Arial"/>
              </a:defRPr>
            </a:lvl7pPr>
            <a:lvl8pPr>
              <a:defRPr sz="2175" b="0">
                <a:solidFill>
                  <a:srgbClr val="102C32"/>
                </a:solidFill>
                <a:latin typeface="Arial"/>
                <a:ea typeface="Arial"/>
                <a:cs typeface="Arial"/>
              </a:defRPr>
            </a:lvl8pPr>
            <a:lvl9pPr>
              <a:defRPr sz="2175" b="0">
                <a:solidFill>
                  <a:srgbClr val="102C32"/>
                </a:solidFill>
                <a:latin typeface="Arial"/>
                <a:ea typeface="Arial"/>
                <a:cs typeface="Arial"/>
              </a:defRPr>
            </a:lvl9pPr>
          </a:lstStyle>
          <a:p xmlns:a="http://schemas.openxmlformats.org/drawingml/2006/main">
            <a:pPr>
              <a:defRPr sz="2175" b="0">
                <a:solidFill>
                  <a:srgbClr val="102C32"/>
                </a:solidFill>
                <a:latin typeface="Arial"/>
                <a:ea typeface="Arial"/>
                <a:cs typeface="Arial"/>
              </a:defRPr>
            </a:pPr>
            <a:r>
              <a:rPr sz="2175" b="0">
                <a:solidFill>
                  <a:srgbClr val="102C32"/>
                </a:solidFill>
                <a:latin typeface="Arial"/>
                <a:ea typeface="Arial"/>
                <a:cs typeface="Arial"/>
              </a:rPr>
              <a:t>Upload profiles and rank a shortlist</a:t>
            </a:r>
          </a:p>
        </p:txBody>
      </p:sp>
      <p:sp>
        <p:nvSpPr>
          <p:cNvPr id="14" name="2">
            <a:extLst xmlns:a="http://schemas.openxmlformats.org/drawingml/2006/main">
              <a:ext uri="{FF2B5EF4-FFF2-40B4-BE49-F238E27FC236}">
                <a16:creationId xmlns:a16="http://schemas.microsoft.com/office/drawing/2014/main" id="{F40CA098-A7C0-469B-A089-9AA03669221C}"/>
              </a:ext>
            </a:extLst>
          </p:cNvPr>
          <p:cNvSpPr>
            <a:spLocks xmlns:a="http://schemas.openxmlformats.org/drawingml/2006/main" noGrp="1"/>
          </p:cNvSpPr>
          <p:nvPr/>
        </p:nvSpPr>
        <p:spPr>
          <a:xfrm xmlns:a="http://schemas.openxmlformats.org/drawingml/2006/main">
            <a:off x="609600" y="303847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5866C"/>
                </a:solidFill>
                <a:latin typeface="Arial"/>
                <a:ea typeface="Arial"/>
                <a:cs typeface="Arial"/>
              </a:defRPr>
            </a:defPPr>
            <a:lvl1pPr>
              <a:defRPr sz="2700" b="1">
                <a:solidFill>
                  <a:srgbClr val="15866C"/>
                </a:solidFill>
                <a:latin typeface="Arial"/>
                <a:ea typeface="Arial"/>
                <a:cs typeface="Arial"/>
              </a:defRPr>
            </a:lvl1pPr>
            <a:lvl2pPr>
              <a:defRPr sz="2700" b="1">
                <a:solidFill>
                  <a:srgbClr val="15866C"/>
                </a:solidFill>
                <a:latin typeface="Arial"/>
                <a:ea typeface="Arial"/>
                <a:cs typeface="Arial"/>
              </a:defRPr>
            </a:lvl2pPr>
            <a:lvl3pPr>
              <a:defRPr sz="2700" b="1">
                <a:solidFill>
                  <a:srgbClr val="15866C"/>
                </a:solidFill>
                <a:latin typeface="Arial"/>
                <a:ea typeface="Arial"/>
                <a:cs typeface="Arial"/>
              </a:defRPr>
            </a:lvl3pPr>
            <a:lvl4pPr>
              <a:defRPr sz="2700" b="1">
                <a:solidFill>
                  <a:srgbClr val="15866C"/>
                </a:solidFill>
                <a:latin typeface="Arial"/>
                <a:ea typeface="Arial"/>
                <a:cs typeface="Arial"/>
              </a:defRPr>
            </a:lvl4pPr>
            <a:lvl5pPr>
              <a:defRPr sz="2700" b="1">
                <a:solidFill>
                  <a:srgbClr val="15866C"/>
                </a:solidFill>
                <a:latin typeface="Arial"/>
                <a:ea typeface="Arial"/>
                <a:cs typeface="Arial"/>
              </a:defRPr>
            </a:lvl5pPr>
            <a:lvl6pPr>
              <a:defRPr sz="2700" b="1">
                <a:solidFill>
                  <a:srgbClr val="15866C"/>
                </a:solidFill>
                <a:latin typeface="Arial"/>
                <a:ea typeface="Arial"/>
                <a:cs typeface="Arial"/>
              </a:defRPr>
            </a:lvl6pPr>
            <a:lvl7pPr>
              <a:defRPr sz="2700" b="1">
                <a:solidFill>
                  <a:srgbClr val="15866C"/>
                </a:solidFill>
                <a:latin typeface="Arial"/>
                <a:ea typeface="Arial"/>
                <a:cs typeface="Arial"/>
              </a:defRPr>
            </a:lvl7pPr>
            <a:lvl8pPr>
              <a:defRPr sz="2700" b="1">
                <a:solidFill>
                  <a:srgbClr val="15866C"/>
                </a:solidFill>
                <a:latin typeface="Arial"/>
                <a:ea typeface="Arial"/>
                <a:cs typeface="Arial"/>
              </a:defRPr>
            </a:lvl8pPr>
            <a:lvl9pPr>
              <a:defRPr sz="2700" b="1">
                <a:solidFill>
                  <a:srgbClr val="15866C"/>
                </a:solidFill>
                <a:latin typeface="Arial"/>
                <a:ea typeface="Arial"/>
                <a:cs typeface="Arial"/>
              </a:defRPr>
            </a:lvl9pPr>
          </a:lstStyle>
          <a:p xmlns:a="http://schemas.openxmlformats.org/drawingml/2006/main">
            <a:pPr>
              <a:defRPr sz="2700" b="1">
                <a:solidFill>
                  <a:srgbClr val="15866C"/>
                </a:solidFill>
                <a:latin typeface="Arial"/>
                <a:ea typeface="Arial"/>
                <a:cs typeface="Arial"/>
              </a:defRPr>
            </a:pPr>
            <a:r>
              <a:rPr sz="2700" b="1">
                <a:solidFill>
                  <a:srgbClr val="15866C"/>
                </a:solidFill>
                <a:latin typeface="Arial"/>
                <a:ea typeface="Arial"/>
                <a:cs typeface="Arial"/>
              </a:rPr>
              <a:t>2</a:t>
            </a:r>
          </a:p>
        </p:txBody>
      </p:sp>
      <p:sp>
        <p:nvSpPr>
          <p:cNvPr id="15" name="Select a customer and review the facts">
            <a:extLst xmlns:a="http://schemas.openxmlformats.org/drawingml/2006/main">
              <a:ext uri="{FF2B5EF4-FFF2-40B4-BE49-F238E27FC236}">
                <a16:creationId xmlns:a16="http://schemas.microsoft.com/office/drawing/2014/main" id="{7D96D191-A803-465D-BA18-D0E72B5D1C5E}"/>
              </a:ext>
            </a:extLst>
          </p:cNvPr>
          <p:cNvSpPr>
            <a:spLocks xmlns:a="http://schemas.openxmlformats.org/drawingml/2006/main" noGrp="1"/>
          </p:cNvSpPr>
          <p:nvPr/>
        </p:nvSpPr>
        <p:spPr>
          <a:xfrm xmlns:a="http://schemas.openxmlformats.org/drawingml/2006/main">
            <a:off x="1295400" y="309562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02C32"/>
                </a:solidFill>
                <a:latin typeface="Arial"/>
                <a:ea typeface="Arial"/>
                <a:cs typeface="Arial"/>
              </a:defRPr>
            </a:defPPr>
            <a:lvl1pPr>
              <a:defRPr sz="2175" b="0">
                <a:solidFill>
                  <a:srgbClr val="102C32"/>
                </a:solidFill>
                <a:latin typeface="Arial"/>
                <a:ea typeface="Arial"/>
                <a:cs typeface="Arial"/>
              </a:defRPr>
            </a:lvl1pPr>
            <a:lvl2pPr>
              <a:defRPr sz="2175" b="0">
                <a:solidFill>
                  <a:srgbClr val="102C32"/>
                </a:solidFill>
                <a:latin typeface="Arial"/>
                <a:ea typeface="Arial"/>
                <a:cs typeface="Arial"/>
              </a:defRPr>
            </a:lvl2pPr>
            <a:lvl3pPr>
              <a:defRPr sz="2175" b="0">
                <a:solidFill>
                  <a:srgbClr val="102C32"/>
                </a:solidFill>
                <a:latin typeface="Arial"/>
                <a:ea typeface="Arial"/>
                <a:cs typeface="Arial"/>
              </a:defRPr>
            </a:lvl3pPr>
            <a:lvl4pPr>
              <a:defRPr sz="2175" b="0">
                <a:solidFill>
                  <a:srgbClr val="102C32"/>
                </a:solidFill>
                <a:latin typeface="Arial"/>
                <a:ea typeface="Arial"/>
                <a:cs typeface="Arial"/>
              </a:defRPr>
            </a:lvl4pPr>
            <a:lvl5pPr>
              <a:defRPr sz="2175" b="0">
                <a:solidFill>
                  <a:srgbClr val="102C32"/>
                </a:solidFill>
                <a:latin typeface="Arial"/>
                <a:ea typeface="Arial"/>
                <a:cs typeface="Arial"/>
              </a:defRPr>
            </a:lvl5pPr>
            <a:lvl6pPr>
              <a:defRPr sz="2175" b="0">
                <a:solidFill>
                  <a:srgbClr val="102C32"/>
                </a:solidFill>
                <a:latin typeface="Arial"/>
                <a:ea typeface="Arial"/>
                <a:cs typeface="Arial"/>
              </a:defRPr>
            </a:lvl6pPr>
            <a:lvl7pPr>
              <a:defRPr sz="2175" b="0">
                <a:solidFill>
                  <a:srgbClr val="102C32"/>
                </a:solidFill>
                <a:latin typeface="Arial"/>
                <a:ea typeface="Arial"/>
                <a:cs typeface="Arial"/>
              </a:defRPr>
            </a:lvl7pPr>
            <a:lvl8pPr>
              <a:defRPr sz="2175" b="0">
                <a:solidFill>
                  <a:srgbClr val="102C32"/>
                </a:solidFill>
                <a:latin typeface="Arial"/>
                <a:ea typeface="Arial"/>
                <a:cs typeface="Arial"/>
              </a:defRPr>
            </a:lvl8pPr>
            <a:lvl9pPr>
              <a:defRPr sz="2175" b="0">
                <a:solidFill>
                  <a:srgbClr val="102C32"/>
                </a:solidFill>
                <a:latin typeface="Arial"/>
                <a:ea typeface="Arial"/>
                <a:cs typeface="Arial"/>
              </a:defRPr>
            </a:lvl9pPr>
          </a:lstStyle>
          <a:p xmlns:a="http://schemas.openxmlformats.org/drawingml/2006/main">
            <a:pPr>
              <a:defRPr sz="2175" b="0">
                <a:solidFill>
                  <a:srgbClr val="102C32"/>
                </a:solidFill>
                <a:latin typeface="Arial"/>
                <a:ea typeface="Arial"/>
                <a:cs typeface="Arial"/>
              </a:defRPr>
            </a:pPr>
            <a:r>
              <a:rPr sz="2175" b="0">
                <a:solidFill>
                  <a:srgbClr val="102C32"/>
                </a:solidFill>
                <a:latin typeface="Arial"/>
                <a:ea typeface="Arial"/>
                <a:cs typeface="Arial"/>
              </a:rPr>
              <a:t>Select a customer and review the facts</a:t>
            </a:r>
          </a:p>
        </p:txBody>
      </p:sp>
      <p:sp>
        <p:nvSpPr>
          <p:cNvPr id="16" name="3">
            <a:extLst xmlns:a="http://schemas.openxmlformats.org/drawingml/2006/main">
              <a:ext uri="{FF2B5EF4-FFF2-40B4-BE49-F238E27FC236}">
                <a16:creationId xmlns:a16="http://schemas.microsoft.com/office/drawing/2014/main" id="{6F1BE8CB-B231-4760-9309-F6900EDE7E2B}"/>
              </a:ext>
            </a:extLst>
          </p:cNvPr>
          <p:cNvSpPr>
            <a:spLocks xmlns:a="http://schemas.openxmlformats.org/drawingml/2006/main" noGrp="1"/>
          </p:cNvSpPr>
          <p:nvPr/>
        </p:nvSpPr>
        <p:spPr>
          <a:xfrm xmlns:a="http://schemas.openxmlformats.org/drawingml/2006/main">
            <a:off x="609600" y="381952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5866C"/>
                </a:solidFill>
                <a:latin typeface="Arial"/>
                <a:ea typeface="Arial"/>
                <a:cs typeface="Arial"/>
              </a:defRPr>
            </a:defPPr>
            <a:lvl1pPr>
              <a:defRPr sz="2700" b="1">
                <a:solidFill>
                  <a:srgbClr val="15866C"/>
                </a:solidFill>
                <a:latin typeface="Arial"/>
                <a:ea typeface="Arial"/>
                <a:cs typeface="Arial"/>
              </a:defRPr>
            </a:lvl1pPr>
            <a:lvl2pPr>
              <a:defRPr sz="2700" b="1">
                <a:solidFill>
                  <a:srgbClr val="15866C"/>
                </a:solidFill>
                <a:latin typeface="Arial"/>
                <a:ea typeface="Arial"/>
                <a:cs typeface="Arial"/>
              </a:defRPr>
            </a:lvl2pPr>
            <a:lvl3pPr>
              <a:defRPr sz="2700" b="1">
                <a:solidFill>
                  <a:srgbClr val="15866C"/>
                </a:solidFill>
                <a:latin typeface="Arial"/>
                <a:ea typeface="Arial"/>
                <a:cs typeface="Arial"/>
              </a:defRPr>
            </a:lvl3pPr>
            <a:lvl4pPr>
              <a:defRPr sz="2700" b="1">
                <a:solidFill>
                  <a:srgbClr val="15866C"/>
                </a:solidFill>
                <a:latin typeface="Arial"/>
                <a:ea typeface="Arial"/>
                <a:cs typeface="Arial"/>
              </a:defRPr>
            </a:lvl4pPr>
            <a:lvl5pPr>
              <a:defRPr sz="2700" b="1">
                <a:solidFill>
                  <a:srgbClr val="15866C"/>
                </a:solidFill>
                <a:latin typeface="Arial"/>
                <a:ea typeface="Arial"/>
                <a:cs typeface="Arial"/>
              </a:defRPr>
            </a:lvl5pPr>
            <a:lvl6pPr>
              <a:defRPr sz="2700" b="1">
                <a:solidFill>
                  <a:srgbClr val="15866C"/>
                </a:solidFill>
                <a:latin typeface="Arial"/>
                <a:ea typeface="Arial"/>
                <a:cs typeface="Arial"/>
              </a:defRPr>
            </a:lvl6pPr>
            <a:lvl7pPr>
              <a:defRPr sz="2700" b="1">
                <a:solidFill>
                  <a:srgbClr val="15866C"/>
                </a:solidFill>
                <a:latin typeface="Arial"/>
                <a:ea typeface="Arial"/>
                <a:cs typeface="Arial"/>
              </a:defRPr>
            </a:lvl7pPr>
            <a:lvl8pPr>
              <a:defRPr sz="2700" b="1">
                <a:solidFill>
                  <a:srgbClr val="15866C"/>
                </a:solidFill>
                <a:latin typeface="Arial"/>
                <a:ea typeface="Arial"/>
                <a:cs typeface="Arial"/>
              </a:defRPr>
            </a:lvl8pPr>
            <a:lvl9pPr>
              <a:defRPr sz="2700" b="1">
                <a:solidFill>
                  <a:srgbClr val="15866C"/>
                </a:solidFill>
                <a:latin typeface="Arial"/>
                <a:ea typeface="Arial"/>
                <a:cs typeface="Arial"/>
              </a:defRPr>
            </a:lvl9pPr>
          </a:lstStyle>
          <a:p xmlns:a="http://schemas.openxmlformats.org/drawingml/2006/main">
            <a:pPr>
              <a:defRPr sz="2700" b="1">
                <a:solidFill>
                  <a:srgbClr val="15866C"/>
                </a:solidFill>
                <a:latin typeface="Arial"/>
                <a:ea typeface="Arial"/>
                <a:cs typeface="Arial"/>
              </a:defRPr>
            </a:pPr>
            <a:r>
              <a:rPr sz="2700" b="1">
                <a:solidFill>
                  <a:srgbClr val="15866C"/>
                </a:solidFill>
                <a:latin typeface="Arial"/>
                <a:ea typeface="Arial"/>
                <a:cs typeface="Arial"/>
              </a:rPr>
              <a:t>3</a:t>
            </a:r>
          </a:p>
        </p:txBody>
      </p:sp>
      <p:sp>
        <p:nvSpPr>
          <p:cNvPr id="17" name="Edit the customer’s conversation guide">
            <a:extLst xmlns:a="http://schemas.openxmlformats.org/drawingml/2006/main">
              <a:ext uri="{FF2B5EF4-FFF2-40B4-BE49-F238E27FC236}">
                <a16:creationId xmlns:a16="http://schemas.microsoft.com/office/drawing/2014/main" id="{C3582BA1-EA11-411C-A33D-44EBD4BD001F}"/>
              </a:ext>
            </a:extLst>
          </p:cNvPr>
          <p:cNvSpPr>
            <a:spLocks xmlns:a="http://schemas.openxmlformats.org/drawingml/2006/main" noGrp="1"/>
          </p:cNvSpPr>
          <p:nvPr/>
        </p:nvSpPr>
        <p:spPr>
          <a:xfrm xmlns:a="http://schemas.openxmlformats.org/drawingml/2006/main">
            <a:off x="1295400" y="38766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02C32"/>
                </a:solidFill>
                <a:latin typeface="Arial"/>
                <a:ea typeface="Arial"/>
                <a:cs typeface="Arial"/>
              </a:defRPr>
            </a:defPPr>
            <a:lvl1pPr>
              <a:defRPr sz="2175" b="0">
                <a:solidFill>
                  <a:srgbClr val="102C32"/>
                </a:solidFill>
                <a:latin typeface="Arial"/>
                <a:ea typeface="Arial"/>
                <a:cs typeface="Arial"/>
              </a:defRPr>
            </a:lvl1pPr>
            <a:lvl2pPr>
              <a:defRPr sz="2175" b="0">
                <a:solidFill>
                  <a:srgbClr val="102C32"/>
                </a:solidFill>
                <a:latin typeface="Arial"/>
                <a:ea typeface="Arial"/>
                <a:cs typeface="Arial"/>
              </a:defRPr>
            </a:lvl2pPr>
            <a:lvl3pPr>
              <a:defRPr sz="2175" b="0">
                <a:solidFill>
                  <a:srgbClr val="102C32"/>
                </a:solidFill>
                <a:latin typeface="Arial"/>
                <a:ea typeface="Arial"/>
                <a:cs typeface="Arial"/>
              </a:defRPr>
            </a:lvl3pPr>
            <a:lvl4pPr>
              <a:defRPr sz="2175" b="0">
                <a:solidFill>
                  <a:srgbClr val="102C32"/>
                </a:solidFill>
                <a:latin typeface="Arial"/>
                <a:ea typeface="Arial"/>
                <a:cs typeface="Arial"/>
              </a:defRPr>
            </a:lvl4pPr>
            <a:lvl5pPr>
              <a:defRPr sz="2175" b="0">
                <a:solidFill>
                  <a:srgbClr val="102C32"/>
                </a:solidFill>
                <a:latin typeface="Arial"/>
                <a:ea typeface="Arial"/>
                <a:cs typeface="Arial"/>
              </a:defRPr>
            </a:lvl5pPr>
            <a:lvl6pPr>
              <a:defRPr sz="2175" b="0">
                <a:solidFill>
                  <a:srgbClr val="102C32"/>
                </a:solidFill>
                <a:latin typeface="Arial"/>
                <a:ea typeface="Arial"/>
                <a:cs typeface="Arial"/>
              </a:defRPr>
            </a:lvl6pPr>
            <a:lvl7pPr>
              <a:defRPr sz="2175" b="0">
                <a:solidFill>
                  <a:srgbClr val="102C32"/>
                </a:solidFill>
                <a:latin typeface="Arial"/>
                <a:ea typeface="Arial"/>
                <a:cs typeface="Arial"/>
              </a:defRPr>
            </a:lvl7pPr>
            <a:lvl8pPr>
              <a:defRPr sz="2175" b="0">
                <a:solidFill>
                  <a:srgbClr val="102C32"/>
                </a:solidFill>
                <a:latin typeface="Arial"/>
                <a:ea typeface="Arial"/>
                <a:cs typeface="Arial"/>
              </a:defRPr>
            </a:lvl8pPr>
            <a:lvl9pPr>
              <a:defRPr sz="2175" b="0">
                <a:solidFill>
                  <a:srgbClr val="102C32"/>
                </a:solidFill>
                <a:latin typeface="Arial"/>
                <a:ea typeface="Arial"/>
                <a:cs typeface="Arial"/>
              </a:defRPr>
            </a:lvl9pPr>
          </a:lstStyle>
          <a:p xmlns:a="http://schemas.openxmlformats.org/drawingml/2006/main">
            <a:pPr>
              <a:defRPr sz="2175" b="0">
                <a:solidFill>
                  <a:srgbClr val="102C32"/>
                </a:solidFill>
                <a:latin typeface="Arial"/>
                <a:ea typeface="Arial"/>
                <a:cs typeface="Arial"/>
              </a:defRPr>
            </a:pPr>
            <a:r>
              <a:rPr sz="2175" b="0">
                <a:solidFill>
                  <a:srgbClr val="102C32"/>
                </a:solidFill>
                <a:latin typeface="Arial"/>
                <a:ea typeface="Arial"/>
                <a:cs typeface="Arial"/>
              </a:rPr>
              <a:t>Edit the customer’s conversation guide</a:t>
            </a:r>
          </a:p>
        </p:txBody>
      </p:sp>
      <p:sp>
        <p:nvSpPr>
          <p:cNvPr id="18" name="4">
            <a:extLst xmlns:a="http://schemas.openxmlformats.org/drawingml/2006/main">
              <a:ext uri="{FF2B5EF4-FFF2-40B4-BE49-F238E27FC236}">
                <a16:creationId xmlns:a16="http://schemas.microsoft.com/office/drawing/2014/main" id="{16DB777A-DA8C-479B-9B2E-D71748CADE37}"/>
              </a:ext>
            </a:extLst>
          </p:cNvPr>
          <p:cNvSpPr>
            <a:spLocks xmlns:a="http://schemas.openxmlformats.org/drawingml/2006/main" noGrp="1"/>
          </p:cNvSpPr>
          <p:nvPr/>
        </p:nvSpPr>
        <p:spPr>
          <a:xfrm xmlns:a="http://schemas.openxmlformats.org/drawingml/2006/main">
            <a:off x="609600" y="460057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5866C"/>
                </a:solidFill>
                <a:latin typeface="Arial"/>
                <a:ea typeface="Arial"/>
                <a:cs typeface="Arial"/>
              </a:defRPr>
            </a:defPPr>
            <a:lvl1pPr>
              <a:defRPr sz="2700" b="1">
                <a:solidFill>
                  <a:srgbClr val="15866C"/>
                </a:solidFill>
                <a:latin typeface="Arial"/>
                <a:ea typeface="Arial"/>
                <a:cs typeface="Arial"/>
              </a:defRPr>
            </a:lvl1pPr>
            <a:lvl2pPr>
              <a:defRPr sz="2700" b="1">
                <a:solidFill>
                  <a:srgbClr val="15866C"/>
                </a:solidFill>
                <a:latin typeface="Arial"/>
                <a:ea typeface="Arial"/>
                <a:cs typeface="Arial"/>
              </a:defRPr>
            </a:lvl2pPr>
            <a:lvl3pPr>
              <a:defRPr sz="2700" b="1">
                <a:solidFill>
                  <a:srgbClr val="15866C"/>
                </a:solidFill>
                <a:latin typeface="Arial"/>
                <a:ea typeface="Arial"/>
                <a:cs typeface="Arial"/>
              </a:defRPr>
            </a:lvl3pPr>
            <a:lvl4pPr>
              <a:defRPr sz="2700" b="1">
                <a:solidFill>
                  <a:srgbClr val="15866C"/>
                </a:solidFill>
                <a:latin typeface="Arial"/>
                <a:ea typeface="Arial"/>
                <a:cs typeface="Arial"/>
              </a:defRPr>
            </a:lvl4pPr>
            <a:lvl5pPr>
              <a:defRPr sz="2700" b="1">
                <a:solidFill>
                  <a:srgbClr val="15866C"/>
                </a:solidFill>
                <a:latin typeface="Arial"/>
                <a:ea typeface="Arial"/>
                <a:cs typeface="Arial"/>
              </a:defRPr>
            </a:lvl5pPr>
            <a:lvl6pPr>
              <a:defRPr sz="2700" b="1">
                <a:solidFill>
                  <a:srgbClr val="15866C"/>
                </a:solidFill>
                <a:latin typeface="Arial"/>
                <a:ea typeface="Arial"/>
                <a:cs typeface="Arial"/>
              </a:defRPr>
            </a:lvl6pPr>
            <a:lvl7pPr>
              <a:defRPr sz="2700" b="1">
                <a:solidFill>
                  <a:srgbClr val="15866C"/>
                </a:solidFill>
                <a:latin typeface="Arial"/>
                <a:ea typeface="Arial"/>
                <a:cs typeface="Arial"/>
              </a:defRPr>
            </a:lvl7pPr>
            <a:lvl8pPr>
              <a:defRPr sz="2700" b="1">
                <a:solidFill>
                  <a:srgbClr val="15866C"/>
                </a:solidFill>
                <a:latin typeface="Arial"/>
                <a:ea typeface="Arial"/>
                <a:cs typeface="Arial"/>
              </a:defRPr>
            </a:lvl8pPr>
            <a:lvl9pPr>
              <a:defRPr sz="2700" b="1">
                <a:solidFill>
                  <a:srgbClr val="15866C"/>
                </a:solidFill>
                <a:latin typeface="Arial"/>
                <a:ea typeface="Arial"/>
                <a:cs typeface="Arial"/>
              </a:defRPr>
            </a:lvl9pPr>
          </a:lstStyle>
          <a:p xmlns:a="http://schemas.openxmlformats.org/drawingml/2006/main">
            <a:pPr>
              <a:defRPr sz="2700" b="1">
                <a:solidFill>
                  <a:srgbClr val="15866C"/>
                </a:solidFill>
                <a:latin typeface="Arial"/>
                <a:ea typeface="Arial"/>
                <a:cs typeface="Arial"/>
              </a:defRPr>
            </a:pPr>
            <a:r>
              <a:rPr sz="2700" b="1">
                <a:solidFill>
                  <a:srgbClr val="15866C"/>
                </a:solidFill>
                <a:latin typeface="Arial"/>
                <a:ea typeface="Arial"/>
                <a:cs typeface="Arial"/>
              </a:rPr>
              <a:t>4</a:t>
            </a:r>
          </a:p>
        </p:txBody>
      </p:sp>
      <p:sp>
        <p:nvSpPr>
          <p:cNvPr id="19" name="Download a script or guides for the list">
            <a:extLst xmlns:a="http://schemas.openxmlformats.org/drawingml/2006/main">
              <a:ext uri="{FF2B5EF4-FFF2-40B4-BE49-F238E27FC236}">
                <a16:creationId xmlns:a16="http://schemas.microsoft.com/office/drawing/2014/main" id="{0F3C41E6-B168-4829-94C6-A33FA77783EB}"/>
              </a:ext>
            </a:extLst>
          </p:cNvPr>
          <p:cNvSpPr>
            <a:spLocks xmlns:a="http://schemas.openxmlformats.org/drawingml/2006/main" noGrp="1"/>
          </p:cNvSpPr>
          <p:nvPr/>
        </p:nvSpPr>
        <p:spPr>
          <a:xfrm xmlns:a="http://schemas.openxmlformats.org/drawingml/2006/main">
            <a:off x="1295400" y="465772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02C32"/>
                </a:solidFill>
                <a:latin typeface="Arial"/>
                <a:ea typeface="Arial"/>
                <a:cs typeface="Arial"/>
              </a:defRPr>
            </a:defPPr>
            <a:lvl1pPr>
              <a:defRPr sz="2175" b="0">
                <a:solidFill>
                  <a:srgbClr val="102C32"/>
                </a:solidFill>
                <a:latin typeface="Arial"/>
                <a:ea typeface="Arial"/>
                <a:cs typeface="Arial"/>
              </a:defRPr>
            </a:lvl1pPr>
            <a:lvl2pPr>
              <a:defRPr sz="2175" b="0">
                <a:solidFill>
                  <a:srgbClr val="102C32"/>
                </a:solidFill>
                <a:latin typeface="Arial"/>
                <a:ea typeface="Arial"/>
                <a:cs typeface="Arial"/>
              </a:defRPr>
            </a:lvl2pPr>
            <a:lvl3pPr>
              <a:defRPr sz="2175" b="0">
                <a:solidFill>
                  <a:srgbClr val="102C32"/>
                </a:solidFill>
                <a:latin typeface="Arial"/>
                <a:ea typeface="Arial"/>
                <a:cs typeface="Arial"/>
              </a:defRPr>
            </a:lvl3pPr>
            <a:lvl4pPr>
              <a:defRPr sz="2175" b="0">
                <a:solidFill>
                  <a:srgbClr val="102C32"/>
                </a:solidFill>
                <a:latin typeface="Arial"/>
                <a:ea typeface="Arial"/>
                <a:cs typeface="Arial"/>
              </a:defRPr>
            </a:lvl4pPr>
            <a:lvl5pPr>
              <a:defRPr sz="2175" b="0">
                <a:solidFill>
                  <a:srgbClr val="102C32"/>
                </a:solidFill>
                <a:latin typeface="Arial"/>
                <a:ea typeface="Arial"/>
                <a:cs typeface="Arial"/>
              </a:defRPr>
            </a:lvl5pPr>
            <a:lvl6pPr>
              <a:defRPr sz="2175" b="0">
                <a:solidFill>
                  <a:srgbClr val="102C32"/>
                </a:solidFill>
                <a:latin typeface="Arial"/>
                <a:ea typeface="Arial"/>
                <a:cs typeface="Arial"/>
              </a:defRPr>
            </a:lvl6pPr>
            <a:lvl7pPr>
              <a:defRPr sz="2175" b="0">
                <a:solidFill>
                  <a:srgbClr val="102C32"/>
                </a:solidFill>
                <a:latin typeface="Arial"/>
                <a:ea typeface="Arial"/>
                <a:cs typeface="Arial"/>
              </a:defRPr>
            </a:lvl7pPr>
            <a:lvl8pPr>
              <a:defRPr sz="2175" b="0">
                <a:solidFill>
                  <a:srgbClr val="102C32"/>
                </a:solidFill>
                <a:latin typeface="Arial"/>
                <a:ea typeface="Arial"/>
                <a:cs typeface="Arial"/>
              </a:defRPr>
            </a:lvl8pPr>
            <a:lvl9pPr>
              <a:defRPr sz="2175" b="0">
                <a:solidFill>
                  <a:srgbClr val="102C32"/>
                </a:solidFill>
                <a:latin typeface="Arial"/>
                <a:ea typeface="Arial"/>
                <a:cs typeface="Arial"/>
              </a:defRPr>
            </a:lvl9pPr>
          </a:lstStyle>
          <a:p xmlns:a="http://schemas.openxmlformats.org/drawingml/2006/main">
            <a:pPr>
              <a:defRPr sz="2175" b="0">
                <a:solidFill>
                  <a:srgbClr val="102C32"/>
                </a:solidFill>
                <a:latin typeface="Arial"/>
                <a:ea typeface="Arial"/>
                <a:cs typeface="Arial"/>
              </a:defRPr>
            </a:pPr>
            <a:r>
              <a:rPr sz="2175" b="0">
                <a:solidFill>
                  <a:srgbClr val="102C32"/>
                </a:solidFill>
                <a:latin typeface="Arial"/>
                <a:ea typeface="Arial"/>
                <a:cs typeface="Arial"/>
              </a:rPr>
              <a:t>Download a script or guides for the list</a:t>
            </a:r>
          </a:p>
        </p:txBody>
      </p:sp>
      <p:sp>
        <p:nvSpPr>
          <p:cNvPr id="20" name="Five guide sections">
            <a:extLst xmlns:a="http://schemas.openxmlformats.org/drawingml/2006/main">
              <a:ext uri="{FF2B5EF4-FFF2-40B4-BE49-F238E27FC236}">
                <a16:creationId xmlns:a16="http://schemas.microsoft.com/office/drawing/2014/main" id="{CF1429B8-80D1-4FAB-9196-76809B057EB1}"/>
              </a:ext>
            </a:extLst>
          </p:cNvPr>
          <p:cNvSpPr>
            <a:spLocks xmlns:a="http://schemas.openxmlformats.org/drawingml/2006/main" noGrp="1"/>
          </p:cNvSpPr>
          <p:nvPr/>
        </p:nvSpPr>
        <p:spPr>
          <a:xfrm xmlns:a="http://schemas.openxmlformats.org/drawingml/2006/main">
            <a:off x="8667750" y="2305050"/>
            <a:ext cx="289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02C32"/>
                </a:solidFill>
                <a:latin typeface="Arial"/>
                <a:ea typeface="Arial"/>
                <a:cs typeface="Arial"/>
              </a:defRPr>
            </a:defPPr>
            <a:lvl1pPr>
              <a:defRPr sz="2025" b="1">
                <a:solidFill>
                  <a:srgbClr val="102C32"/>
                </a:solidFill>
                <a:latin typeface="Arial"/>
                <a:ea typeface="Arial"/>
                <a:cs typeface="Arial"/>
              </a:defRPr>
            </a:lvl1pPr>
            <a:lvl2pPr>
              <a:defRPr sz="2025" b="1">
                <a:solidFill>
                  <a:srgbClr val="102C32"/>
                </a:solidFill>
                <a:latin typeface="Arial"/>
                <a:ea typeface="Arial"/>
                <a:cs typeface="Arial"/>
              </a:defRPr>
            </a:lvl2pPr>
            <a:lvl3pPr>
              <a:defRPr sz="2025" b="1">
                <a:solidFill>
                  <a:srgbClr val="102C32"/>
                </a:solidFill>
                <a:latin typeface="Arial"/>
                <a:ea typeface="Arial"/>
                <a:cs typeface="Arial"/>
              </a:defRPr>
            </a:lvl3pPr>
            <a:lvl4pPr>
              <a:defRPr sz="2025" b="1">
                <a:solidFill>
                  <a:srgbClr val="102C32"/>
                </a:solidFill>
                <a:latin typeface="Arial"/>
                <a:ea typeface="Arial"/>
                <a:cs typeface="Arial"/>
              </a:defRPr>
            </a:lvl4pPr>
            <a:lvl5pPr>
              <a:defRPr sz="2025" b="1">
                <a:solidFill>
                  <a:srgbClr val="102C32"/>
                </a:solidFill>
                <a:latin typeface="Arial"/>
                <a:ea typeface="Arial"/>
                <a:cs typeface="Arial"/>
              </a:defRPr>
            </a:lvl5pPr>
            <a:lvl6pPr>
              <a:defRPr sz="2025" b="1">
                <a:solidFill>
                  <a:srgbClr val="102C32"/>
                </a:solidFill>
                <a:latin typeface="Arial"/>
                <a:ea typeface="Arial"/>
                <a:cs typeface="Arial"/>
              </a:defRPr>
            </a:lvl6pPr>
            <a:lvl7pPr>
              <a:defRPr sz="2025" b="1">
                <a:solidFill>
                  <a:srgbClr val="102C32"/>
                </a:solidFill>
                <a:latin typeface="Arial"/>
                <a:ea typeface="Arial"/>
                <a:cs typeface="Arial"/>
              </a:defRPr>
            </a:lvl7pPr>
            <a:lvl8pPr>
              <a:defRPr sz="2025" b="1">
                <a:solidFill>
                  <a:srgbClr val="102C32"/>
                </a:solidFill>
                <a:latin typeface="Arial"/>
                <a:ea typeface="Arial"/>
                <a:cs typeface="Arial"/>
              </a:defRPr>
            </a:lvl8pPr>
            <a:lvl9pPr>
              <a:defRPr sz="2025" b="1">
                <a:solidFill>
                  <a:srgbClr val="102C32"/>
                </a:solidFill>
                <a:latin typeface="Arial"/>
                <a:ea typeface="Arial"/>
                <a:cs typeface="Arial"/>
              </a:defRPr>
            </a:lvl9pPr>
          </a:lstStyle>
          <a:p xmlns:a="http://schemas.openxmlformats.org/drawingml/2006/main">
            <a:pPr>
              <a:defRPr sz="2025" b="1">
                <a:solidFill>
                  <a:srgbClr val="102C32"/>
                </a:solidFill>
                <a:latin typeface="Arial"/>
                <a:ea typeface="Arial"/>
                <a:cs typeface="Arial"/>
              </a:defRPr>
            </a:pPr>
            <a:r>
              <a:rPr sz="2025" b="1">
                <a:solidFill>
                  <a:srgbClr val="102C32"/>
                </a:solidFill>
                <a:latin typeface="Arial"/>
                <a:ea typeface="Arial"/>
                <a:cs typeface="Arial"/>
              </a:rPr>
              <a:t>Five guide sections</a:t>
            </a:r>
          </a:p>
        </p:txBody>
      </p:sp>
      <p:sp>
        <p:nvSpPr>
          <p:cNvPr id="21" name="Opening&#10;Needs questions&#10;Discussion topics&#10;Conc">
            <a:extLst xmlns:a="http://schemas.openxmlformats.org/drawingml/2006/main">
              <a:ext uri="{FF2B5EF4-FFF2-40B4-BE49-F238E27FC236}">
                <a16:creationId xmlns:a16="http://schemas.microsoft.com/office/drawing/2014/main" id="{94069F39-21F5-4E07-AD33-06B5DA8F8BE2}"/>
              </a:ext>
            </a:extLst>
          </p:cNvPr>
          <p:cNvSpPr>
            <a:spLocks xmlns:a="http://schemas.openxmlformats.org/drawingml/2006/main" noGrp="1"/>
          </p:cNvSpPr>
          <p:nvPr/>
        </p:nvSpPr>
        <p:spPr>
          <a:xfrm xmlns:a="http://schemas.openxmlformats.org/drawingml/2006/main">
            <a:off x="8667750" y="2867025"/>
            <a:ext cx="289560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C32"/>
                </a:solidFill>
                <a:latin typeface="Arial"/>
                <a:ea typeface="Arial"/>
                <a:cs typeface="Arial"/>
              </a:defRPr>
            </a:defPPr>
            <a:lvl1pPr>
              <a:defRPr sz="1875" b="0">
                <a:solidFill>
                  <a:srgbClr val="102C32"/>
                </a:solidFill>
                <a:latin typeface="Arial"/>
                <a:ea typeface="Arial"/>
                <a:cs typeface="Arial"/>
              </a:defRPr>
            </a:lvl1pPr>
            <a:lvl2pPr>
              <a:defRPr sz="1875" b="0">
                <a:solidFill>
                  <a:srgbClr val="102C32"/>
                </a:solidFill>
                <a:latin typeface="Arial"/>
                <a:ea typeface="Arial"/>
                <a:cs typeface="Arial"/>
              </a:defRPr>
            </a:lvl2pPr>
            <a:lvl3pPr>
              <a:defRPr sz="1875" b="0">
                <a:solidFill>
                  <a:srgbClr val="102C32"/>
                </a:solidFill>
                <a:latin typeface="Arial"/>
                <a:ea typeface="Arial"/>
                <a:cs typeface="Arial"/>
              </a:defRPr>
            </a:lvl3pPr>
            <a:lvl4pPr>
              <a:defRPr sz="1875" b="0">
                <a:solidFill>
                  <a:srgbClr val="102C32"/>
                </a:solidFill>
                <a:latin typeface="Arial"/>
                <a:ea typeface="Arial"/>
                <a:cs typeface="Arial"/>
              </a:defRPr>
            </a:lvl4pPr>
            <a:lvl5pPr>
              <a:defRPr sz="1875" b="0">
                <a:solidFill>
                  <a:srgbClr val="102C32"/>
                </a:solidFill>
                <a:latin typeface="Arial"/>
                <a:ea typeface="Arial"/>
                <a:cs typeface="Arial"/>
              </a:defRPr>
            </a:lvl5pPr>
            <a:lvl6pPr>
              <a:defRPr sz="1875" b="0">
                <a:solidFill>
                  <a:srgbClr val="102C32"/>
                </a:solidFill>
                <a:latin typeface="Arial"/>
                <a:ea typeface="Arial"/>
                <a:cs typeface="Arial"/>
              </a:defRPr>
            </a:lvl6pPr>
            <a:lvl7pPr>
              <a:defRPr sz="1875" b="0">
                <a:solidFill>
                  <a:srgbClr val="102C32"/>
                </a:solidFill>
                <a:latin typeface="Arial"/>
                <a:ea typeface="Arial"/>
                <a:cs typeface="Arial"/>
              </a:defRPr>
            </a:lvl7pPr>
            <a:lvl8pPr>
              <a:defRPr sz="1875" b="0">
                <a:solidFill>
                  <a:srgbClr val="102C32"/>
                </a:solidFill>
                <a:latin typeface="Arial"/>
                <a:ea typeface="Arial"/>
                <a:cs typeface="Arial"/>
              </a:defRPr>
            </a:lvl8pPr>
            <a:lvl9pPr>
              <a:defRPr sz="1875" b="0">
                <a:solidFill>
                  <a:srgbClr val="102C32"/>
                </a:solidFill>
                <a:latin typeface="Arial"/>
                <a:ea typeface="Arial"/>
                <a:cs typeface="Arial"/>
              </a:defRPr>
            </a:lvl9pPr>
          </a:lstStyle>
          <a:p xmlns:a="http://schemas.openxmlformats.org/drawingml/2006/main">
            <a:pPr>
              <a:defRPr sz="1875" b="0">
                <a:solidFill>
                  <a:srgbClr val="102C32"/>
                </a:solidFill>
                <a:latin typeface="Arial"/>
                <a:ea typeface="Arial"/>
                <a:cs typeface="Arial"/>
              </a:defRPr>
            </a:pPr>
            <a:r>
              <a:rPr sz="1875" b="0">
                <a:solidFill>
                  <a:srgbClr val="102C32"/>
                </a:solidFill>
                <a:latin typeface="Arial"/>
                <a:ea typeface="Arial"/>
                <a:cs typeface="Arial"/>
              </a:rPr>
              <a:t>Opening</a:t>
            </a:r>
          </a:p>
          <a:p xmlns:a="http://schemas.openxmlformats.org/drawingml/2006/main">
            <a:pPr>
              <a:defRPr sz="1875" b="0">
                <a:solidFill>
                  <a:srgbClr val="102C32"/>
                </a:solidFill>
                <a:latin typeface="Arial"/>
                <a:ea typeface="Arial"/>
                <a:cs typeface="Arial"/>
              </a:defRPr>
            </a:pPr>
            <a:r>
              <a:rPr sz="1875" b="0">
                <a:solidFill>
                  <a:srgbClr val="102C32"/>
                </a:solidFill>
                <a:latin typeface="Arial"/>
                <a:ea typeface="Arial"/>
                <a:cs typeface="Arial"/>
              </a:rPr>
              <a:t>Needs questions</a:t>
            </a:r>
          </a:p>
          <a:p xmlns:a="http://schemas.openxmlformats.org/drawingml/2006/main">
            <a:pPr>
              <a:defRPr sz="1875" b="0">
                <a:solidFill>
                  <a:srgbClr val="102C32"/>
                </a:solidFill>
                <a:latin typeface="Arial"/>
                <a:ea typeface="Arial"/>
                <a:cs typeface="Arial"/>
              </a:defRPr>
            </a:pPr>
            <a:r>
              <a:rPr sz="1875" b="0">
                <a:solidFill>
                  <a:srgbClr val="102C32"/>
                </a:solidFill>
                <a:latin typeface="Arial"/>
                <a:ea typeface="Arial"/>
                <a:cs typeface="Arial"/>
              </a:rPr>
              <a:t>Discussion topics</a:t>
            </a:r>
          </a:p>
          <a:p xmlns:a="http://schemas.openxmlformats.org/drawingml/2006/main">
            <a:pPr>
              <a:defRPr sz="1875" b="0">
                <a:solidFill>
                  <a:srgbClr val="102C32"/>
                </a:solidFill>
                <a:latin typeface="Arial"/>
                <a:ea typeface="Arial"/>
                <a:cs typeface="Arial"/>
              </a:defRPr>
            </a:pPr>
            <a:r>
              <a:rPr sz="1875" b="0">
                <a:solidFill>
                  <a:srgbClr val="102C32"/>
                </a:solidFill>
                <a:latin typeface="Arial"/>
                <a:ea typeface="Arial"/>
                <a:cs typeface="Arial"/>
              </a:rPr>
              <a:t>Concerns to explore</a:t>
            </a:r>
          </a:p>
          <a:p xmlns:a="http://schemas.openxmlformats.org/drawingml/2006/main">
            <a:pPr>
              <a:defRPr sz="1875" b="0">
                <a:solidFill>
                  <a:srgbClr val="102C32"/>
                </a:solidFill>
                <a:latin typeface="Arial"/>
                <a:ea typeface="Arial"/>
                <a:cs typeface="Arial"/>
              </a:defRPr>
            </a:pPr>
            <a:r>
              <a:rPr sz="1875" b="0">
                <a:solidFill>
                  <a:srgbClr val="102C32"/>
                </a:solidFill>
                <a:latin typeface="Arial"/>
                <a:ea typeface="Arial"/>
                <a:cs typeface="Arial"/>
              </a:rPr>
              <a:t>Optional visit or</a:t>
            </a:r>
          </a:p>
          <a:p xmlns:a="http://schemas.openxmlformats.org/drawingml/2006/main">
            <a:pPr>
              <a:defRPr sz="1875" b="0">
                <a:solidFill>
                  <a:srgbClr val="102C32"/>
                </a:solidFill>
                <a:latin typeface="Arial"/>
                <a:ea typeface="Arial"/>
                <a:cs typeface="Arial"/>
              </a:defRPr>
            </a:pPr>
            <a:r>
              <a:rPr sz="1875" b="0">
                <a:solidFill>
                  <a:srgbClr val="102C32"/>
                </a:solidFill>
                <a:latin typeface="Arial"/>
                <a:ea typeface="Arial"/>
                <a:cs typeface="Arial"/>
              </a:rPr>
              <a:t>test drive</a:t>
            </a:r>
          </a:p>
        </p:txBody>
      </p:sp>
      <p:sp>
        <p:nvSpPr>
          <p:cNvPr id="22" name="Staff approve any contact">
            <a:extLst xmlns:a="http://schemas.openxmlformats.org/drawingml/2006/main">
              <a:ext uri="{FF2B5EF4-FFF2-40B4-BE49-F238E27FC236}">
                <a16:creationId xmlns:a16="http://schemas.microsoft.com/office/drawing/2014/main" id="{A2D8BE75-2077-417A-9748-3675F293F758}"/>
              </a:ext>
            </a:extLst>
          </p:cNvPr>
          <p:cNvSpPr>
            <a:spLocks xmlns:a="http://schemas.openxmlformats.org/drawingml/2006/main" noGrp="1"/>
          </p:cNvSpPr>
          <p:nvPr/>
        </p:nvSpPr>
        <p:spPr>
          <a:xfrm xmlns:a="http://schemas.openxmlformats.org/drawingml/2006/main">
            <a:off x="8667750" y="5114925"/>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02C32"/>
                </a:solidFill>
                <a:latin typeface="Arial"/>
                <a:ea typeface="Arial"/>
                <a:cs typeface="Arial"/>
              </a:defRPr>
            </a:defPPr>
            <a:lvl1pPr>
              <a:defRPr sz="2025" b="1">
                <a:solidFill>
                  <a:srgbClr val="102C32"/>
                </a:solidFill>
                <a:latin typeface="Arial"/>
                <a:ea typeface="Arial"/>
                <a:cs typeface="Arial"/>
              </a:defRPr>
            </a:lvl1pPr>
            <a:lvl2pPr>
              <a:defRPr sz="2025" b="1">
                <a:solidFill>
                  <a:srgbClr val="102C32"/>
                </a:solidFill>
                <a:latin typeface="Arial"/>
                <a:ea typeface="Arial"/>
                <a:cs typeface="Arial"/>
              </a:defRPr>
            </a:lvl2pPr>
            <a:lvl3pPr>
              <a:defRPr sz="2025" b="1">
                <a:solidFill>
                  <a:srgbClr val="102C32"/>
                </a:solidFill>
                <a:latin typeface="Arial"/>
                <a:ea typeface="Arial"/>
                <a:cs typeface="Arial"/>
              </a:defRPr>
            </a:lvl3pPr>
            <a:lvl4pPr>
              <a:defRPr sz="2025" b="1">
                <a:solidFill>
                  <a:srgbClr val="102C32"/>
                </a:solidFill>
                <a:latin typeface="Arial"/>
                <a:ea typeface="Arial"/>
                <a:cs typeface="Arial"/>
              </a:defRPr>
            </a:lvl4pPr>
            <a:lvl5pPr>
              <a:defRPr sz="2025" b="1">
                <a:solidFill>
                  <a:srgbClr val="102C32"/>
                </a:solidFill>
                <a:latin typeface="Arial"/>
                <a:ea typeface="Arial"/>
                <a:cs typeface="Arial"/>
              </a:defRPr>
            </a:lvl5pPr>
            <a:lvl6pPr>
              <a:defRPr sz="2025" b="1">
                <a:solidFill>
                  <a:srgbClr val="102C32"/>
                </a:solidFill>
                <a:latin typeface="Arial"/>
                <a:ea typeface="Arial"/>
                <a:cs typeface="Arial"/>
              </a:defRPr>
            </a:lvl6pPr>
            <a:lvl7pPr>
              <a:defRPr sz="2025" b="1">
                <a:solidFill>
                  <a:srgbClr val="102C32"/>
                </a:solidFill>
                <a:latin typeface="Arial"/>
                <a:ea typeface="Arial"/>
                <a:cs typeface="Arial"/>
              </a:defRPr>
            </a:lvl7pPr>
            <a:lvl8pPr>
              <a:defRPr sz="2025" b="1">
                <a:solidFill>
                  <a:srgbClr val="102C32"/>
                </a:solidFill>
                <a:latin typeface="Arial"/>
                <a:ea typeface="Arial"/>
                <a:cs typeface="Arial"/>
              </a:defRPr>
            </a:lvl8pPr>
            <a:lvl9pPr>
              <a:defRPr sz="2025" b="1">
                <a:solidFill>
                  <a:srgbClr val="102C32"/>
                </a:solidFill>
                <a:latin typeface="Arial"/>
                <a:ea typeface="Arial"/>
                <a:cs typeface="Arial"/>
              </a:defRPr>
            </a:lvl9pPr>
          </a:lstStyle>
          <a:p xmlns:a="http://schemas.openxmlformats.org/drawingml/2006/main">
            <a:pPr>
              <a:defRPr sz="2025" b="1">
                <a:solidFill>
                  <a:srgbClr val="102C32"/>
                </a:solidFill>
                <a:latin typeface="Arial"/>
                <a:ea typeface="Arial"/>
                <a:cs typeface="Arial"/>
              </a:defRPr>
            </a:pPr>
            <a:r>
              <a:rPr sz="2025" b="1">
                <a:solidFill>
                  <a:srgbClr val="102C32"/>
                </a:solidFill>
                <a:latin typeface="Arial"/>
                <a:ea typeface="Arial"/>
                <a:cs typeface="Arial"/>
              </a:rPr>
              <a:t>Staff approve any contact</a:t>
            </a:r>
          </a:p>
        </p:txBody>
      </p:sp>
      <p:sp>
        <p:nvSpPr>
          <p:cNvPr id="23" name="Bulk guide CSV: current shortlist, up to 1,000">
            <a:extLst xmlns:a="http://schemas.openxmlformats.org/drawingml/2006/main">
              <a:ext uri="{FF2B5EF4-FFF2-40B4-BE49-F238E27FC236}">
                <a16:creationId xmlns:a16="http://schemas.microsoft.com/office/drawing/2014/main" id="{6725F949-54B0-49A9-9E2E-319F19831FB9}"/>
              </a:ext>
            </a:extLst>
          </p:cNvPr>
          <p:cNvSpPr>
            <a:spLocks xmlns:a="http://schemas.openxmlformats.org/drawingml/2006/main" noGrp="1"/>
          </p:cNvSpPr>
          <p:nvPr/>
        </p:nvSpPr>
        <p:spPr>
          <a:xfrm xmlns:a="http://schemas.openxmlformats.org/drawingml/2006/main">
            <a:off x="609600" y="58864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96168"/>
                </a:solidFill>
                <a:latin typeface="Arial"/>
                <a:ea typeface="Arial"/>
                <a:cs typeface="Arial"/>
              </a:defRPr>
            </a:defPPr>
            <a:lvl1pPr>
              <a:defRPr sz="1875" b="0">
                <a:solidFill>
                  <a:srgbClr val="496168"/>
                </a:solidFill>
                <a:latin typeface="Arial"/>
                <a:ea typeface="Arial"/>
                <a:cs typeface="Arial"/>
              </a:defRPr>
            </a:lvl1pPr>
            <a:lvl2pPr>
              <a:defRPr sz="1875" b="0">
                <a:solidFill>
                  <a:srgbClr val="496168"/>
                </a:solidFill>
                <a:latin typeface="Arial"/>
                <a:ea typeface="Arial"/>
                <a:cs typeface="Arial"/>
              </a:defRPr>
            </a:lvl2pPr>
            <a:lvl3pPr>
              <a:defRPr sz="1875" b="0">
                <a:solidFill>
                  <a:srgbClr val="496168"/>
                </a:solidFill>
                <a:latin typeface="Arial"/>
                <a:ea typeface="Arial"/>
                <a:cs typeface="Arial"/>
              </a:defRPr>
            </a:lvl3pPr>
            <a:lvl4pPr>
              <a:defRPr sz="1875" b="0">
                <a:solidFill>
                  <a:srgbClr val="496168"/>
                </a:solidFill>
                <a:latin typeface="Arial"/>
                <a:ea typeface="Arial"/>
                <a:cs typeface="Arial"/>
              </a:defRPr>
            </a:lvl4pPr>
            <a:lvl5pPr>
              <a:defRPr sz="1875" b="0">
                <a:solidFill>
                  <a:srgbClr val="496168"/>
                </a:solidFill>
                <a:latin typeface="Arial"/>
                <a:ea typeface="Arial"/>
                <a:cs typeface="Arial"/>
              </a:defRPr>
            </a:lvl5pPr>
            <a:lvl6pPr>
              <a:defRPr sz="1875" b="0">
                <a:solidFill>
                  <a:srgbClr val="496168"/>
                </a:solidFill>
                <a:latin typeface="Arial"/>
                <a:ea typeface="Arial"/>
                <a:cs typeface="Arial"/>
              </a:defRPr>
            </a:lvl6pPr>
            <a:lvl7pPr>
              <a:defRPr sz="1875" b="0">
                <a:solidFill>
                  <a:srgbClr val="496168"/>
                </a:solidFill>
                <a:latin typeface="Arial"/>
                <a:ea typeface="Arial"/>
                <a:cs typeface="Arial"/>
              </a:defRPr>
            </a:lvl7pPr>
            <a:lvl8pPr>
              <a:defRPr sz="1875" b="0">
                <a:solidFill>
                  <a:srgbClr val="496168"/>
                </a:solidFill>
                <a:latin typeface="Arial"/>
                <a:ea typeface="Arial"/>
                <a:cs typeface="Arial"/>
              </a:defRPr>
            </a:lvl8pPr>
            <a:lvl9pPr>
              <a:defRPr sz="1875" b="0">
                <a:solidFill>
                  <a:srgbClr val="496168"/>
                </a:solidFill>
                <a:latin typeface="Arial"/>
                <a:ea typeface="Arial"/>
                <a:cs typeface="Arial"/>
              </a:defRPr>
            </a:lvl9pPr>
          </a:lstStyle>
          <a:p xmlns:a="http://schemas.openxmlformats.org/drawingml/2006/main">
            <a:pPr>
              <a:defRPr sz="1875" b="0">
                <a:solidFill>
                  <a:srgbClr val="496168"/>
                </a:solidFill>
                <a:latin typeface="Arial"/>
                <a:ea typeface="Arial"/>
                <a:cs typeface="Arial"/>
              </a:defRPr>
            </a:pPr>
            <a:r>
              <a:rPr sz="1875" b="0">
                <a:solidFill>
                  <a:srgbClr val="496168"/>
                </a:solidFill>
                <a:latin typeface="Arial"/>
                <a:ea typeface="Arial"/>
                <a:cs typeface="Arial"/>
              </a:rPr>
              <a:t>Bulk guide CSV: current shortlist, up to 1,000 profiles per batch</a:t>
            </a:r>
          </a:p>
        </p:txBody>
      </p:sp>
    </p:spTree>
    <p:extLst>
      <p:ext uri="{BB962C8B-B14F-4D97-AF65-F5344CB8AC3E}">
        <p14:creationId xmlns:p14="http://schemas.microsoft.com/office/powerpoint/2010/main" val="1024626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AA5CEE6-6AE2-402F-BDD1-D85F51EE4EE4}"/>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buNone/>
              <a:defRPr sz="3300" b="1">
                <a:solidFill>
                  <a:srgbClr val="102C32"/>
                </a:solidFill>
                <a:latin typeface="Arial"/>
                <a:ea typeface="Arial"/>
                <a:cs typeface="Arial"/>
              </a:defRPr>
            </a:lvl1pPr>
            <a:lvl2pPr>
              <a:buNone/>
              <a:defRPr sz="3300" b="1">
                <a:solidFill>
                  <a:srgbClr val="102C32"/>
                </a:solidFill>
                <a:latin typeface="Arial"/>
                <a:ea typeface="Arial"/>
                <a:cs typeface="Arial"/>
              </a:defRPr>
            </a:lvl2pPr>
            <a:lvl3pPr>
              <a:buNone/>
              <a:defRPr sz="3300" b="1">
                <a:solidFill>
                  <a:srgbClr val="102C32"/>
                </a:solidFill>
                <a:latin typeface="Arial"/>
                <a:ea typeface="Arial"/>
                <a:cs typeface="Arial"/>
              </a:defRPr>
            </a:lvl3pPr>
            <a:lvl4pPr>
              <a:buNone/>
              <a:defRPr sz="3300" b="1">
                <a:solidFill>
                  <a:srgbClr val="102C32"/>
                </a:solidFill>
                <a:latin typeface="Arial"/>
                <a:ea typeface="Arial"/>
                <a:cs typeface="Arial"/>
              </a:defRPr>
            </a:lvl4pPr>
            <a:lvl5pPr>
              <a:buNone/>
              <a:defRPr sz="3300" b="1">
                <a:solidFill>
                  <a:srgbClr val="102C32"/>
                </a:solidFill>
                <a:latin typeface="Arial"/>
                <a:ea typeface="Arial"/>
                <a:cs typeface="Arial"/>
              </a:defRPr>
            </a:lvl5pPr>
            <a:lvl6pPr>
              <a:buNone/>
              <a:defRPr sz="3300" b="1">
                <a:solidFill>
                  <a:srgbClr val="102C32"/>
                </a:solidFill>
                <a:latin typeface="Arial"/>
                <a:ea typeface="Arial"/>
                <a:cs typeface="Arial"/>
              </a:defRPr>
            </a:lvl6pPr>
            <a:lvl7pPr>
              <a:buNone/>
              <a:defRPr sz="3300" b="1">
                <a:solidFill>
                  <a:srgbClr val="102C32"/>
                </a:solidFill>
                <a:latin typeface="Arial"/>
                <a:ea typeface="Arial"/>
                <a:cs typeface="Arial"/>
              </a:defRPr>
            </a:lvl7pPr>
            <a:lvl8pPr>
              <a:buNone/>
              <a:defRPr sz="3300" b="1">
                <a:solidFill>
                  <a:srgbClr val="102C32"/>
                </a:solidFill>
                <a:latin typeface="Arial"/>
                <a:ea typeface="Arial"/>
                <a:cs typeface="Arial"/>
              </a:defRPr>
            </a:lvl8pPr>
            <a:lvl9pPr>
              <a:buNone/>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Staff can prepare an individual conversation</a:t>
            </a:r>
          </a:p>
        </p:txBody>
      </p:sp>
      <p:sp>
        <p:nvSpPr>
          <p:cNvPr id="2" name="MSBA265  /  Final Project Proposal">
            <a:extLst xmlns:a="http://schemas.openxmlformats.org/drawingml/2006/main">
              <a:ext uri="{FF2B5EF4-FFF2-40B4-BE49-F238E27FC236}">
                <a16:creationId xmlns:a16="http://schemas.microsoft.com/office/drawing/2014/main" id="{4AF14456-B774-4162-B506-BDEE2E5775F1}"/>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5">
            <a:extLst xmlns:a="http://schemas.openxmlformats.org/drawingml/2006/main">
              <a:ext uri="{FF2B5EF4-FFF2-40B4-BE49-F238E27FC236}">
                <a16:creationId xmlns:a16="http://schemas.microsoft.com/office/drawing/2014/main" id="{32DA9A77-595E-43E9-AF29-D60C0626B4CB}"/>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05</a:t>
            </a:r>
          </a:p>
        </p:txBody>
      </p:sp>
      <p:sp>
        <p:nvSpPr>
          <p:cNvPr id="10" name="Synthetic profile example with an editable dra">
            <a:extLst xmlns:a="http://schemas.openxmlformats.org/drawingml/2006/main">
              <a:ext uri="{FF2B5EF4-FFF2-40B4-BE49-F238E27FC236}">
                <a16:creationId xmlns:a16="http://schemas.microsoft.com/office/drawing/2014/main" id="{98403FBC-38AF-46FF-9528-D5518C8469CE}"/>
              </a:ext>
            </a:extLst>
          </p:cNvPr>
          <p:cNvSpPr>
            <a:spLocks xmlns:a="http://schemas.openxmlformats.org/drawingml/2006/main" noGrp="1"/>
          </p:cNvSpPr>
          <p:nvPr/>
        </p:nvSpPr>
        <p:spPr>
          <a:xfrm xmlns:a="http://schemas.openxmlformats.org/drawingml/2006/main">
            <a:off x="609600" y="13716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5866C"/>
                </a:solidFill>
                <a:latin typeface="Arial"/>
                <a:ea typeface="Arial"/>
                <a:cs typeface="Arial"/>
              </a:defRPr>
            </a:defPPr>
            <a:lvl1pPr>
              <a:defRPr sz="2325" b="1">
                <a:solidFill>
                  <a:srgbClr val="15866C"/>
                </a:solidFill>
                <a:latin typeface="Arial"/>
                <a:ea typeface="Arial"/>
                <a:cs typeface="Arial"/>
              </a:defRPr>
            </a:lvl1pPr>
            <a:lvl2pPr>
              <a:defRPr sz="2325" b="1">
                <a:solidFill>
                  <a:srgbClr val="15866C"/>
                </a:solidFill>
                <a:latin typeface="Arial"/>
                <a:ea typeface="Arial"/>
                <a:cs typeface="Arial"/>
              </a:defRPr>
            </a:lvl2pPr>
            <a:lvl3pPr>
              <a:defRPr sz="2325" b="1">
                <a:solidFill>
                  <a:srgbClr val="15866C"/>
                </a:solidFill>
                <a:latin typeface="Arial"/>
                <a:ea typeface="Arial"/>
                <a:cs typeface="Arial"/>
              </a:defRPr>
            </a:lvl3pPr>
            <a:lvl4pPr>
              <a:defRPr sz="2325" b="1">
                <a:solidFill>
                  <a:srgbClr val="15866C"/>
                </a:solidFill>
                <a:latin typeface="Arial"/>
                <a:ea typeface="Arial"/>
                <a:cs typeface="Arial"/>
              </a:defRPr>
            </a:lvl4pPr>
            <a:lvl5pPr>
              <a:defRPr sz="2325" b="1">
                <a:solidFill>
                  <a:srgbClr val="15866C"/>
                </a:solidFill>
                <a:latin typeface="Arial"/>
                <a:ea typeface="Arial"/>
                <a:cs typeface="Arial"/>
              </a:defRPr>
            </a:lvl5pPr>
            <a:lvl6pPr>
              <a:defRPr sz="2325" b="1">
                <a:solidFill>
                  <a:srgbClr val="15866C"/>
                </a:solidFill>
                <a:latin typeface="Arial"/>
                <a:ea typeface="Arial"/>
                <a:cs typeface="Arial"/>
              </a:defRPr>
            </a:lvl6pPr>
            <a:lvl7pPr>
              <a:defRPr sz="2325" b="1">
                <a:solidFill>
                  <a:srgbClr val="15866C"/>
                </a:solidFill>
                <a:latin typeface="Arial"/>
                <a:ea typeface="Arial"/>
                <a:cs typeface="Arial"/>
              </a:defRPr>
            </a:lvl7pPr>
            <a:lvl8pPr>
              <a:defRPr sz="2325" b="1">
                <a:solidFill>
                  <a:srgbClr val="15866C"/>
                </a:solidFill>
                <a:latin typeface="Arial"/>
                <a:ea typeface="Arial"/>
                <a:cs typeface="Arial"/>
              </a:defRPr>
            </a:lvl8pPr>
            <a:lvl9pPr>
              <a:defRPr sz="2325" b="1">
                <a:solidFill>
                  <a:srgbClr val="15866C"/>
                </a:solidFill>
                <a:latin typeface="Arial"/>
                <a:ea typeface="Arial"/>
                <a:cs typeface="Arial"/>
              </a:defRPr>
            </a:lvl9pPr>
          </a:lstStyle>
          <a:p xmlns:a="http://schemas.openxmlformats.org/drawingml/2006/main">
            <a:pPr>
              <a:defRPr sz="2325" b="1">
                <a:solidFill>
                  <a:srgbClr val="15866C"/>
                </a:solidFill>
                <a:latin typeface="Arial"/>
                <a:ea typeface="Arial"/>
                <a:cs typeface="Arial"/>
              </a:defRPr>
            </a:pPr>
            <a:r>
              <a:rPr sz="2325" b="1">
                <a:solidFill>
                  <a:srgbClr val="15866C"/>
                </a:solidFill>
                <a:latin typeface="Arial"/>
                <a:ea typeface="Arial"/>
                <a:cs typeface="Arial"/>
              </a:rPr>
              <a:t>Synthetic profile example with an editable draft</a:t>
            </a:r>
          </a:p>
        </p:txBody>
      </p:sp>
      <p:pic>
        <p:nvPicPr>
          <p:cNvPr id="11" name="">
            <a:extLst xmlns:a="http://schemas.openxmlformats.org/drawingml/2006/main">
              <a:ext uri="{FF2B5EF4-FFF2-40B4-BE49-F238E27FC236}">
                <a16:creationId xmlns:a16="http://schemas.microsoft.com/office/drawing/2014/main" id="{3A0865B5-E9B4-473E-80DD-99F82F4334CB}"/>
              </a:ext>
            </a:extLst>
          </p:cNvPr>
          <p:cNvPicPr>
            <a:picLocks xmlns:a="http://schemas.openxmlformats.org/drawingml/2006/main" noChangeAspect="1"/>
          </p:cNvPicPr>
          <p:nvPr/>
        </p:nvPicPr>
        <p:blipFill>
          <a:blip xmlns:r="http://schemas.openxmlformats.org/officeDocument/2006/relationships" xmlns:a="http://schemas.openxmlformats.org/drawingml/2006/main" r:embed="R6931e79faa124b6c"/>
          <a:srcRect xmlns:a="http://schemas.openxmlformats.org/drawingml/2006/main" l="5000" t="34167" r="5000" b="0"/>
          <a:stretch xmlns:a="http://schemas.openxmlformats.org/drawingml/2006/main"/>
        </p:blipFill>
        <p:spPr>
          <a:xfrm xmlns:a="http://schemas.openxmlformats.org/drawingml/2006/main">
            <a:off x="609600" y="1743075"/>
            <a:ext cx="10972800" cy="4514850"/>
          </a:xfrm>
          <a:prstGeom xmlns:a="http://schemas.openxmlformats.org/drawingml/2006/main" prst="rect">
            <a:avLst/>
          </a:prstGeom>
        </p:spPr>
      </p:pic>
    </p:spTree>
    <p:extLst>
      <p:ext uri="{BB962C8B-B14F-4D97-AF65-F5344CB8AC3E}">
        <p14:creationId xmlns:p14="http://schemas.microsoft.com/office/powerpoint/2010/main" val="17598788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CCD8E26-9D54-4087-9499-66081B818180}"/>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The top 10% contains more Yes labels</a:t>
            </a:r>
          </a:p>
        </p:txBody>
      </p:sp>
      <p:sp>
        <p:nvSpPr>
          <p:cNvPr id="2" name="MSBA265  /  Final Project Proposal">
            <a:extLst xmlns:a="http://schemas.openxmlformats.org/drawingml/2006/main">
              <a:ext uri="{FF2B5EF4-FFF2-40B4-BE49-F238E27FC236}">
                <a16:creationId xmlns:a16="http://schemas.microsoft.com/office/drawing/2014/main" id="{55652EEF-79EE-4C51-9407-210BBEB9F757}"/>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6">
            <a:extLst xmlns:a="http://schemas.openxmlformats.org/drawingml/2006/main">
              <a:ext uri="{FF2B5EF4-FFF2-40B4-BE49-F238E27FC236}">
                <a16:creationId xmlns:a16="http://schemas.microsoft.com/office/drawing/2014/main" id="{33611F07-FC7E-4E62-B3E2-47037749D647}"/>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06</a:t>
            </a:r>
          </a:p>
        </p:txBody>
      </p:sp>
      <p:sp>
        <p:nvSpPr>
          <p:cNvPr id="9" name="About 79 in 100 shortlisted profiles carry a Y">
            <a:extLst xmlns:a="http://schemas.openxmlformats.org/drawingml/2006/main">
              <a:ext uri="{FF2B5EF4-FFF2-40B4-BE49-F238E27FC236}">
                <a16:creationId xmlns:a16="http://schemas.microsoft.com/office/drawing/2014/main" id="{F6B43F4C-15AF-4B8A-A57B-B13F7EE215C4}"/>
              </a:ext>
            </a:extLst>
          </p:cNvPr>
          <p:cNvSpPr>
            <a:spLocks xmlns:a="http://schemas.openxmlformats.org/drawingml/2006/main" noGrp="1"/>
          </p:cNvSpPr>
          <p:nvPr/>
        </p:nvSpPr>
        <p:spPr>
          <a:xfrm xmlns:a="http://schemas.openxmlformats.org/drawingml/2006/main">
            <a:off x="609600" y="13716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About 79 in 100 shortlisted profiles carry a Yes label</a:t>
            </a:r>
          </a:p>
        </p:txBody>
      </p:sp>
      <p:graphicFrame>
        <p:nvGraphicFramePr>
          <p:cNvPr id="10" name="Chart">
            <a:extLst xmlns:a="http://schemas.openxmlformats.org/drawingml/2006/main">
              <a:ext uri="{FF2B5EF4-FFF2-40B4-BE49-F238E27FC236}">
                <a16:creationId xmlns:a16="http://schemas.microsoft.com/office/drawing/2014/main" id="{C50E1EFB-49D7-4081-80E9-9611FBD2F5B7}"/>
              </a:ext>
            </a:extLst>
          </p:cNvPr>
          <p:cNvGraphicFramePr/>
          <p:nvPr/>
        </p:nvGraphicFramePr>
        <p:xfrm>
          <a:off xmlns:a="http://schemas.openxmlformats.org/drawingml/2006/main" x="609600" y="2190750"/>
          <a:ext xmlns:a="http://schemas.openxmlformats.org/drawingml/2006/main" cx="7000875" cy="3409950"/>
        </p:xfrm>
        <a:graphic xmlns:a="http://schemas.openxmlformats.org/drawingml/2006/main">
          <a:graphicData uri="http://schemas.openxmlformats.org/drawingml/2006/chart">
            <c:chart xmlns:r="http://schemas.openxmlformats.org/officeDocument/2006/relationships" xmlns:c="http://schemas.openxmlformats.org/drawingml/2006/chart" r:id="Re226cf20d0734c8c"/>
          </a:graphicData>
        </a:graphic>
      </p:graphicFrame>
      <p:sp>
        <p:nvSpPr>
          <p:cNvPr id="11" name="10,030">
            <a:extLst xmlns:a="http://schemas.openxmlformats.org/drawingml/2006/main">
              <a:ext uri="{FF2B5EF4-FFF2-40B4-BE49-F238E27FC236}">
                <a16:creationId xmlns:a16="http://schemas.microsoft.com/office/drawing/2014/main" id="{C1DDA422-F27A-4269-9B6D-BCA90FD089A4}"/>
              </a:ext>
            </a:extLst>
          </p:cNvPr>
          <p:cNvSpPr>
            <a:spLocks xmlns:a="http://schemas.openxmlformats.org/drawingml/2006/main" noGrp="1"/>
          </p:cNvSpPr>
          <p:nvPr/>
        </p:nvSpPr>
        <p:spPr>
          <a:xfrm xmlns:a="http://schemas.openxmlformats.org/drawingml/2006/main">
            <a:off x="8286750" y="2381250"/>
            <a:ext cx="327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15866C"/>
                </a:solidFill>
                <a:latin typeface="Arial"/>
                <a:ea typeface="Arial"/>
                <a:cs typeface="Arial"/>
              </a:defRPr>
            </a:defPPr>
            <a:lvl1pPr algn="l">
              <a:defRPr sz="3825" b="1">
                <a:solidFill>
                  <a:srgbClr val="15866C"/>
                </a:solidFill>
                <a:latin typeface="Arial"/>
                <a:ea typeface="Arial"/>
                <a:cs typeface="Arial"/>
              </a:defRPr>
            </a:lvl1pPr>
            <a:lvl2pPr algn="l">
              <a:defRPr sz="3825" b="1">
                <a:solidFill>
                  <a:srgbClr val="15866C"/>
                </a:solidFill>
                <a:latin typeface="Arial"/>
                <a:ea typeface="Arial"/>
                <a:cs typeface="Arial"/>
              </a:defRPr>
            </a:lvl2pPr>
            <a:lvl3pPr algn="l">
              <a:defRPr sz="3825" b="1">
                <a:solidFill>
                  <a:srgbClr val="15866C"/>
                </a:solidFill>
                <a:latin typeface="Arial"/>
                <a:ea typeface="Arial"/>
                <a:cs typeface="Arial"/>
              </a:defRPr>
            </a:lvl3pPr>
            <a:lvl4pPr algn="l">
              <a:defRPr sz="3825" b="1">
                <a:solidFill>
                  <a:srgbClr val="15866C"/>
                </a:solidFill>
                <a:latin typeface="Arial"/>
                <a:ea typeface="Arial"/>
                <a:cs typeface="Arial"/>
              </a:defRPr>
            </a:lvl4pPr>
            <a:lvl5pPr algn="l">
              <a:defRPr sz="3825" b="1">
                <a:solidFill>
                  <a:srgbClr val="15866C"/>
                </a:solidFill>
                <a:latin typeface="Arial"/>
                <a:ea typeface="Arial"/>
                <a:cs typeface="Arial"/>
              </a:defRPr>
            </a:lvl5pPr>
            <a:lvl6pPr algn="l">
              <a:defRPr sz="3825" b="1">
                <a:solidFill>
                  <a:srgbClr val="15866C"/>
                </a:solidFill>
                <a:latin typeface="Arial"/>
                <a:ea typeface="Arial"/>
                <a:cs typeface="Arial"/>
              </a:defRPr>
            </a:lvl6pPr>
            <a:lvl7pPr algn="l">
              <a:defRPr sz="3825" b="1">
                <a:solidFill>
                  <a:srgbClr val="15866C"/>
                </a:solidFill>
                <a:latin typeface="Arial"/>
                <a:ea typeface="Arial"/>
                <a:cs typeface="Arial"/>
              </a:defRPr>
            </a:lvl7pPr>
            <a:lvl8pPr algn="l">
              <a:defRPr sz="3825" b="1">
                <a:solidFill>
                  <a:srgbClr val="15866C"/>
                </a:solidFill>
                <a:latin typeface="Arial"/>
                <a:ea typeface="Arial"/>
                <a:cs typeface="Arial"/>
              </a:defRPr>
            </a:lvl8pPr>
            <a:lvl9pPr algn="l">
              <a:defRPr sz="3825" b="1">
                <a:solidFill>
                  <a:srgbClr val="15866C"/>
                </a:solidFill>
                <a:latin typeface="Arial"/>
                <a:ea typeface="Arial"/>
                <a:cs typeface="Arial"/>
              </a:defRPr>
            </a:lvl9pPr>
          </a:lstStyle>
          <a:p xmlns:a="http://schemas.openxmlformats.org/drawingml/2006/main">
            <a:pPr algn="l">
              <a:defRPr sz="3825" b="1">
                <a:solidFill>
                  <a:srgbClr val="15866C"/>
                </a:solidFill>
                <a:latin typeface="Arial"/>
                <a:ea typeface="Arial"/>
                <a:cs typeface="Arial"/>
              </a:defRPr>
            </a:pPr>
            <a:r>
              <a:rPr sz="3825" b="1">
                <a:solidFill>
                  <a:srgbClr val="15866C"/>
                </a:solidFill>
                <a:latin typeface="Arial"/>
                <a:ea typeface="Arial"/>
                <a:cs typeface="Arial"/>
              </a:rPr>
              <a:t>10,030</a:t>
            </a:r>
          </a:p>
        </p:txBody>
      </p:sp>
      <p:sp>
        <p:nvSpPr>
          <p:cNvPr id="12" name="profiles selected from&#10;100,300 evaluation prof">
            <a:extLst xmlns:a="http://schemas.openxmlformats.org/drawingml/2006/main">
              <a:ext uri="{FF2B5EF4-FFF2-40B4-BE49-F238E27FC236}">
                <a16:creationId xmlns:a16="http://schemas.microsoft.com/office/drawing/2014/main" id="{0201E500-6600-41FB-98F4-3FE772E0E5B0}"/>
              </a:ext>
            </a:extLst>
          </p:cNvPr>
          <p:cNvSpPr>
            <a:spLocks xmlns:a="http://schemas.openxmlformats.org/drawingml/2006/main" noGrp="1"/>
          </p:cNvSpPr>
          <p:nvPr/>
        </p:nvSpPr>
        <p:spPr>
          <a:xfrm xmlns:a="http://schemas.openxmlformats.org/drawingml/2006/main">
            <a:off x="8286750" y="3105150"/>
            <a:ext cx="3276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C32"/>
                </a:solidFill>
                <a:latin typeface="Arial"/>
                <a:ea typeface="Arial"/>
                <a:cs typeface="Arial"/>
              </a:defRPr>
            </a:defPPr>
            <a:lvl1pPr algn="l">
              <a:defRPr sz="2025" b="0">
                <a:solidFill>
                  <a:srgbClr val="102C32"/>
                </a:solidFill>
                <a:latin typeface="Arial"/>
                <a:ea typeface="Arial"/>
                <a:cs typeface="Arial"/>
              </a:defRPr>
            </a:lvl1pPr>
            <a:lvl2pPr algn="l">
              <a:defRPr sz="2025" b="0">
                <a:solidFill>
                  <a:srgbClr val="102C32"/>
                </a:solidFill>
                <a:latin typeface="Arial"/>
                <a:ea typeface="Arial"/>
                <a:cs typeface="Arial"/>
              </a:defRPr>
            </a:lvl2pPr>
            <a:lvl3pPr algn="l">
              <a:defRPr sz="2025" b="0">
                <a:solidFill>
                  <a:srgbClr val="102C32"/>
                </a:solidFill>
                <a:latin typeface="Arial"/>
                <a:ea typeface="Arial"/>
                <a:cs typeface="Arial"/>
              </a:defRPr>
            </a:lvl3pPr>
            <a:lvl4pPr algn="l">
              <a:defRPr sz="2025" b="0">
                <a:solidFill>
                  <a:srgbClr val="102C32"/>
                </a:solidFill>
                <a:latin typeface="Arial"/>
                <a:ea typeface="Arial"/>
                <a:cs typeface="Arial"/>
              </a:defRPr>
            </a:lvl4pPr>
            <a:lvl5pPr algn="l">
              <a:defRPr sz="2025" b="0">
                <a:solidFill>
                  <a:srgbClr val="102C32"/>
                </a:solidFill>
                <a:latin typeface="Arial"/>
                <a:ea typeface="Arial"/>
                <a:cs typeface="Arial"/>
              </a:defRPr>
            </a:lvl5pPr>
            <a:lvl6pPr algn="l">
              <a:defRPr sz="2025" b="0">
                <a:solidFill>
                  <a:srgbClr val="102C32"/>
                </a:solidFill>
                <a:latin typeface="Arial"/>
                <a:ea typeface="Arial"/>
                <a:cs typeface="Arial"/>
              </a:defRPr>
            </a:lvl6pPr>
            <a:lvl7pPr algn="l">
              <a:defRPr sz="2025" b="0">
                <a:solidFill>
                  <a:srgbClr val="102C32"/>
                </a:solidFill>
                <a:latin typeface="Arial"/>
                <a:ea typeface="Arial"/>
                <a:cs typeface="Arial"/>
              </a:defRPr>
            </a:lvl7pPr>
            <a:lvl8pPr algn="l">
              <a:defRPr sz="2025" b="0">
                <a:solidFill>
                  <a:srgbClr val="102C32"/>
                </a:solidFill>
                <a:latin typeface="Arial"/>
                <a:ea typeface="Arial"/>
                <a:cs typeface="Arial"/>
              </a:defRPr>
            </a:lvl8pPr>
            <a:lvl9pPr algn="l">
              <a:defRPr sz="2025" b="0">
                <a:solidFill>
                  <a:srgbClr val="102C32"/>
                </a:solidFill>
                <a:latin typeface="Arial"/>
                <a:ea typeface="Arial"/>
                <a:cs typeface="Arial"/>
              </a:defRPr>
            </a:lvl9pPr>
          </a:lstStyle>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profiles selected from</a:t>
            </a:r>
          </a:p>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100,300 evaluation profiles</a:t>
            </a:r>
          </a:p>
        </p:txBody>
      </p:sp>
      <p:sp>
        <p:nvSpPr>
          <p:cNvPr id="13" name="4.51 times">
            <a:extLst xmlns:a="http://schemas.openxmlformats.org/drawingml/2006/main">
              <a:ext uri="{FF2B5EF4-FFF2-40B4-BE49-F238E27FC236}">
                <a16:creationId xmlns:a16="http://schemas.microsoft.com/office/drawing/2014/main" id="{25D902C3-1B3C-488F-8ECC-31F27F9664BC}"/>
              </a:ext>
            </a:extLst>
          </p:cNvPr>
          <p:cNvSpPr>
            <a:spLocks xmlns:a="http://schemas.openxmlformats.org/drawingml/2006/main" noGrp="1"/>
          </p:cNvSpPr>
          <p:nvPr/>
        </p:nvSpPr>
        <p:spPr>
          <a:xfrm xmlns:a="http://schemas.openxmlformats.org/drawingml/2006/main">
            <a:off x="8286750" y="4324350"/>
            <a:ext cx="327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02C32"/>
                </a:solidFill>
                <a:latin typeface="Arial"/>
                <a:ea typeface="Arial"/>
                <a:cs typeface="Arial"/>
              </a:defRPr>
            </a:defPPr>
            <a:lvl1pPr algn="l">
              <a:defRPr sz="3000" b="1">
                <a:solidFill>
                  <a:srgbClr val="102C32"/>
                </a:solidFill>
                <a:latin typeface="Arial"/>
                <a:ea typeface="Arial"/>
                <a:cs typeface="Arial"/>
              </a:defRPr>
            </a:lvl1pPr>
            <a:lvl2pPr algn="l">
              <a:defRPr sz="3000" b="1">
                <a:solidFill>
                  <a:srgbClr val="102C32"/>
                </a:solidFill>
                <a:latin typeface="Arial"/>
                <a:ea typeface="Arial"/>
                <a:cs typeface="Arial"/>
              </a:defRPr>
            </a:lvl2pPr>
            <a:lvl3pPr algn="l">
              <a:defRPr sz="3000" b="1">
                <a:solidFill>
                  <a:srgbClr val="102C32"/>
                </a:solidFill>
                <a:latin typeface="Arial"/>
                <a:ea typeface="Arial"/>
                <a:cs typeface="Arial"/>
              </a:defRPr>
            </a:lvl3pPr>
            <a:lvl4pPr algn="l">
              <a:defRPr sz="3000" b="1">
                <a:solidFill>
                  <a:srgbClr val="102C32"/>
                </a:solidFill>
                <a:latin typeface="Arial"/>
                <a:ea typeface="Arial"/>
                <a:cs typeface="Arial"/>
              </a:defRPr>
            </a:lvl4pPr>
            <a:lvl5pPr algn="l">
              <a:defRPr sz="3000" b="1">
                <a:solidFill>
                  <a:srgbClr val="102C32"/>
                </a:solidFill>
                <a:latin typeface="Arial"/>
                <a:ea typeface="Arial"/>
                <a:cs typeface="Arial"/>
              </a:defRPr>
            </a:lvl5pPr>
            <a:lvl6pPr algn="l">
              <a:defRPr sz="3000" b="1">
                <a:solidFill>
                  <a:srgbClr val="102C32"/>
                </a:solidFill>
                <a:latin typeface="Arial"/>
                <a:ea typeface="Arial"/>
                <a:cs typeface="Arial"/>
              </a:defRPr>
            </a:lvl6pPr>
            <a:lvl7pPr algn="l">
              <a:defRPr sz="3000" b="1">
                <a:solidFill>
                  <a:srgbClr val="102C32"/>
                </a:solidFill>
                <a:latin typeface="Arial"/>
                <a:ea typeface="Arial"/>
                <a:cs typeface="Arial"/>
              </a:defRPr>
            </a:lvl7pPr>
            <a:lvl8pPr algn="l">
              <a:defRPr sz="3000" b="1">
                <a:solidFill>
                  <a:srgbClr val="102C32"/>
                </a:solidFill>
                <a:latin typeface="Arial"/>
                <a:ea typeface="Arial"/>
                <a:cs typeface="Arial"/>
              </a:defRPr>
            </a:lvl8pPr>
            <a:lvl9pPr algn="l">
              <a:defRPr sz="3000" b="1">
                <a:solidFill>
                  <a:srgbClr val="102C32"/>
                </a:solidFill>
                <a:latin typeface="Arial"/>
                <a:ea typeface="Arial"/>
                <a:cs typeface="Arial"/>
              </a:defRPr>
            </a:lvl9pPr>
          </a:lstStyle>
          <a:p xmlns:a="http://schemas.openxmlformats.org/drawingml/2006/main">
            <a:pPr algn="l">
              <a:defRPr sz="3000" b="1">
                <a:solidFill>
                  <a:srgbClr val="102C32"/>
                </a:solidFill>
                <a:latin typeface="Arial"/>
                <a:ea typeface="Arial"/>
                <a:cs typeface="Arial"/>
              </a:defRPr>
            </a:pPr>
            <a:r>
              <a:rPr sz="3000" b="1">
                <a:solidFill>
                  <a:srgbClr val="102C32"/>
                </a:solidFill>
                <a:latin typeface="Arial"/>
                <a:ea typeface="Arial"/>
                <a:cs typeface="Arial"/>
              </a:rPr>
              <a:t>4.51 times</a:t>
            </a:r>
          </a:p>
        </p:txBody>
      </p:sp>
      <p:sp>
        <p:nvSpPr>
          <p:cNvPr id="14" name="the overall Yes-label share">
            <a:extLst xmlns:a="http://schemas.openxmlformats.org/drawingml/2006/main">
              <a:ext uri="{FF2B5EF4-FFF2-40B4-BE49-F238E27FC236}">
                <a16:creationId xmlns:a16="http://schemas.microsoft.com/office/drawing/2014/main" id="{DED82B16-6B86-45CF-8154-6DA8557D93BB}"/>
              </a:ext>
            </a:extLst>
          </p:cNvPr>
          <p:cNvSpPr>
            <a:spLocks xmlns:a="http://schemas.openxmlformats.org/drawingml/2006/main" noGrp="1"/>
          </p:cNvSpPr>
          <p:nvPr/>
        </p:nvSpPr>
        <p:spPr>
          <a:xfrm xmlns:a="http://schemas.openxmlformats.org/drawingml/2006/main">
            <a:off x="8286750" y="4933950"/>
            <a:ext cx="327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C32"/>
                </a:solidFill>
                <a:latin typeface="Arial"/>
                <a:ea typeface="Arial"/>
                <a:cs typeface="Arial"/>
              </a:defRPr>
            </a:defPPr>
            <a:lvl1pPr algn="l">
              <a:defRPr sz="2025" b="0">
                <a:solidFill>
                  <a:srgbClr val="102C32"/>
                </a:solidFill>
                <a:latin typeface="Arial"/>
                <a:ea typeface="Arial"/>
                <a:cs typeface="Arial"/>
              </a:defRPr>
            </a:lvl1pPr>
            <a:lvl2pPr algn="l">
              <a:defRPr sz="2025" b="0">
                <a:solidFill>
                  <a:srgbClr val="102C32"/>
                </a:solidFill>
                <a:latin typeface="Arial"/>
                <a:ea typeface="Arial"/>
                <a:cs typeface="Arial"/>
              </a:defRPr>
            </a:lvl2pPr>
            <a:lvl3pPr algn="l">
              <a:defRPr sz="2025" b="0">
                <a:solidFill>
                  <a:srgbClr val="102C32"/>
                </a:solidFill>
                <a:latin typeface="Arial"/>
                <a:ea typeface="Arial"/>
                <a:cs typeface="Arial"/>
              </a:defRPr>
            </a:lvl3pPr>
            <a:lvl4pPr algn="l">
              <a:defRPr sz="2025" b="0">
                <a:solidFill>
                  <a:srgbClr val="102C32"/>
                </a:solidFill>
                <a:latin typeface="Arial"/>
                <a:ea typeface="Arial"/>
                <a:cs typeface="Arial"/>
              </a:defRPr>
            </a:lvl4pPr>
            <a:lvl5pPr algn="l">
              <a:defRPr sz="2025" b="0">
                <a:solidFill>
                  <a:srgbClr val="102C32"/>
                </a:solidFill>
                <a:latin typeface="Arial"/>
                <a:ea typeface="Arial"/>
                <a:cs typeface="Arial"/>
              </a:defRPr>
            </a:lvl5pPr>
            <a:lvl6pPr algn="l">
              <a:defRPr sz="2025" b="0">
                <a:solidFill>
                  <a:srgbClr val="102C32"/>
                </a:solidFill>
                <a:latin typeface="Arial"/>
                <a:ea typeface="Arial"/>
                <a:cs typeface="Arial"/>
              </a:defRPr>
            </a:lvl6pPr>
            <a:lvl7pPr algn="l">
              <a:defRPr sz="2025" b="0">
                <a:solidFill>
                  <a:srgbClr val="102C32"/>
                </a:solidFill>
                <a:latin typeface="Arial"/>
                <a:ea typeface="Arial"/>
                <a:cs typeface="Arial"/>
              </a:defRPr>
            </a:lvl7pPr>
            <a:lvl8pPr algn="l">
              <a:defRPr sz="2025" b="0">
                <a:solidFill>
                  <a:srgbClr val="102C32"/>
                </a:solidFill>
                <a:latin typeface="Arial"/>
                <a:ea typeface="Arial"/>
                <a:cs typeface="Arial"/>
              </a:defRPr>
            </a:lvl8pPr>
            <a:lvl9pPr algn="l">
              <a:defRPr sz="2025" b="0">
                <a:solidFill>
                  <a:srgbClr val="102C32"/>
                </a:solidFill>
                <a:latin typeface="Arial"/>
                <a:ea typeface="Arial"/>
                <a:cs typeface="Arial"/>
              </a:defRPr>
            </a:lvl9pPr>
          </a:lstStyle>
          <a:p xmlns:a="http://schemas.openxmlformats.org/drawingml/2006/main">
            <a:pPr algn="l">
              <a:defRPr sz="2025" b="0">
                <a:solidFill>
                  <a:srgbClr val="102C32"/>
                </a:solidFill>
                <a:latin typeface="Arial"/>
                <a:ea typeface="Arial"/>
                <a:cs typeface="Arial"/>
              </a:defRPr>
            </a:pPr>
            <a:r>
              <a:rPr sz="2025" b="0">
                <a:solidFill>
                  <a:srgbClr val="102C32"/>
                </a:solidFill>
                <a:latin typeface="Arial"/>
                <a:ea typeface="Arial"/>
                <a:cs typeface="Arial"/>
              </a:rPr>
              <a:t>the overall Yes-label share</a:t>
            </a:r>
          </a:p>
        </p:txBody>
      </p:sp>
      <p:sp>
        <p:nvSpPr>
          <p:cNvPr id="15" name="Synthetic evaluation results. Actual outreach ">
            <a:extLst xmlns:a="http://schemas.openxmlformats.org/drawingml/2006/main">
              <a:ext uri="{FF2B5EF4-FFF2-40B4-BE49-F238E27FC236}">
                <a16:creationId xmlns:a16="http://schemas.microsoft.com/office/drawing/2014/main" id="{D329966A-31E0-4AD5-B668-4BD5F65D8936}"/>
              </a:ext>
            </a:extLst>
          </p:cNvPr>
          <p:cNvSpPr>
            <a:spLocks xmlns:a="http://schemas.openxmlformats.org/drawingml/2006/main" noGrp="1"/>
          </p:cNvSpPr>
          <p:nvPr/>
        </p:nvSpPr>
        <p:spPr>
          <a:xfrm xmlns:a="http://schemas.openxmlformats.org/drawingml/2006/main">
            <a:off x="609600" y="5848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02C32"/>
                </a:solidFill>
                <a:latin typeface="Arial"/>
                <a:ea typeface="Arial"/>
                <a:cs typeface="Arial"/>
              </a:defRPr>
            </a:defPPr>
            <a:lvl1pPr algn="l">
              <a:defRPr sz="1875" b="1">
                <a:solidFill>
                  <a:srgbClr val="102C32"/>
                </a:solidFill>
                <a:latin typeface="Arial"/>
                <a:ea typeface="Arial"/>
                <a:cs typeface="Arial"/>
              </a:defRPr>
            </a:lvl1pPr>
            <a:lvl2pPr algn="l">
              <a:defRPr sz="1875" b="1">
                <a:solidFill>
                  <a:srgbClr val="102C32"/>
                </a:solidFill>
                <a:latin typeface="Arial"/>
                <a:ea typeface="Arial"/>
                <a:cs typeface="Arial"/>
              </a:defRPr>
            </a:lvl2pPr>
            <a:lvl3pPr algn="l">
              <a:defRPr sz="1875" b="1">
                <a:solidFill>
                  <a:srgbClr val="102C32"/>
                </a:solidFill>
                <a:latin typeface="Arial"/>
                <a:ea typeface="Arial"/>
                <a:cs typeface="Arial"/>
              </a:defRPr>
            </a:lvl3pPr>
            <a:lvl4pPr algn="l">
              <a:defRPr sz="1875" b="1">
                <a:solidFill>
                  <a:srgbClr val="102C32"/>
                </a:solidFill>
                <a:latin typeface="Arial"/>
                <a:ea typeface="Arial"/>
                <a:cs typeface="Arial"/>
              </a:defRPr>
            </a:lvl4pPr>
            <a:lvl5pPr algn="l">
              <a:defRPr sz="1875" b="1">
                <a:solidFill>
                  <a:srgbClr val="102C32"/>
                </a:solidFill>
                <a:latin typeface="Arial"/>
                <a:ea typeface="Arial"/>
                <a:cs typeface="Arial"/>
              </a:defRPr>
            </a:lvl5pPr>
            <a:lvl6pPr algn="l">
              <a:defRPr sz="1875" b="1">
                <a:solidFill>
                  <a:srgbClr val="102C32"/>
                </a:solidFill>
                <a:latin typeface="Arial"/>
                <a:ea typeface="Arial"/>
                <a:cs typeface="Arial"/>
              </a:defRPr>
            </a:lvl6pPr>
            <a:lvl7pPr algn="l">
              <a:defRPr sz="1875" b="1">
                <a:solidFill>
                  <a:srgbClr val="102C32"/>
                </a:solidFill>
                <a:latin typeface="Arial"/>
                <a:ea typeface="Arial"/>
                <a:cs typeface="Arial"/>
              </a:defRPr>
            </a:lvl7pPr>
            <a:lvl8pPr algn="l">
              <a:defRPr sz="1875" b="1">
                <a:solidFill>
                  <a:srgbClr val="102C32"/>
                </a:solidFill>
                <a:latin typeface="Arial"/>
                <a:ea typeface="Arial"/>
                <a:cs typeface="Arial"/>
              </a:defRPr>
            </a:lvl8pPr>
            <a:lvl9pPr algn="l">
              <a:defRPr sz="1875" b="1">
                <a:solidFill>
                  <a:srgbClr val="102C32"/>
                </a:solidFill>
                <a:latin typeface="Arial"/>
                <a:ea typeface="Arial"/>
                <a:cs typeface="Arial"/>
              </a:defRPr>
            </a:lvl9pPr>
          </a:lstStyle>
          <a:p xmlns:a="http://schemas.openxmlformats.org/drawingml/2006/main">
            <a:pPr algn="l">
              <a:defRPr sz="1875" b="1">
                <a:solidFill>
                  <a:srgbClr val="102C32"/>
                </a:solidFill>
                <a:latin typeface="Arial"/>
                <a:ea typeface="Arial"/>
                <a:cs typeface="Arial"/>
              </a:defRPr>
            </a:pPr>
            <a:r>
              <a:rPr sz="1875" b="1">
                <a:solidFill>
                  <a:srgbClr val="102C32"/>
                </a:solidFill>
                <a:latin typeface="Arial"/>
                <a:ea typeface="Arial"/>
                <a:cs typeface="Arial"/>
              </a:rPr>
              <a:t>Synthetic evaluation results. Actual outreach outcomes remain untested.</a:t>
            </a:r>
          </a:p>
        </p:txBody>
      </p:sp>
    </p:spTree>
    <p:extLst>
      <p:ext uri="{BB962C8B-B14F-4D97-AF65-F5344CB8AC3E}">
        <p14:creationId xmlns:p14="http://schemas.microsoft.com/office/powerpoint/2010/main" val="6924718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E3A6E3E-A240-4437-9576-AB290CC89F8D}"/>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Capacity choices</a:t>
            </a:r>
          </a:p>
        </p:txBody>
      </p:sp>
      <p:sp>
        <p:nvSpPr>
          <p:cNvPr id="2" name="MSBA265  /  Final Project Proposal">
            <a:extLst xmlns:a="http://schemas.openxmlformats.org/drawingml/2006/main">
              <a:ext uri="{FF2B5EF4-FFF2-40B4-BE49-F238E27FC236}">
                <a16:creationId xmlns:a16="http://schemas.microsoft.com/office/drawing/2014/main" id="{2CA2F549-5C2D-43A2-A864-9AD6EB52DAA3}"/>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7">
            <a:extLst xmlns:a="http://schemas.openxmlformats.org/drawingml/2006/main">
              <a:ext uri="{FF2B5EF4-FFF2-40B4-BE49-F238E27FC236}">
                <a16:creationId xmlns:a16="http://schemas.microsoft.com/office/drawing/2014/main" id="{C22A0A72-21D1-4694-B5B0-1BE318B70C78}"/>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07</a:t>
            </a:r>
          </a:p>
        </p:txBody>
      </p:sp>
      <p:sp>
        <p:nvSpPr>
          <p:cNvPr id="9" name="The manager can trade a shorter list for broad">
            <a:extLst xmlns:a="http://schemas.openxmlformats.org/drawingml/2006/main">
              <a:ext uri="{FF2B5EF4-FFF2-40B4-BE49-F238E27FC236}">
                <a16:creationId xmlns:a16="http://schemas.microsoft.com/office/drawing/2014/main" id="{94B6BC17-31A9-4696-BCB4-ADD7F99050DD}"/>
              </a:ext>
            </a:extLst>
          </p:cNvPr>
          <p:cNvSpPr>
            <a:spLocks xmlns:a="http://schemas.openxmlformats.org/drawingml/2006/main" noGrp="1"/>
          </p:cNvSpPr>
          <p:nvPr/>
        </p:nvSpPr>
        <p:spPr>
          <a:xfrm xmlns:a="http://schemas.openxmlformats.org/drawingml/2006/main">
            <a:off x="609600" y="1381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The manager can trade a shorter list for broader coverage</a:t>
            </a:r>
          </a:p>
        </p:txBody>
      </p:sp>
      <p:graphicFrame>
        <p:nvGraphicFramePr>
          <p:cNvPr id="10" name="">
            <a:extLst xmlns:a="http://schemas.openxmlformats.org/drawingml/2006/main">
              <a:ext uri="{FF2B5EF4-FFF2-40B4-BE49-F238E27FC236}">
                <a16:creationId xmlns:a16="http://schemas.microsoft.com/office/drawing/2014/main" id="{3DCDBD74-6461-4B88-B31C-C63ACD2F1EDD}"/>
              </a:ext>
            </a:extLst>
          </p:cNvPr>
          <p:cNvGraphicFramePr/>
          <p:nvPr/>
        </p:nvGraphicFramePr>
        <p:xfrm>
          <a:off xmlns:a="http://schemas.openxmlformats.org/drawingml/2006/main" x="609600" y="2152650"/>
          <a:ext xmlns:a="http://schemas.openxmlformats.org/drawingml/2006/main" cx="10972800" cy="3209925"/>
        </p:xfrm>
        <a:graphic xmlns:a="http://schemas.openxmlformats.org/drawingml/2006/main">
          <a:graphicData uri="http://schemas.openxmlformats.org/drawingml/2006/table">
            <a:tbl>
              <a:tblPr/>
              <a:tblGrid>
                <a:gridCol w="2333625"/>
                <a:gridCol w="2333625"/>
                <a:gridCol w="3048000"/>
                <a:gridCol w="3257550"/>
              </a:tblGrid>
              <a:tr h="609600">
                <a:tc>
                  <a:txBody>
                    <a:bodyPr/>
                    <a:lstStyle/>
                    <a:p>
                      <a:r>
                        <a:rPr sz="2025" b="1">
                          <a:solidFill>
                            <a:srgbClr val="FFFFFF"/>
                          </a:solidFill>
                          <a:latin typeface="Arial"/>
                          <a:ea typeface="Arial"/>
                          <a:cs typeface="Arial"/>
                        </a:rPr>
                        <a:t>Share reviewed</a:t>
                      </a:r>
                    </a:p>
                  </a:txBody>
                  <a:tcPr marL="133350" marR="114300" marT="114300" marB="95250" anchor="ctr">
                    <a:lnL w="9525">
                      <a:solidFill>
                        <a:srgbClr val="CEDDD9"/>
                      </a:solidFill>
                      <a:prstDash val="solid"/>
                    </a:lnL>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Profiles reviewed</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Yes labels in list</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2025" b="1">
                          <a:solidFill>
                            <a:srgbClr val="FFFFFF"/>
                          </a:solidFill>
                          <a:latin typeface="Arial"/>
                          <a:ea typeface="Arial"/>
                          <a:cs typeface="Arial"/>
                        </a:rPr>
                        <a:t>All Yes profiles found</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r>
              <a:tr h="0">
                <a:tc>
                  <a:txBody>
                    <a:bodyPr/>
                    <a:lstStyle/>
                    <a:p>
                      <a:r>
                        <a:rPr sz="2025" b="0">
                          <a:solidFill>
                            <a:srgbClr val="102C32"/>
                          </a:solidFill>
                          <a:latin typeface="Arial"/>
                          <a:ea typeface="Arial"/>
                          <a:cs typeface="Arial"/>
                        </a:rPr>
                        <a:t>1%</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1,003</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90%</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5%</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2025" b="0">
                          <a:solidFill>
                            <a:srgbClr val="102C32"/>
                          </a:solidFill>
                          <a:latin typeface="Arial"/>
                          <a:ea typeface="Arial"/>
                          <a:cs typeface="Arial"/>
                        </a:rPr>
                        <a:t>5%</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5,015</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85%</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24%</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r h="0">
                <a:tc>
                  <a:txBody>
                    <a:bodyPr/>
                    <a:lstStyle/>
                    <a:p>
                      <a:r>
                        <a:rPr sz="2025" b="0">
                          <a:solidFill>
                            <a:srgbClr val="102C32"/>
                          </a:solidFill>
                          <a:latin typeface="Arial"/>
                          <a:ea typeface="Arial"/>
                          <a:cs typeface="Arial"/>
                        </a:rPr>
                        <a:t>10%</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10,030</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79%</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c>
                  <a:txBody>
                    <a:bodyPr/>
                    <a:lstStyle/>
                    <a:p>
                      <a:r>
                        <a:rPr sz="2025" b="0">
                          <a:solidFill>
                            <a:srgbClr val="102C32"/>
                          </a:solidFill>
                          <a:latin typeface="Arial"/>
                          <a:ea typeface="Arial"/>
                          <a:cs typeface="Arial"/>
                        </a:rPr>
                        <a:t>45%</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2025" b="0">
                          <a:solidFill>
                            <a:srgbClr val="102C32"/>
                          </a:solidFill>
                          <a:latin typeface="Arial"/>
                          <a:ea typeface="Arial"/>
                          <a:cs typeface="Arial"/>
                        </a:rPr>
                        <a:t>20%</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20,060</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66%</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c>
                  <a:txBody>
                    <a:bodyPr/>
                    <a:lstStyle/>
                    <a:p>
                      <a:r>
                        <a:rPr sz="2025" b="0">
                          <a:solidFill>
                            <a:srgbClr val="102C32"/>
                          </a:solidFill>
                          <a:latin typeface="Arial"/>
                          <a:ea typeface="Arial"/>
                          <a:cs typeface="Arial"/>
                        </a:rPr>
                        <a:t>76%</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bl>
          </a:graphicData>
        </a:graphic>
      </p:graphicFrame>
      <p:sp>
        <p:nvSpPr>
          <p:cNvPr id="11" name="Larger lists find more Yes profiles, while the">
            <a:extLst xmlns:a="http://schemas.openxmlformats.org/drawingml/2006/main">
              <a:ext uri="{FF2B5EF4-FFF2-40B4-BE49-F238E27FC236}">
                <a16:creationId xmlns:a16="http://schemas.microsoft.com/office/drawing/2014/main" id="{799F0719-3E78-448B-B256-33872EFD9279}"/>
              </a:ext>
            </a:extLst>
          </p:cNvPr>
          <p:cNvSpPr>
            <a:spLocks xmlns:a="http://schemas.openxmlformats.org/drawingml/2006/main" noGrp="1"/>
          </p:cNvSpPr>
          <p:nvPr/>
        </p:nvSpPr>
        <p:spPr>
          <a:xfrm xmlns:a="http://schemas.openxmlformats.org/drawingml/2006/main">
            <a:off x="609600" y="5657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C32"/>
                </a:solidFill>
                <a:latin typeface="Arial"/>
                <a:ea typeface="Arial"/>
                <a:cs typeface="Arial"/>
              </a:defRPr>
            </a:defPPr>
            <a:lvl1pPr algn="l">
              <a:defRPr sz="2100" b="1">
                <a:solidFill>
                  <a:srgbClr val="102C32"/>
                </a:solidFill>
                <a:latin typeface="Arial"/>
                <a:ea typeface="Arial"/>
                <a:cs typeface="Arial"/>
              </a:defRPr>
            </a:lvl1pPr>
            <a:lvl2pPr algn="l">
              <a:defRPr sz="2100" b="1">
                <a:solidFill>
                  <a:srgbClr val="102C32"/>
                </a:solidFill>
                <a:latin typeface="Arial"/>
                <a:ea typeface="Arial"/>
                <a:cs typeface="Arial"/>
              </a:defRPr>
            </a:lvl2pPr>
            <a:lvl3pPr algn="l">
              <a:defRPr sz="2100" b="1">
                <a:solidFill>
                  <a:srgbClr val="102C32"/>
                </a:solidFill>
                <a:latin typeface="Arial"/>
                <a:ea typeface="Arial"/>
                <a:cs typeface="Arial"/>
              </a:defRPr>
            </a:lvl3pPr>
            <a:lvl4pPr algn="l">
              <a:defRPr sz="2100" b="1">
                <a:solidFill>
                  <a:srgbClr val="102C32"/>
                </a:solidFill>
                <a:latin typeface="Arial"/>
                <a:ea typeface="Arial"/>
                <a:cs typeface="Arial"/>
              </a:defRPr>
            </a:lvl4pPr>
            <a:lvl5pPr algn="l">
              <a:defRPr sz="2100" b="1">
                <a:solidFill>
                  <a:srgbClr val="102C32"/>
                </a:solidFill>
                <a:latin typeface="Arial"/>
                <a:ea typeface="Arial"/>
                <a:cs typeface="Arial"/>
              </a:defRPr>
            </a:lvl5pPr>
            <a:lvl6pPr algn="l">
              <a:defRPr sz="2100" b="1">
                <a:solidFill>
                  <a:srgbClr val="102C32"/>
                </a:solidFill>
                <a:latin typeface="Arial"/>
                <a:ea typeface="Arial"/>
                <a:cs typeface="Arial"/>
              </a:defRPr>
            </a:lvl6pPr>
            <a:lvl7pPr algn="l">
              <a:defRPr sz="2100" b="1">
                <a:solidFill>
                  <a:srgbClr val="102C32"/>
                </a:solidFill>
                <a:latin typeface="Arial"/>
                <a:ea typeface="Arial"/>
                <a:cs typeface="Arial"/>
              </a:defRPr>
            </a:lvl7pPr>
            <a:lvl8pPr algn="l">
              <a:defRPr sz="2100" b="1">
                <a:solidFill>
                  <a:srgbClr val="102C32"/>
                </a:solidFill>
                <a:latin typeface="Arial"/>
                <a:ea typeface="Arial"/>
                <a:cs typeface="Arial"/>
              </a:defRPr>
            </a:lvl8pPr>
            <a:lvl9pPr algn="l">
              <a:defRPr sz="2100" b="1">
                <a:solidFill>
                  <a:srgbClr val="102C32"/>
                </a:solidFill>
                <a:latin typeface="Arial"/>
                <a:ea typeface="Arial"/>
                <a:cs typeface="Arial"/>
              </a:defRPr>
            </a:lvl9pPr>
          </a:lstStyle>
          <a:p xmlns:a="http://schemas.openxmlformats.org/drawingml/2006/main">
            <a:pPr algn="l">
              <a:defRPr sz="2100" b="1">
                <a:solidFill>
                  <a:srgbClr val="102C32"/>
                </a:solidFill>
                <a:latin typeface="Arial"/>
                <a:ea typeface="Arial"/>
                <a:cs typeface="Arial"/>
              </a:defRPr>
            </a:pPr>
            <a:r>
              <a:rPr sz="2100" b="1">
                <a:solidFill>
                  <a:srgbClr val="102C32"/>
                </a:solidFill>
                <a:latin typeface="Arial"/>
                <a:ea typeface="Arial"/>
                <a:cs typeface="Arial"/>
              </a:rPr>
              <a:t>Larger lists find more Yes profiles, while their Yes-label share declines</a:t>
            </a:r>
          </a:p>
        </p:txBody>
      </p:sp>
    </p:spTree>
    <p:extLst>
      <p:ext uri="{BB962C8B-B14F-4D97-AF65-F5344CB8AC3E}">
        <p14:creationId xmlns:p14="http://schemas.microsoft.com/office/powerpoint/2010/main" val="2973623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7" name="planned-feedback-return">
            <a:extLst xmlns:a="http://schemas.openxmlformats.org/drawingml/2006/main">
              <a:ext uri="{FF2B5EF4-FFF2-40B4-BE49-F238E27FC236}">
                <a16:creationId xmlns:a16="http://schemas.microsoft.com/office/drawing/2014/main" id="{0F328F8C-C9AE-42C2-9BD2-E5FF45BDC648}"/>
              </a:ext>
            </a:extLst>
          </p:cNvPr>
          <p:cNvCxnSpPr>
            <a:stCxn xmlns:a="http://schemas.openxmlformats.org/drawingml/2006/main" id="36" idx="0"/>
            <a:endCxn xmlns:a="http://schemas.openxmlformats.org/drawingml/2006/main" id="24" idx="0"/>
          </p:cNvCxnSpPr>
          <p:nvPr/>
        </p:nvCxnSpPr>
        <p:spPr>
          <a:xfrm xmlns:a="http://schemas.openxmlformats.org/drawingml/2006/main" flipH="1">
            <a:off x="2571750" y="2514600"/>
            <a:ext cx="8458200" cy="228600"/>
          </a:xfrm>
          <a:prstGeom xmlns:a="http://schemas.openxmlformats.org/drawingml/2006/main" prst="bentConnector4">
            <a:avLst/>
          </a:prstGeom>
          <a:ln xmlns:a="http://schemas.openxmlformats.org/drawingml/2006/main" w="19050">
            <a:solidFill>
              <a:srgbClr val="81969C"/>
            </a:solidFill>
            <a:prstDash val="dash"/>
            <a:tailEnd type="triangle" w="med" len="med"/>
          </a:ln>
        </p:spPr>
      </p:cxnSp>
      <p:cxnSp>
        <p:nvCxnSpPr>
          <p:cNvPr id="44" name="">
            <a:extLst xmlns:a="http://schemas.openxmlformats.org/drawingml/2006/main">
              <a:ext uri="{FF2B5EF4-FFF2-40B4-BE49-F238E27FC236}">
                <a16:creationId xmlns:a16="http://schemas.microsoft.com/office/drawing/2014/main" id="{0085752E-EB7D-450C-8DF6-E5E9F3C4DC59}"/>
              </a:ext>
            </a:extLst>
          </p:cNvPr>
          <p:cNvCxnSpPr>
            <a:stCxn xmlns:a="http://schemas.openxmlformats.org/drawingml/2006/main" id="34" idx="3"/>
            <a:endCxn xmlns:a="http://schemas.openxmlformats.org/drawingml/2006/main" id="36" idx="1"/>
          </p:cNvCxnSpPr>
          <p:nvPr/>
        </p:nvCxnSpPr>
        <p:spPr>
          <a:xfrm xmlns:a="http://schemas.openxmlformats.org/drawingml/2006/main">
            <a:off x="9953625" y="3076575"/>
            <a:ext cx="742950" cy="0"/>
          </a:xfrm>
          <a:prstGeom xmlns:a="http://schemas.openxmlformats.org/drawingml/2006/main" prst="straightConnector1">
            <a:avLst/>
          </a:prstGeom>
          <a:ln xmlns:a="http://schemas.openxmlformats.org/drawingml/2006/main" w="22860">
            <a:solidFill>
              <a:srgbClr val="81969C"/>
            </a:solidFill>
            <a:prstDash val="dash"/>
            <a:tailEnd type="triangle" w="med" len="med"/>
          </a:ln>
        </p:spPr>
      </p:cxnSp>
      <p:cxnSp>
        <p:nvCxnSpPr>
          <p:cNvPr id="43" name="">
            <a:extLst xmlns:a="http://schemas.openxmlformats.org/drawingml/2006/main">
              <a:ext uri="{FF2B5EF4-FFF2-40B4-BE49-F238E27FC236}">
                <a16:creationId xmlns:a16="http://schemas.microsoft.com/office/drawing/2014/main" id="{055136BB-9578-4B2A-B246-0DDE1E8C365A}"/>
              </a:ext>
            </a:extLst>
          </p:cNvPr>
          <p:cNvCxnSpPr>
            <a:stCxn xmlns:a="http://schemas.openxmlformats.org/drawingml/2006/main" id="32" idx="3"/>
            <a:endCxn xmlns:a="http://schemas.openxmlformats.org/drawingml/2006/main" id="34" idx="1"/>
          </p:cNvCxnSpPr>
          <p:nvPr/>
        </p:nvCxnSpPr>
        <p:spPr>
          <a:xfrm xmlns:a="http://schemas.openxmlformats.org/drawingml/2006/main">
            <a:off x="8477250" y="3076575"/>
            <a:ext cx="809625" cy="0"/>
          </a:xfrm>
          <a:prstGeom xmlns:a="http://schemas.openxmlformats.org/drawingml/2006/main" prst="straightConnector1">
            <a:avLst/>
          </a:prstGeom>
          <a:ln xmlns:a="http://schemas.openxmlformats.org/drawingml/2006/main" w="22860">
            <a:solidFill>
              <a:srgbClr val="81969C"/>
            </a:solidFill>
            <a:prstDash val="dash"/>
            <a:tailEnd type="triangle" w="med" len="med"/>
          </a:ln>
        </p:spPr>
      </p:cxnSp>
      <p:cxnSp>
        <p:nvCxnSpPr>
          <p:cNvPr id="42" name="">
            <a:extLst xmlns:a="http://schemas.openxmlformats.org/drawingml/2006/main">
              <a:ext uri="{FF2B5EF4-FFF2-40B4-BE49-F238E27FC236}">
                <a16:creationId xmlns:a16="http://schemas.microsoft.com/office/drawing/2014/main" id="{32A1E03E-4521-4778-8E30-7C3A57824EAA}"/>
              </a:ext>
            </a:extLst>
          </p:cNvPr>
          <p:cNvCxnSpPr>
            <a:stCxn xmlns:a="http://schemas.openxmlformats.org/drawingml/2006/main" id="30" idx="3"/>
            <a:endCxn xmlns:a="http://schemas.openxmlformats.org/drawingml/2006/main" id="32" idx="1"/>
          </p:cNvCxnSpPr>
          <p:nvPr/>
        </p:nvCxnSpPr>
        <p:spPr>
          <a:xfrm xmlns:a="http://schemas.openxmlformats.org/drawingml/2006/main">
            <a:off x="7134225" y="3076575"/>
            <a:ext cx="809625"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cxnSp>
        <p:nvCxnSpPr>
          <p:cNvPr id="41" name="">
            <a:extLst xmlns:a="http://schemas.openxmlformats.org/drawingml/2006/main">
              <a:ext uri="{FF2B5EF4-FFF2-40B4-BE49-F238E27FC236}">
                <a16:creationId xmlns:a16="http://schemas.microsoft.com/office/drawing/2014/main" id="{7C11BB88-6609-49E5-9A59-E2F4E341B129}"/>
              </a:ext>
            </a:extLst>
          </p:cNvPr>
          <p:cNvCxnSpPr>
            <a:stCxn xmlns:a="http://schemas.openxmlformats.org/drawingml/2006/main" id="28" idx="3"/>
            <a:endCxn xmlns:a="http://schemas.openxmlformats.org/drawingml/2006/main" id="30" idx="1"/>
          </p:cNvCxnSpPr>
          <p:nvPr/>
        </p:nvCxnSpPr>
        <p:spPr>
          <a:xfrm xmlns:a="http://schemas.openxmlformats.org/drawingml/2006/main">
            <a:off x="5724525" y="3076575"/>
            <a:ext cx="742950"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cxnSp>
        <p:nvCxnSpPr>
          <p:cNvPr id="40" name="">
            <a:extLst xmlns:a="http://schemas.openxmlformats.org/drawingml/2006/main">
              <a:ext uri="{FF2B5EF4-FFF2-40B4-BE49-F238E27FC236}">
                <a16:creationId xmlns:a16="http://schemas.microsoft.com/office/drawing/2014/main" id="{B5E02434-7FB6-434E-B4E9-BD0306608AB5}"/>
              </a:ext>
            </a:extLst>
          </p:cNvPr>
          <p:cNvCxnSpPr>
            <a:stCxn xmlns:a="http://schemas.openxmlformats.org/drawingml/2006/main" id="26" idx="3"/>
            <a:endCxn xmlns:a="http://schemas.openxmlformats.org/drawingml/2006/main" id="28" idx="1"/>
          </p:cNvCxnSpPr>
          <p:nvPr/>
        </p:nvCxnSpPr>
        <p:spPr>
          <a:xfrm xmlns:a="http://schemas.openxmlformats.org/drawingml/2006/main">
            <a:off x="4314825" y="3076575"/>
            <a:ext cx="742950"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cxnSp>
        <p:nvCxnSpPr>
          <p:cNvPr id="39" name="">
            <a:extLst xmlns:a="http://schemas.openxmlformats.org/drawingml/2006/main">
              <a:ext uri="{FF2B5EF4-FFF2-40B4-BE49-F238E27FC236}">
                <a16:creationId xmlns:a16="http://schemas.microsoft.com/office/drawing/2014/main" id="{869782CF-4091-4AED-8637-326704F226C3}"/>
              </a:ext>
            </a:extLst>
          </p:cNvPr>
          <p:cNvCxnSpPr>
            <a:stCxn xmlns:a="http://schemas.openxmlformats.org/drawingml/2006/main" id="24" idx="3"/>
            <a:endCxn xmlns:a="http://schemas.openxmlformats.org/drawingml/2006/main" id="26" idx="1"/>
          </p:cNvCxnSpPr>
          <p:nvPr/>
        </p:nvCxnSpPr>
        <p:spPr>
          <a:xfrm xmlns:a="http://schemas.openxmlformats.org/drawingml/2006/main">
            <a:off x="2905125" y="3076575"/>
            <a:ext cx="742950"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cxnSp>
        <p:nvCxnSpPr>
          <p:cNvPr id="38" name="">
            <a:extLst xmlns:a="http://schemas.openxmlformats.org/drawingml/2006/main">
              <a:ext uri="{FF2B5EF4-FFF2-40B4-BE49-F238E27FC236}">
                <a16:creationId xmlns:a16="http://schemas.microsoft.com/office/drawing/2014/main" id="{308DBD70-49AA-4DF9-B577-EE067D8FC6AB}"/>
              </a:ext>
            </a:extLst>
          </p:cNvPr>
          <p:cNvCxnSpPr>
            <a:stCxn xmlns:a="http://schemas.openxmlformats.org/drawingml/2006/main" id="22" idx="3"/>
            <a:endCxn xmlns:a="http://schemas.openxmlformats.org/drawingml/2006/main" id="24" idx="1"/>
          </p:cNvCxnSpPr>
          <p:nvPr/>
        </p:nvCxnSpPr>
        <p:spPr>
          <a:xfrm xmlns:a="http://schemas.openxmlformats.org/drawingml/2006/main">
            <a:off x="1495425" y="3076575"/>
            <a:ext cx="742950" cy="0"/>
          </a:xfrm>
          <a:prstGeom xmlns:a="http://schemas.openxmlformats.org/drawingml/2006/main" prst="straightConnector1">
            <a:avLst/>
          </a:prstGeom>
          <a:ln xmlns:a="http://schemas.openxmlformats.org/drawingml/2006/main" w="22860">
            <a:solidFill>
              <a:srgbClr val="15866C"/>
            </a:solidFill>
            <a:prstDash val="solid"/>
            <a:tailEnd type="triangle" w="med" len="med"/>
          </a:ln>
        </p:spPr>
      </p:cxnSp>
      <p:sp>
        <p:nvSpPr>
          <p:cNvPr id="17" name="slide-title">
            <a:extLst xmlns:a="http://schemas.openxmlformats.org/drawingml/2006/main">
              <a:ext uri="{FF2B5EF4-FFF2-40B4-BE49-F238E27FC236}">
                <a16:creationId xmlns:a16="http://schemas.microsoft.com/office/drawing/2014/main" id="{7A146E13-BDE7-4890-8F72-06E2439C841B}"/>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buNone/>
              <a:defRPr sz="3300" b="1">
                <a:solidFill>
                  <a:srgbClr val="102C32"/>
                </a:solidFill>
                <a:latin typeface="Arial"/>
                <a:ea typeface="Arial"/>
                <a:cs typeface="Arial"/>
              </a:defRPr>
            </a:lvl1pPr>
            <a:lvl2pPr>
              <a:buNone/>
              <a:defRPr sz="3300" b="1">
                <a:solidFill>
                  <a:srgbClr val="102C32"/>
                </a:solidFill>
                <a:latin typeface="Arial"/>
                <a:ea typeface="Arial"/>
                <a:cs typeface="Arial"/>
              </a:defRPr>
            </a:lvl2pPr>
            <a:lvl3pPr>
              <a:buNone/>
              <a:defRPr sz="3300" b="1">
                <a:solidFill>
                  <a:srgbClr val="102C32"/>
                </a:solidFill>
                <a:latin typeface="Arial"/>
                <a:ea typeface="Arial"/>
                <a:cs typeface="Arial"/>
              </a:defRPr>
            </a:lvl3pPr>
            <a:lvl4pPr>
              <a:buNone/>
              <a:defRPr sz="3300" b="1">
                <a:solidFill>
                  <a:srgbClr val="102C32"/>
                </a:solidFill>
                <a:latin typeface="Arial"/>
                <a:ea typeface="Arial"/>
                <a:cs typeface="Arial"/>
              </a:defRPr>
            </a:lvl4pPr>
            <a:lvl5pPr>
              <a:buNone/>
              <a:defRPr sz="3300" b="1">
                <a:solidFill>
                  <a:srgbClr val="102C32"/>
                </a:solidFill>
                <a:latin typeface="Arial"/>
                <a:ea typeface="Arial"/>
                <a:cs typeface="Arial"/>
              </a:defRPr>
            </a:lvl5pPr>
            <a:lvl6pPr>
              <a:buNone/>
              <a:defRPr sz="3300" b="1">
                <a:solidFill>
                  <a:srgbClr val="102C32"/>
                </a:solidFill>
                <a:latin typeface="Arial"/>
                <a:ea typeface="Arial"/>
                <a:cs typeface="Arial"/>
              </a:defRPr>
            </a:lvl6pPr>
            <a:lvl7pPr>
              <a:buNone/>
              <a:defRPr sz="3300" b="1">
                <a:solidFill>
                  <a:srgbClr val="102C32"/>
                </a:solidFill>
                <a:latin typeface="Arial"/>
                <a:ea typeface="Arial"/>
                <a:cs typeface="Arial"/>
              </a:defRPr>
            </a:lvl7pPr>
            <a:lvl8pPr>
              <a:buNone/>
              <a:defRPr sz="3300" b="1">
                <a:solidFill>
                  <a:srgbClr val="102C32"/>
                </a:solidFill>
                <a:latin typeface="Arial"/>
                <a:ea typeface="Arial"/>
                <a:cs typeface="Arial"/>
              </a:defRPr>
            </a:lvl8pPr>
            <a:lvl9pPr>
              <a:buNone/>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The data-to-action pipeline</a:t>
            </a:r>
          </a:p>
        </p:txBody>
      </p:sp>
      <p:sp>
        <p:nvSpPr>
          <p:cNvPr id="2" name="MSBA265  /  Final Project Proposal">
            <a:extLst xmlns:a="http://schemas.openxmlformats.org/drawingml/2006/main">
              <a:ext uri="{FF2B5EF4-FFF2-40B4-BE49-F238E27FC236}">
                <a16:creationId xmlns:a16="http://schemas.microsoft.com/office/drawing/2014/main" id="{81E628ED-3E31-4D1B-8BB3-B92F6913AF53}"/>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8">
            <a:extLst xmlns:a="http://schemas.openxmlformats.org/drawingml/2006/main">
              <a:ext uri="{FF2B5EF4-FFF2-40B4-BE49-F238E27FC236}">
                <a16:creationId xmlns:a16="http://schemas.microsoft.com/office/drawing/2014/main" id="{20A889B8-BDD6-4F4B-914D-3557BC962A16}"/>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08</a:t>
            </a:r>
          </a:p>
        </p:txBody>
      </p:sp>
      <p:sp>
        <p:nvSpPr>
          <p:cNvPr id="18" name="Working prototype">
            <a:extLst xmlns:a="http://schemas.openxmlformats.org/drawingml/2006/main">
              <a:ext uri="{FF2B5EF4-FFF2-40B4-BE49-F238E27FC236}">
                <a16:creationId xmlns:a16="http://schemas.microsoft.com/office/drawing/2014/main" id="{CFB1CC0D-BD6D-4B4C-A780-4F93C37DF28A}"/>
              </a:ext>
            </a:extLst>
          </p:cNvPr>
          <p:cNvSpPr>
            <a:spLocks xmlns:a="http://schemas.openxmlformats.org/drawingml/2006/main" noGrp="1"/>
          </p:cNvSpPr>
          <p:nvPr/>
        </p:nvSpPr>
        <p:spPr>
          <a:xfrm xmlns:a="http://schemas.openxmlformats.org/drawingml/2006/main">
            <a:off x="609600" y="1485900"/>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buNone/>
              <a:defRPr sz="2325" b="1">
                <a:solidFill>
                  <a:srgbClr val="15866C"/>
                </a:solidFill>
                <a:latin typeface="Arial"/>
                <a:ea typeface="Arial"/>
                <a:cs typeface="Arial"/>
              </a:defRPr>
            </a:lvl1pPr>
            <a:lvl2pPr algn="l">
              <a:buNone/>
              <a:defRPr sz="2325" b="1">
                <a:solidFill>
                  <a:srgbClr val="15866C"/>
                </a:solidFill>
                <a:latin typeface="Arial"/>
                <a:ea typeface="Arial"/>
                <a:cs typeface="Arial"/>
              </a:defRPr>
            </a:lvl2pPr>
            <a:lvl3pPr algn="l">
              <a:buNone/>
              <a:defRPr sz="2325" b="1">
                <a:solidFill>
                  <a:srgbClr val="15866C"/>
                </a:solidFill>
                <a:latin typeface="Arial"/>
                <a:ea typeface="Arial"/>
                <a:cs typeface="Arial"/>
              </a:defRPr>
            </a:lvl3pPr>
            <a:lvl4pPr algn="l">
              <a:buNone/>
              <a:defRPr sz="2325" b="1">
                <a:solidFill>
                  <a:srgbClr val="15866C"/>
                </a:solidFill>
                <a:latin typeface="Arial"/>
                <a:ea typeface="Arial"/>
                <a:cs typeface="Arial"/>
              </a:defRPr>
            </a:lvl4pPr>
            <a:lvl5pPr algn="l">
              <a:buNone/>
              <a:defRPr sz="2325" b="1">
                <a:solidFill>
                  <a:srgbClr val="15866C"/>
                </a:solidFill>
                <a:latin typeface="Arial"/>
                <a:ea typeface="Arial"/>
                <a:cs typeface="Arial"/>
              </a:defRPr>
            </a:lvl5pPr>
            <a:lvl6pPr algn="l">
              <a:buNone/>
              <a:defRPr sz="2325" b="1">
                <a:solidFill>
                  <a:srgbClr val="15866C"/>
                </a:solidFill>
                <a:latin typeface="Arial"/>
                <a:ea typeface="Arial"/>
                <a:cs typeface="Arial"/>
              </a:defRPr>
            </a:lvl6pPr>
            <a:lvl7pPr algn="l">
              <a:buNone/>
              <a:defRPr sz="2325" b="1">
                <a:solidFill>
                  <a:srgbClr val="15866C"/>
                </a:solidFill>
                <a:latin typeface="Arial"/>
                <a:ea typeface="Arial"/>
                <a:cs typeface="Arial"/>
              </a:defRPr>
            </a:lvl7pPr>
            <a:lvl8pPr algn="l">
              <a:buNone/>
              <a:defRPr sz="2325" b="1">
                <a:solidFill>
                  <a:srgbClr val="15866C"/>
                </a:solidFill>
                <a:latin typeface="Arial"/>
                <a:ea typeface="Arial"/>
                <a:cs typeface="Arial"/>
              </a:defRPr>
            </a:lvl8pPr>
            <a:lvl9pPr algn="l">
              <a:buNone/>
              <a:defRPr sz="2325" b="1">
                <a:solidFill>
                  <a:srgbClr val="15866C"/>
                </a:solidFill>
                <a:latin typeface="Arial"/>
                <a:ea typeface="Arial"/>
                <a:cs typeface="Arial"/>
              </a:defRPr>
            </a:lvl9pPr>
          </a:lstStyle>
          <a:p xmlns:a="http://schemas.openxmlformats.org/drawingml/2006/main">
            <a:pPr algn="l">
              <a:buNone/>
              <a:defRPr sz="2325" b="1">
                <a:solidFill>
                  <a:srgbClr val="15866C"/>
                </a:solidFill>
                <a:latin typeface="Arial"/>
                <a:ea typeface="Arial"/>
                <a:cs typeface="Arial"/>
              </a:defRPr>
            </a:pPr>
            <a:r>
              <a:rPr sz="2325" b="1">
                <a:solidFill>
                  <a:srgbClr val="15866C"/>
                </a:solidFill>
                <a:latin typeface="Arial"/>
                <a:ea typeface="Arial"/>
                <a:cs typeface="Arial"/>
              </a:rPr>
              <a:t>Working prototype</a:t>
            </a:r>
          </a:p>
        </p:txBody>
      </p:sp>
      <p:sp>
        <p:nvSpPr>
          <p:cNvPr id="19" name="Planned pilot">
            <a:extLst xmlns:a="http://schemas.openxmlformats.org/drawingml/2006/main">
              <a:ext uri="{FF2B5EF4-FFF2-40B4-BE49-F238E27FC236}">
                <a16:creationId xmlns:a16="http://schemas.microsoft.com/office/drawing/2014/main" id="{B005B458-4D0A-475E-B6B5-DC0DA77DB840}"/>
              </a:ext>
            </a:extLst>
          </p:cNvPr>
          <p:cNvSpPr>
            <a:spLocks xmlns:a="http://schemas.openxmlformats.org/drawingml/2006/main" noGrp="1"/>
          </p:cNvSpPr>
          <p:nvPr/>
        </p:nvSpPr>
        <p:spPr>
          <a:xfrm xmlns:a="http://schemas.openxmlformats.org/drawingml/2006/main">
            <a:off x="9067800" y="14859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96168"/>
                </a:solidFill>
                <a:latin typeface="Arial"/>
                <a:ea typeface="Arial"/>
                <a:cs typeface="Arial"/>
              </a:defRPr>
            </a:defPPr>
            <a:lvl1pPr algn="l">
              <a:buNone/>
              <a:defRPr sz="2175" b="1">
                <a:solidFill>
                  <a:srgbClr val="496168"/>
                </a:solidFill>
                <a:latin typeface="Arial"/>
                <a:ea typeface="Arial"/>
                <a:cs typeface="Arial"/>
              </a:defRPr>
            </a:lvl1pPr>
            <a:lvl2pPr algn="l">
              <a:buNone/>
              <a:defRPr sz="2175" b="1">
                <a:solidFill>
                  <a:srgbClr val="496168"/>
                </a:solidFill>
                <a:latin typeface="Arial"/>
                <a:ea typeface="Arial"/>
                <a:cs typeface="Arial"/>
              </a:defRPr>
            </a:lvl2pPr>
            <a:lvl3pPr algn="l">
              <a:buNone/>
              <a:defRPr sz="2175" b="1">
                <a:solidFill>
                  <a:srgbClr val="496168"/>
                </a:solidFill>
                <a:latin typeface="Arial"/>
                <a:ea typeface="Arial"/>
                <a:cs typeface="Arial"/>
              </a:defRPr>
            </a:lvl3pPr>
            <a:lvl4pPr algn="l">
              <a:buNone/>
              <a:defRPr sz="2175" b="1">
                <a:solidFill>
                  <a:srgbClr val="496168"/>
                </a:solidFill>
                <a:latin typeface="Arial"/>
                <a:ea typeface="Arial"/>
                <a:cs typeface="Arial"/>
              </a:defRPr>
            </a:lvl4pPr>
            <a:lvl5pPr algn="l">
              <a:buNone/>
              <a:defRPr sz="2175" b="1">
                <a:solidFill>
                  <a:srgbClr val="496168"/>
                </a:solidFill>
                <a:latin typeface="Arial"/>
                <a:ea typeface="Arial"/>
                <a:cs typeface="Arial"/>
              </a:defRPr>
            </a:lvl5pPr>
            <a:lvl6pPr algn="l">
              <a:buNone/>
              <a:defRPr sz="2175" b="1">
                <a:solidFill>
                  <a:srgbClr val="496168"/>
                </a:solidFill>
                <a:latin typeface="Arial"/>
                <a:ea typeface="Arial"/>
                <a:cs typeface="Arial"/>
              </a:defRPr>
            </a:lvl6pPr>
            <a:lvl7pPr algn="l">
              <a:buNone/>
              <a:defRPr sz="2175" b="1">
                <a:solidFill>
                  <a:srgbClr val="496168"/>
                </a:solidFill>
                <a:latin typeface="Arial"/>
                <a:ea typeface="Arial"/>
                <a:cs typeface="Arial"/>
              </a:defRPr>
            </a:lvl7pPr>
            <a:lvl8pPr algn="l">
              <a:buNone/>
              <a:defRPr sz="2175" b="1">
                <a:solidFill>
                  <a:srgbClr val="496168"/>
                </a:solidFill>
                <a:latin typeface="Arial"/>
                <a:ea typeface="Arial"/>
                <a:cs typeface="Arial"/>
              </a:defRPr>
            </a:lvl8pPr>
            <a:lvl9pPr algn="l">
              <a:buNone/>
              <a:defRPr sz="2175" b="1">
                <a:solidFill>
                  <a:srgbClr val="496168"/>
                </a:solidFill>
                <a:latin typeface="Arial"/>
                <a:ea typeface="Arial"/>
                <a:cs typeface="Arial"/>
              </a:defRPr>
            </a:lvl9pPr>
          </a:lstStyle>
          <a:p xmlns:a="http://schemas.openxmlformats.org/drawingml/2006/main">
            <a:pPr algn="l">
              <a:buNone/>
              <a:defRPr sz="2175" b="1">
                <a:solidFill>
                  <a:srgbClr val="496168"/>
                </a:solidFill>
                <a:latin typeface="Arial"/>
                <a:ea typeface="Arial"/>
                <a:cs typeface="Arial"/>
              </a:defRPr>
            </a:pPr>
            <a:r>
              <a:rPr sz="2175" b="1">
                <a:solidFill>
                  <a:srgbClr val="496168"/>
                </a:solidFill>
                <a:latin typeface="Arial"/>
                <a:ea typeface="Arial"/>
                <a:cs typeface="Arial"/>
              </a:rPr>
              <a:t>Planned pilot</a:t>
            </a:r>
          </a:p>
        </p:txBody>
      </p:sp>
      <p:sp>
        <p:nvSpPr>
          <p:cNvPr id="20" name="divider">
            <a:extLst xmlns:a="http://schemas.openxmlformats.org/drawingml/2006/main">
              <a:ext uri="{FF2B5EF4-FFF2-40B4-BE49-F238E27FC236}">
                <a16:creationId xmlns:a16="http://schemas.microsoft.com/office/drawing/2014/main" id="{3C02D69D-2ABA-4B9C-99B5-5B3D49843D58}"/>
              </a:ext>
            </a:extLst>
          </p:cNvPr>
          <p:cNvSpPr>
            <a:spLocks xmlns:a="http://schemas.openxmlformats.org/drawingml/2006/main" noGrp="1"/>
          </p:cNvSpPr>
          <p:nvPr/>
        </p:nvSpPr>
        <p:spPr>
          <a:xfrm xmlns:a="http://schemas.openxmlformats.org/drawingml/2006/main">
            <a:off x="609600" y="2066925"/>
            <a:ext cx="8096250" cy="0"/>
          </a:xfrm>
          <a:prstGeom xmlns:a="http://schemas.openxmlformats.org/drawingml/2006/main" prst="line">
            <a:avLst/>
          </a:prstGeom>
          <a:noFill xmlns:a="http://schemas.openxmlformats.org/drawingml/2006/main"/>
          <a:ln xmlns:a="http://schemas.openxmlformats.org/drawingml/2006/main" w="13335">
            <a:solidFill>
              <a:srgbClr val="15866C"/>
            </a:solidFill>
          </a:ln>
        </p:spPr>
      </p:sp>
      <p:sp>
        <p:nvSpPr>
          <p:cNvPr id="21" name="divider">
            <a:extLst xmlns:a="http://schemas.openxmlformats.org/drawingml/2006/main">
              <a:ext uri="{FF2B5EF4-FFF2-40B4-BE49-F238E27FC236}">
                <a16:creationId xmlns:a16="http://schemas.microsoft.com/office/drawing/2014/main" id="{2EF63602-913E-429F-B4DA-567EEB201B3F}"/>
              </a:ext>
            </a:extLst>
          </p:cNvPr>
          <p:cNvSpPr>
            <a:spLocks xmlns:a="http://schemas.openxmlformats.org/drawingml/2006/main" noGrp="1"/>
          </p:cNvSpPr>
          <p:nvPr/>
        </p:nvSpPr>
        <p:spPr>
          <a:xfrm xmlns:a="http://schemas.openxmlformats.org/drawingml/2006/main">
            <a:off x="9067800" y="2066925"/>
            <a:ext cx="2514600" cy="0"/>
          </a:xfrm>
          <a:prstGeom xmlns:a="http://schemas.openxmlformats.org/drawingml/2006/main" prst="line">
            <a:avLst/>
          </a:prstGeom>
          <a:noFill xmlns:a="http://schemas.openxmlformats.org/drawingml/2006/main"/>
          <a:ln xmlns:a="http://schemas.openxmlformats.org/drawingml/2006/main" w="13335">
            <a:solidFill>
              <a:srgbClr val="81969C"/>
            </a:solidFill>
          </a:ln>
        </p:spPr>
      </p:sp>
      <p:sp>
        <p:nvSpPr>
          <p:cNvPr id="22" name="pipeline-1">
            <a:extLst xmlns:a="http://schemas.openxmlformats.org/drawingml/2006/main">
              <a:ext uri="{FF2B5EF4-FFF2-40B4-BE49-F238E27FC236}">
                <a16:creationId xmlns:a16="http://schemas.microsoft.com/office/drawing/2014/main" id="{EEB32FB7-C121-4474-B599-386EBC830ADC}"/>
              </a:ext>
            </a:extLst>
          </p:cNvPr>
          <p:cNvSpPr>
            <a:spLocks xmlns:a="http://schemas.openxmlformats.org/drawingml/2006/main" noGrp="1"/>
          </p:cNvSpPr>
          <p:nvPr/>
        </p:nvSpPr>
        <p:spPr>
          <a:xfrm xmlns:a="http://schemas.openxmlformats.org/drawingml/2006/main">
            <a:off x="828675" y="2743200"/>
            <a:ext cx="666750" cy="666750"/>
          </a:xfrm>
          <a:prstGeom xmlns:a="http://schemas.openxmlformats.org/drawingml/2006/main" prst="flowChartDocument">
            <a:avLst/>
          </a:prstGeom>
          <a:solidFill xmlns:a="http://schemas.openxmlformats.org/drawingml/2006/main">
            <a:srgbClr val="EEF5F2"/>
          </a:solidFill>
          <a:ln xmlns:a="http://schemas.openxmlformats.org/drawingml/2006/main" w="21908">
            <a:solidFill>
              <a:srgbClr val="15866C"/>
            </a:solidFill>
            <a:prstDash val="solid"/>
          </a:ln>
        </p:spPr>
      </p:sp>
      <p:sp>
        <p:nvSpPr>
          <p:cNvPr id="23" name="Profile&#10;data">
            <a:extLst xmlns:a="http://schemas.openxmlformats.org/drawingml/2006/main">
              <a:ext uri="{FF2B5EF4-FFF2-40B4-BE49-F238E27FC236}">
                <a16:creationId xmlns:a16="http://schemas.microsoft.com/office/drawing/2014/main" id="{17ABEFD3-88EA-4D8F-AFD9-8AAE16C5A05C}"/>
              </a:ext>
            </a:extLst>
          </p:cNvPr>
          <p:cNvSpPr>
            <a:spLocks xmlns:a="http://schemas.openxmlformats.org/drawingml/2006/main" noGrp="1"/>
          </p:cNvSpPr>
          <p:nvPr/>
        </p:nvSpPr>
        <p:spPr>
          <a:xfrm xmlns:a="http://schemas.openxmlformats.org/drawingml/2006/main">
            <a:off x="5334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Profile</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data</a:t>
            </a:r>
          </a:p>
        </p:txBody>
      </p:sp>
      <p:sp>
        <p:nvSpPr>
          <p:cNvPr id="24" name="pipeline-2">
            <a:extLst xmlns:a="http://schemas.openxmlformats.org/drawingml/2006/main">
              <a:ext uri="{FF2B5EF4-FFF2-40B4-BE49-F238E27FC236}">
                <a16:creationId xmlns:a16="http://schemas.microsoft.com/office/drawing/2014/main" id="{6F2E814C-FACE-4790-8B36-FEE3FB9417BB}"/>
              </a:ext>
            </a:extLst>
          </p:cNvPr>
          <p:cNvSpPr>
            <a:spLocks xmlns:a="http://schemas.openxmlformats.org/drawingml/2006/main" noGrp="1"/>
          </p:cNvSpPr>
          <p:nvPr/>
        </p:nvSpPr>
        <p:spPr>
          <a:xfrm xmlns:a="http://schemas.openxmlformats.org/drawingml/2006/main">
            <a:off x="2238375" y="2743200"/>
            <a:ext cx="666750" cy="666750"/>
          </a:xfrm>
          <a:prstGeom xmlns:a="http://schemas.openxmlformats.org/drawingml/2006/main" prst="flowChartDecision">
            <a:avLst/>
          </a:prstGeom>
          <a:solidFill xmlns:a="http://schemas.openxmlformats.org/drawingml/2006/main">
            <a:srgbClr val="EEF5F2"/>
          </a:solidFill>
          <a:ln xmlns:a="http://schemas.openxmlformats.org/drawingml/2006/main" w="21908">
            <a:solidFill>
              <a:srgbClr val="15866C"/>
            </a:solidFill>
            <a:prstDash val="solid"/>
          </a:ln>
        </p:spPr>
      </p:sp>
      <p:sp>
        <p:nvSpPr>
          <p:cNvPr id="25" name="Data&#10;checks">
            <a:extLst xmlns:a="http://schemas.openxmlformats.org/drawingml/2006/main">
              <a:ext uri="{FF2B5EF4-FFF2-40B4-BE49-F238E27FC236}">
                <a16:creationId xmlns:a16="http://schemas.microsoft.com/office/drawing/2014/main" id="{CDF882F1-3B90-4B79-B67E-BA8FFA2B75B4}"/>
              </a:ext>
            </a:extLst>
          </p:cNvPr>
          <p:cNvSpPr>
            <a:spLocks xmlns:a="http://schemas.openxmlformats.org/drawingml/2006/main" noGrp="1"/>
          </p:cNvSpPr>
          <p:nvPr/>
        </p:nvSpPr>
        <p:spPr>
          <a:xfrm xmlns:a="http://schemas.openxmlformats.org/drawingml/2006/main">
            <a:off x="19431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Data</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checks</a:t>
            </a:r>
          </a:p>
        </p:txBody>
      </p:sp>
      <p:sp>
        <p:nvSpPr>
          <p:cNvPr id="26" name="pipeline-3">
            <a:extLst xmlns:a="http://schemas.openxmlformats.org/drawingml/2006/main">
              <a:ext uri="{FF2B5EF4-FFF2-40B4-BE49-F238E27FC236}">
                <a16:creationId xmlns:a16="http://schemas.microsoft.com/office/drawing/2014/main" id="{9D29AC01-1009-4FBD-B0C2-79307BA269A9}"/>
              </a:ext>
            </a:extLst>
          </p:cNvPr>
          <p:cNvSpPr>
            <a:spLocks xmlns:a="http://schemas.openxmlformats.org/drawingml/2006/main" noGrp="1"/>
          </p:cNvSpPr>
          <p:nvPr/>
        </p:nvSpPr>
        <p:spPr>
          <a:xfrm xmlns:a="http://schemas.openxmlformats.org/drawingml/2006/main">
            <a:off x="3648075" y="2743200"/>
            <a:ext cx="666750" cy="666750"/>
          </a:xfrm>
          <a:prstGeom xmlns:a="http://schemas.openxmlformats.org/drawingml/2006/main" prst="flowChartPredefinedProcess">
            <a:avLst/>
          </a:prstGeom>
          <a:solidFill xmlns:a="http://schemas.openxmlformats.org/drawingml/2006/main">
            <a:srgbClr val="EEF5F2"/>
          </a:solidFill>
          <a:ln xmlns:a="http://schemas.openxmlformats.org/drawingml/2006/main" w="21908">
            <a:solidFill>
              <a:srgbClr val="15866C"/>
            </a:solidFill>
            <a:prstDash val="solid"/>
          </a:ln>
        </p:spPr>
      </p:sp>
      <p:sp>
        <p:nvSpPr>
          <p:cNvPr id="27" name="Learn&#10;patterns">
            <a:extLst xmlns:a="http://schemas.openxmlformats.org/drawingml/2006/main">
              <a:ext uri="{FF2B5EF4-FFF2-40B4-BE49-F238E27FC236}">
                <a16:creationId xmlns:a16="http://schemas.microsoft.com/office/drawing/2014/main" id="{D53A13E9-FFE2-4E0C-9AAC-B2E14D9DC6E0}"/>
              </a:ext>
            </a:extLst>
          </p:cNvPr>
          <p:cNvSpPr>
            <a:spLocks xmlns:a="http://schemas.openxmlformats.org/drawingml/2006/main" noGrp="1"/>
          </p:cNvSpPr>
          <p:nvPr/>
        </p:nvSpPr>
        <p:spPr>
          <a:xfrm xmlns:a="http://schemas.openxmlformats.org/drawingml/2006/main">
            <a:off x="33528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Learn</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patterns</a:t>
            </a:r>
          </a:p>
        </p:txBody>
      </p:sp>
      <p:sp>
        <p:nvSpPr>
          <p:cNvPr id="28" name="pipeline-4">
            <a:extLst xmlns:a="http://schemas.openxmlformats.org/drawingml/2006/main">
              <a:ext uri="{FF2B5EF4-FFF2-40B4-BE49-F238E27FC236}">
                <a16:creationId xmlns:a16="http://schemas.microsoft.com/office/drawing/2014/main" id="{7E0DF916-0299-479D-B3DA-11EA235E3A77}"/>
              </a:ext>
            </a:extLst>
          </p:cNvPr>
          <p:cNvSpPr>
            <a:spLocks xmlns:a="http://schemas.openxmlformats.org/drawingml/2006/main" noGrp="1"/>
          </p:cNvSpPr>
          <p:nvPr/>
        </p:nvSpPr>
        <p:spPr>
          <a:xfrm xmlns:a="http://schemas.openxmlformats.org/drawingml/2006/main">
            <a:off x="5057775" y="2743200"/>
            <a:ext cx="666750" cy="666750"/>
          </a:xfrm>
          <a:prstGeom xmlns:a="http://schemas.openxmlformats.org/drawingml/2006/main" prst="flowChartDecision">
            <a:avLst/>
          </a:prstGeom>
          <a:solidFill xmlns:a="http://schemas.openxmlformats.org/drawingml/2006/main">
            <a:srgbClr val="EEF5F2"/>
          </a:solidFill>
          <a:ln xmlns:a="http://schemas.openxmlformats.org/drawingml/2006/main" w="21908">
            <a:solidFill>
              <a:srgbClr val="15866C"/>
            </a:solidFill>
            <a:prstDash val="solid"/>
          </a:ln>
        </p:spPr>
      </p:sp>
      <p:sp>
        <p:nvSpPr>
          <p:cNvPr id="29" name="Check&#10;results">
            <a:extLst xmlns:a="http://schemas.openxmlformats.org/drawingml/2006/main">
              <a:ext uri="{FF2B5EF4-FFF2-40B4-BE49-F238E27FC236}">
                <a16:creationId xmlns:a16="http://schemas.microsoft.com/office/drawing/2014/main" id="{205813CF-CB52-47F0-AB95-65B9FD4E2510}"/>
              </a:ext>
            </a:extLst>
          </p:cNvPr>
          <p:cNvSpPr>
            <a:spLocks xmlns:a="http://schemas.openxmlformats.org/drawingml/2006/main" noGrp="1"/>
          </p:cNvSpPr>
          <p:nvPr/>
        </p:nvSpPr>
        <p:spPr>
          <a:xfrm xmlns:a="http://schemas.openxmlformats.org/drawingml/2006/main">
            <a:off x="47625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Check</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results</a:t>
            </a:r>
          </a:p>
        </p:txBody>
      </p:sp>
      <p:sp>
        <p:nvSpPr>
          <p:cNvPr id="30" name="pipeline-5">
            <a:extLst xmlns:a="http://schemas.openxmlformats.org/drawingml/2006/main">
              <a:ext uri="{FF2B5EF4-FFF2-40B4-BE49-F238E27FC236}">
                <a16:creationId xmlns:a16="http://schemas.microsoft.com/office/drawing/2014/main" id="{69765312-8CF6-4AE2-A221-7C186246442F}"/>
              </a:ext>
            </a:extLst>
          </p:cNvPr>
          <p:cNvSpPr>
            <a:spLocks xmlns:a="http://schemas.openxmlformats.org/drawingml/2006/main" noGrp="1"/>
          </p:cNvSpPr>
          <p:nvPr/>
        </p:nvSpPr>
        <p:spPr>
          <a:xfrm xmlns:a="http://schemas.openxmlformats.org/drawingml/2006/main">
            <a:off x="6467475" y="2743200"/>
            <a:ext cx="666750" cy="666750"/>
          </a:xfrm>
          <a:prstGeom xmlns:a="http://schemas.openxmlformats.org/drawingml/2006/main" prst="flowChartSort">
            <a:avLst/>
          </a:prstGeom>
          <a:solidFill xmlns:a="http://schemas.openxmlformats.org/drawingml/2006/main">
            <a:srgbClr val="EEF5F2"/>
          </a:solidFill>
          <a:ln xmlns:a="http://schemas.openxmlformats.org/drawingml/2006/main" w="21908">
            <a:solidFill>
              <a:srgbClr val="15866C"/>
            </a:solidFill>
            <a:prstDash val="solid"/>
          </a:ln>
        </p:spPr>
      </p:sp>
      <p:sp>
        <p:nvSpPr>
          <p:cNvPr id="31" name="Rank&#10;profiles">
            <a:extLst xmlns:a="http://schemas.openxmlformats.org/drawingml/2006/main">
              <a:ext uri="{FF2B5EF4-FFF2-40B4-BE49-F238E27FC236}">
                <a16:creationId xmlns:a16="http://schemas.microsoft.com/office/drawing/2014/main" id="{F465723F-F850-410C-879D-EB02A1EEC099}"/>
              </a:ext>
            </a:extLst>
          </p:cNvPr>
          <p:cNvSpPr>
            <a:spLocks xmlns:a="http://schemas.openxmlformats.org/drawingml/2006/main" noGrp="1"/>
          </p:cNvSpPr>
          <p:nvPr/>
        </p:nvSpPr>
        <p:spPr>
          <a:xfrm xmlns:a="http://schemas.openxmlformats.org/drawingml/2006/main">
            <a:off x="61722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Rank</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profiles</a:t>
            </a:r>
          </a:p>
        </p:txBody>
      </p:sp>
      <p:sp>
        <p:nvSpPr>
          <p:cNvPr id="32" name="pipeline-6">
            <a:extLst xmlns:a="http://schemas.openxmlformats.org/drawingml/2006/main">
              <a:ext uri="{FF2B5EF4-FFF2-40B4-BE49-F238E27FC236}">
                <a16:creationId xmlns:a16="http://schemas.microsoft.com/office/drawing/2014/main" id="{A3670C66-D1AC-4F05-B716-77526F9531C1}"/>
              </a:ext>
            </a:extLst>
          </p:cNvPr>
          <p:cNvSpPr>
            <a:spLocks xmlns:a="http://schemas.openxmlformats.org/drawingml/2006/main" noGrp="1"/>
          </p:cNvSpPr>
          <p:nvPr/>
        </p:nvSpPr>
        <p:spPr>
          <a:xfrm xmlns:a="http://schemas.openxmlformats.org/drawingml/2006/main">
            <a:off x="7877175" y="2743200"/>
            <a:ext cx="666750" cy="666750"/>
          </a:xfrm>
          <a:prstGeom xmlns:a="http://schemas.openxmlformats.org/drawingml/2006/main" prst="flowChartManualOperation">
            <a:avLst/>
          </a:prstGeom>
          <a:solidFill xmlns:a="http://schemas.openxmlformats.org/drawingml/2006/main">
            <a:srgbClr val="EEF5F2"/>
          </a:solidFill>
          <a:ln xmlns:a="http://schemas.openxmlformats.org/drawingml/2006/main" w="21908">
            <a:solidFill>
              <a:srgbClr val="15866C"/>
            </a:solidFill>
            <a:prstDash val="solid"/>
          </a:ln>
        </p:spPr>
      </p:sp>
      <p:sp>
        <p:nvSpPr>
          <p:cNvPr id="33" name="Manager&#10;review">
            <a:extLst xmlns:a="http://schemas.openxmlformats.org/drawingml/2006/main">
              <a:ext uri="{FF2B5EF4-FFF2-40B4-BE49-F238E27FC236}">
                <a16:creationId xmlns:a16="http://schemas.microsoft.com/office/drawing/2014/main" id="{702C58ED-378F-445A-9FF5-CCBD5F74C282}"/>
              </a:ext>
            </a:extLst>
          </p:cNvPr>
          <p:cNvSpPr>
            <a:spLocks xmlns:a="http://schemas.openxmlformats.org/drawingml/2006/main" noGrp="1"/>
          </p:cNvSpPr>
          <p:nvPr/>
        </p:nvSpPr>
        <p:spPr>
          <a:xfrm xmlns:a="http://schemas.openxmlformats.org/drawingml/2006/main">
            <a:off x="75819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02C32"/>
                </a:solidFill>
                <a:latin typeface="Arial"/>
                <a:ea typeface="Arial"/>
                <a:cs typeface="Arial"/>
              </a:defRPr>
            </a:defPPr>
            <a:lvl1pPr algn="ctr">
              <a:buNone/>
              <a:defRPr sz="1800" b="1">
                <a:solidFill>
                  <a:srgbClr val="102C32"/>
                </a:solidFill>
                <a:latin typeface="Arial"/>
                <a:ea typeface="Arial"/>
                <a:cs typeface="Arial"/>
              </a:defRPr>
            </a:lvl1pPr>
            <a:lvl2pPr algn="ctr">
              <a:buNone/>
              <a:defRPr sz="1800" b="1">
                <a:solidFill>
                  <a:srgbClr val="102C32"/>
                </a:solidFill>
                <a:latin typeface="Arial"/>
                <a:ea typeface="Arial"/>
                <a:cs typeface="Arial"/>
              </a:defRPr>
            </a:lvl2pPr>
            <a:lvl3pPr algn="ctr">
              <a:buNone/>
              <a:defRPr sz="1800" b="1">
                <a:solidFill>
                  <a:srgbClr val="102C32"/>
                </a:solidFill>
                <a:latin typeface="Arial"/>
                <a:ea typeface="Arial"/>
                <a:cs typeface="Arial"/>
              </a:defRPr>
            </a:lvl3pPr>
            <a:lvl4pPr algn="ctr">
              <a:buNone/>
              <a:defRPr sz="1800" b="1">
                <a:solidFill>
                  <a:srgbClr val="102C32"/>
                </a:solidFill>
                <a:latin typeface="Arial"/>
                <a:ea typeface="Arial"/>
                <a:cs typeface="Arial"/>
              </a:defRPr>
            </a:lvl4pPr>
            <a:lvl5pPr algn="ctr">
              <a:buNone/>
              <a:defRPr sz="1800" b="1">
                <a:solidFill>
                  <a:srgbClr val="102C32"/>
                </a:solidFill>
                <a:latin typeface="Arial"/>
                <a:ea typeface="Arial"/>
                <a:cs typeface="Arial"/>
              </a:defRPr>
            </a:lvl5pPr>
            <a:lvl6pPr algn="ctr">
              <a:buNone/>
              <a:defRPr sz="1800" b="1">
                <a:solidFill>
                  <a:srgbClr val="102C32"/>
                </a:solidFill>
                <a:latin typeface="Arial"/>
                <a:ea typeface="Arial"/>
                <a:cs typeface="Arial"/>
              </a:defRPr>
            </a:lvl6pPr>
            <a:lvl7pPr algn="ctr">
              <a:buNone/>
              <a:defRPr sz="1800" b="1">
                <a:solidFill>
                  <a:srgbClr val="102C32"/>
                </a:solidFill>
                <a:latin typeface="Arial"/>
                <a:ea typeface="Arial"/>
                <a:cs typeface="Arial"/>
              </a:defRPr>
            </a:lvl7pPr>
            <a:lvl8pPr algn="ctr">
              <a:buNone/>
              <a:defRPr sz="1800" b="1">
                <a:solidFill>
                  <a:srgbClr val="102C32"/>
                </a:solidFill>
                <a:latin typeface="Arial"/>
                <a:ea typeface="Arial"/>
                <a:cs typeface="Arial"/>
              </a:defRPr>
            </a:lvl8pPr>
            <a:lvl9pPr algn="ctr">
              <a:buNone/>
              <a:defRPr sz="1800" b="1">
                <a:solidFill>
                  <a:srgbClr val="102C32"/>
                </a:solidFill>
                <a:latin typeface="Arial"/>
                <a:ea typeface="Arial"/>
                <a:cs typeface="Arial"/>
              </a:defRPr>
            </a:lvl9pPr>
          </a:lstStyle>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Manager</a:t>
            </a:r>
          </a:p>
          <a:p xmlns:a="http://schemas.openxmlformats.org/drawingml/2006/main">
            <a:pPr algn="ctr">
              <a:buNone/>
              <a:defRPr sz="1800" b="1">
                <a:solidFill>
                  <a:srgbClr val="102C32"/>
                </a:solidFill>
                <a:latin typeface="Arial"/>
                <a:ea typeface="Arial"/>
                <a:cs typeface="Arial"/>
              </a:defRPr>
            </a:pPr>
            <a:r>
              <a:rPr sz="1800" b="1">
                <a:solidFill>
                  <a:srgbClr val="102C32"/>
                </a:solidFill>
                <a:latin typeface="Arial"/>
                <a:ea typeface="Arial"/>
                <a:cs typeface="Arial"/>
              </a:rPr>
              <a:t>review</a:t>
            </a:r>
          </a:p>
        </p:txBody>
      </p:sp>
      <p:sp>
        <p:nvSpPr>
          <p:cNvPr id="34" name="pipeline-7">
            <a:extLst xmlns:a="http://schemas.openxmlformats.org/drawingml/2006/main">
              <a:ext uri="{FF2B5EF4-FFF2-40B4-BE49-F238E27FC236}">
                <a16:creationId xmlns:a16="http://schemas.microsoft.com/office/drawing/2014/main" id="{8B5D3B66-AF31-45FB-AC78-FBD95E460A0A}"/>
              </a:ext>
            </a:extLst>
          </p:cNvPr>
          <p:cNvSpPr>
            <a:spLocks xmlns:a="http://schemas.openxmlformats.org/drawingml/2006/main" noGrp="1"/>
          </p:cNvSpPr>
          <p:nvPr/>
        </p:nvSpPr>
        <p:spPr>
          <a:xfrm xmlns:a="http://schemas.openxmlformats.org/drawingml/2006/main">
            <a:off x="9286875" y="2743200"/>
            <a:ext cx="666750" cy="666750"/>
          </a:xfrm>
          <a:prstGeom xmlns:a="http://schemas.openxmlformats.org/drawingml/2006/main" prst="flowChartDisplay">
            <a:avLst/>
          </a:prstGeom>
          <a:solidFill xmlns:a="http://schemas.openxmlformats.org/drawingml/2006/main">
            <a:srgbClr val="FFFFFF"/>
          </a:solidFill>
          <a:ln xmlns:a="http://schemas.openxmlformats.org/drawingml/2006/main" w="21908">
            <a:solidFill>
              <a:srgbClr val="81969C"/>
            </a:solidFill>
            <a:prstDash val="dash"/>
          </a:ln>
        </p:spPr>
      </p:sp>
      <p:sp>
        <p:nvSpPr>
          <p:cNvPr id="35" name="Customer&#10;contact">
            <a:extLst xmlns:a="http://schemas.openxmlformats.org/drawingml/2006/main">
              <a:ext uri="{FF2B5EF4-FFF2-40B4-BE49-F238E27FC236}">
                <a16:creationId xmlns:a16="http://schemas.microsoft.com/office/drawing/2014/main" id="{26DAF1DF-036C-45A9-A650-2E42D842EE83}"/>
              </a:ext>
            </a:extLst>
          </p:cNvPr>
          <p:cNvSpPr>
            <a:spLocks xmlns:a="http://schemas.openxmlformats.org/drawingml/2006/main" noGrp="1"/>
          </p:cNvSpPr>
          <p:nvPr/>
        </p:nvSpPr>
        <p:spPr>
          <a:xfrm xmlns:a="http://schemas.openxmlformats.org/drawingml/2006/main">
            <a:off x="89916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496168"/>
                </a:solidFill>
                <a:latin typeface="Arial"/>
                <a:ea typeface="Arial"/>
                <a:cs typeface="Arial"/>
              </a:defRPr>
            </a:defPPr>
            <a:lvl1pPr algn="ctr">
              <a:buNone/>
              <a:defRPr sz="1800" b="1">
                <a:solidFill>
                  <a:srgbClr val="496168"/>
                </a:solidFill>
                <a:latin typeface="Arial"/>
                <a:ea typeface="Arial"/>
                <a:cs typeface="Arial"/>
              </a:defRPr>
            </a:lvl1pPr>
            <a:lvl2pPr algn="ctr">
              <a:buNone/>
              <a:defRPr sz="1800" b="1">
                <a:solidFill>
                  <a:srgbClr val="496168"/>
                </a:solidFill>
                <a:latin typeface="Arial"/>
                <a:ea typeface="Arial"/>
                <a:cs typeface="Arial"/>
              </a:defRPr>
            </a:lvl2pPr>
            <a:lvl3pPr algn="ctr">
              <a:buNone/>
              <a:defRPr sz="1800" b="1">
                <a:solidFill>
                  <a:srgbClr val="496168"/>
                </a:solidFill>
                <a:latin typeface="Arial"/>
                <a:ea typeface="Arial"/>
                <a:cs typeface="Arial"/>
              </a:defRPr>
            </a:lvl3pPr>
            <a:lvl4pPr algn="ctr">
              <a:buNone/>
              <a:defRPr sz="1800" b="1">
                <a:solidFill>
                  <a:srgbClr val="496168"/>
                </a:solidFill>
                <a:latin typeface="Arial"/>
                <a:ea typeface="Arial"/>
                <a:cs typeface="Arial"/>
              </a:defRPr>
            </a:lvl4pPr>
            <a:lvl5pPr algn="ctr">
              <a:buNone/>
              <a:defRPr sz="1800" b="1">
                <a:solidFill>
                  <a:srgbClr val="496168"/>
                </a:solidFill>
                <a:latin typeface="Arial"/>
                <a:ea typeface="Arial"/>
                <a:cs typeface="Arial"/>
              </a:defRPr>
            </a:lvl5pPr>
            <a:lvl6pPr algn="ctr">
              <a:buNone/>
              <a:defRPr sz="1800" b="1">
                <a:solidFill>
                  <a:srgbClr val="496168"/>
                </a:solidFill>
                <a:latin typeface="Arial"/>
                <a:ea typeface="Arial"/>
                <a:cs typeface="Arial"/>
              </a:defRPr>
            </a:lvl6pPr>
            <a:lvl7pPr algn="ctr">
              <a:buNone/>
              <a:defRPr sz="1800" b="1">
                <a:solidFill>
                  <a:srgbClr val="496168"/>
                </a:solidFill>
                <a:latin typeface="Arial"/>
                <a:ea typeface="Arial"/>
                <a:cs typeface="Arial"/>
              </a:defRPr>
            </a:lvl7pPr>
            <a:lvl8pPr algn="ctr">
              <a:buNone/>
              <a:defRPr sz="1800" b="1">
                <a:solidFill>
                  <a:srgbClr val="496168"/>
                </a:solidFill>
                <a:latin typeface="Arial"/>
                <a:ea typeface="Arial"/>
                <a:cs typeface="Arial"/>
              </a:defRPr>
            </a:lvl8pPr>
            <a:lvl9pPr algn="ctr">
              <a:buNone/>
              <a:defRPr sz="1800" b="1">
                <a:solidFill>
                  <a:srgbClr val="496168"/>
                </a:solidFill>
                <a:latin typeface="Arial"/>
                <a:ea typeface="Arial"/>
                <a:cs typeface="Arial"/>
              </a:defRPr>
            </a:lvl9pPr>
          </a:lstStyle>
          <a:p xmlns:a="http://schemas.openxmlformats.org/drawingml/2006/main">
            <a:pPr algn="ctr">
              <a:buNone/>
              <a:defRPr sz="1800" b="1">
                <a:solidFill>
                  <a:srgbClr val="496168"/>
                </a:solidFill>
                <a:latin typeface="Arial"/>
                <a:ea typeface="Arial"/>
                <a:cs typeface="Arial"/>
              </a:defRPr>
            </a:pPr>
            <a:r>
              <a:rPr sz="1800" b="1">
                <a:solidFill>
                  <a:srgbClr val="496168"/>
                </a:solidFill>
                <a:latin typeface="Arial"/>
                <a:ea typeface="Arial"/>
                <a:cs typeface="Arial"/>
              </a:rPr>
              <a:t>Customer</a:t>
            </a:r>
          </a:p>
          <a:p xmlns:a="http://schemas.openxmlformats.org/drawingml/2006/main">
            <a:pPr algn="ctr">
              <a:buNone/>
              <a:defRPr sz="1800" b="1">
                <a:solidFill>
                  <a:srgbClr val="496168"/>
                </a:solidFill>
                <a:latin typeface="Arial"/>
                <a:ea typeface="Arial"/>
                <a:cs typeface="Arial"/>
              </a:defRPr>
            </a:pPr>
            <a:r>
              <a:rPr sz="1800" b="1">
                <a:solidFill>
                  <a:srgbClr val="496168"/>
                </a:solidFill>
                <a:latin typeface="Arial"/>
                <a:ea typeface="Arial"/>
                <a:cs typeface="Arial"/>
              </a:rPr>
              <a:t>contact</a:t>
            </a:r>
          </a:p>
        </p:txBody>
      </p:sp>
      <p:sp>
        <p:nvSpPr>
          <p:cNvPr id="36" name="pipeline-8">
            <a:extLst xmlns:a="http://schemas.openxmlformats.org/drawingml/2006/main">
              <a:ext uri="{FF2B5EF4-FFF2-40B4-BE49-F238E27FC236}">
                <a16:creationId xmlns:a16="http://schemas.microsoft.com/office/drawing/2014/main" id="{C1C1C395-D2A1-4C5E-AACF-54DAA027A98D}"/>
              </a:ext>
            </a:extLst>
          </p:cNvPr>
          <p:cNvSpPr>
            <a:spLocks xmlns:a="http://schemas.openxmlformats.org/drawingml/2006/main" noGrp="1"/>
          </p:cNvSpPr>
          <p:nvPr/>
        </p:nvSpPr>
        <p:spPr>
          <a:xfrm xmlns:a="http://schemas.openxmlformats.org/drawingml/2006/main">
            <a:off x="10696575" y="2743200"/>
            <a:ext cx="666750" cy="666750"/>
          </a:xfrm>
          <a:prstGeom xmlns:a="http://schemas.openxmlformats.org/drawingml/2006/main" prst="flowChartDocument">
            <a:avLst/>
          </a:prstGeom>
          <a:solidFill xmlns:a="http://schemas.openxmlformats.org/drawingml/2006/main">
            <a:srgbClr val="FFFFFF"/>
          </a:solidFill>
          <a:ln xmlns:a="http://schemas.openxmlformats.org/drawingml/2006/main" w="21908">
            <a:solidFill>
              <a:srgbClr val="81969C"/>
            </a:solidFill>
            <a:prstDash val="dash"/>
          </a:ln>
        </p:spPr>
      </p:sp>
      <p:sp>
        <p:nvSpPr>
          <p:cNvPr id="37" name="Capture&#10;outcomes">
            <a:extLst xmlns:a="http://schemas.openxmlformats.org/drawingml/2006/main">
              <a:ext uri="{FF2B5EF4-FFF2-40B4-BE49-F238E27FC236}">
                <a16:creationId xmlns:a16="http://schemas.microsoft.com/office/drawing/2014/main" id="{4EE1577B-314C-4B4F-A4A7-B61CF2200DEC}"/>
              </a:ext>
            </a:extLst>
          </p:cNvPr>
          <p:cNvSpPr>
            <a:spLocks xmlns:a="http://schemas.openxmlformats.org/drawingml/2006/main" noGrp="1"/>
          </p:cNvSpPr>
          <p:nvPr/>
        </p:nvSpPr>
        <p:spPr>
          <a:xfrm xmlns:a="http://schemas.openxmlformats.org/drawingml/2006/main">
            <a:off x="10401300" y="3743325"/>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496168"/>
                </a:solidFill>
                <a:latin typeface="Arial"/>
                <a:ea typeface="Arial"/>
                <a:cs typeface="Arial"/>
              </a:defRPr>
            </a:defPPr>
            <a:lvl1pPr algn="ctr">
              <a:buNone/>
              <a:defRPr sz="1800" b="1">
                <a:solidFill>
                  <a:srgbClr val="496168"/>
                </a:solidFill>
                <a:latin typeface="Arial"/>
                <a:ea typeface="Arial"/>
                <a:cs typeface="Arial"/>
              </a:defRPr>
            </a:lvl1pPr>
            <a:lvl2pPr algn="ctr">
              <a:buNone/>
              <a:defRPr sz="1800" b="1">
                <a:solidFill>
                  <a:srgbClr val="496168"/>
                </a:solidFill>
                <a:latin typeface="Arial"/>
                <a:ea typeface="Arial"/>
                <a:cs typeface="Arial"/>
              </a:defRPr>
            </a:lvl2pPr>
            <a:lvl3pPr algn="ctr">
              <a:buNone/>
              <a:defRPr sz="1800" b="1">
                <a:solidFill>
                  <a:srgbClr val="496168"/>
                </a:solidFill>
                <a:latin typeface="Arial"/>
                <a:ea typeface="Arial"/>
                <a:cs typeface="Arial"/>
              </a:defRPr>
            </a:lvl3pPr>
            <a:lvl4pPr algn="ctr">
              <a:buNone/>
              <a:defRPr sz="1800" b="1">
                <a:solidFill>
                  <a:srgbClr val="496168"/>
                </a:solidFill>
                <a:latin typeface="Arial"/>
                <a:ea typeface="Arial"/>
                <a:cs typeface="Arial"/>
              </a:defRPr>
            </a:lvl4pPr>
            <a:lvl5pPr algn="ctr">
              <a:buNone/>
              <a:defRPr sz="1800" b="1">
                <a:solidFill>
                  <a:srgbClr val="496168"/>
                </a:solidFill>
                <a:latin typeface="Arial"/>
                <a:ea typeface="Arial"/>
                <a:cs typeface="Arial"/>
              </a:defRPr>
            </a:lvl5pPr>
            <a:lvl6pPr algn="ctr">
              <a:buNone/>
              <a:defRPr sz="1800" b="1">
                <a:solidFill>
                  <a:srgbClr val="496168"/>
                </a:solidFill>
                <a:latin typeface="Arial"/>
                <a:ea typeface="Arial"/>
                <a:cs typeface="Arial"/>
              </a:defRPr>
            </a:lvl6pPr>
            <a:lvl7pPr algn="ctr">
              <a:buNone/>
              <a:defRPr sz="1800" b="1">
                <a:solidFill>
                  <a:srgbClr val="496168"/>
                </a:solidFill>
                <a:latin typeface="Arial"/>
                <a:ea typeface="Arial"/>
                <a:cs typeface="Arial"/>
              </a:defRPr>
            </a:lvl7pPr>
            <a:lvl8pPr algn="ctr">
              <a:buNone/>
              <a:defRPr sz="1800" b="1">
                <a:solidFill>
                  <a:srgbClr val="496168"/>
                </a:solidFill>
                <a:latin typeface="Arial"/>
                <a:ea typeface="Arial"/>
                <a:cs typeface="Arial"/>
              </a:defRPr>
            </a:lvl8pPr>
            <a:lvl9pPr algn="ctr">
              <a:buNone/>
              <a:defRPr sz="1800" b="1">
                <a:solidFill>
                  <a:srgbClr val="496168"/>
                </a:solidFill>
                <a:latin typeface="Arial"/>
                <a:ea typeface="Arial"/>
                <a:cs typeface="Arial"/>
              </a:defRPr>
            </a:lvl9pPr>
          </a:lstStyle>
          <a:p xmlns:a="http://schemas.openxmlformats.org/drawingml/2006/main">
            <a:pPr algn="ctr">
              <a:buNone/>
              <a:defRPr sz="1800" b="1">
                <a:solidFill>
                  <a:srgbClr val="496168"/>
                </a:solidFill>
                <a:latin typeface="Arial"/>
                <a:ea typeface="Arial"/>
                <a:cs typeface="Arial"/>
              </a:defRPr>
            </a:pPr>
            <a:r>
              <a:rPr sz="1800" b="1">
                <a:solidFill>
                  <a:srgbClr val="496168"/>
                </a:solidFill>
                <a:latin typeface="Arial"/>
                <a:ea typeface="Arial"/>
                <a:cs typeface="Arial"/>
              </a:rPr>
              <a:t>Capture</a:t>
            </a:r>
          </a:p>
          <a:p xmlns:a="http://schemas.openxmlformats.org/drawingml/2006/main">
            <a:pPr algn="ctr">
              <a:buNone/>
              <a:defRPr sz="1800" b="1">
                <a:solidFill>
                  <a:srgbClr val="496168"/>
                </a:solidFill>
                <a:latin typeface="Arial"/>
                <a:ea typeface="Arial"/>
                <a:cs typeface="Arial"/>
              </a:defRPr>
            </a:pPr>
            <a:r>
              <a:rPr sz="1800" b="1">
                <a:solidFill>
                  <a:srgbClr val="496168"/>
                </a:solidFill>
                <a:latin typeface="Arial"/>
                <a:ea typeface="Arial"/>
                <a:cs typeface="Arial"/>
              </a:rPr>
              <a:t>outcomes</a:t>
            </a:r>
          </a:p>
        </p:txBody>
      </p:sp>
      <p:sp>
        <p:nvSpPr>
          <p:cNvPr id="45" name="The current tool ends with a reviewed shortlis">
            <a:extLst xmlns:a="http://schemas.openxmlformats.org/drawingml/2006/main">
              <a:ext uri="{FF2B5EF4-FFF2-40B4-BE49-F238E27FC236}">
                <a16:creationId xmlns:a16="http://schemas.microsoft.com/office/drawing/2014/main" id="{6EBFB960-13D8-4E4F-86CF-00D5EABEA1F2}"/>
              </a:ext>
            </a:extLst>
          </p:cNvPr>
          <p:cNvSpPr>
            <a:spLocks xmlns:a="http://schemas.openxmlformats.org/drawingml/2006/main" noGrp="1"/>
          </p:cNvSpPr>
          <p:nvPr/>
        </p:nvSpPr>
        <p:spPr>
          <a:xfrm xmlns:a="http://schemas.openxmlformats.org/drawingml/2006/main">
            <a:off x="609600" y="5038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C32"/>
                </a:solidFill>
                <a:latin typeface="Arial"/>
                <a:ea typeface="Arial"/>
                <a:cs typeface="Arial"/>
              </a:defRPr>
            </a:defPPr>
            <a:lvl1pPr algn="l">
              <a:buNone/>
              <a:defRPr sz="2175" b="1">
                <a:solidFill>
                  <a:srgbClr val="102C32"/>
                </a:solidFill>
                <a:latin typeface="Arial"/>
                <a:ea typeface="Arial"/>
                <a:cs typeface="Arial"/>
              </a:defRPr>
            </a:lvl1pPr>
            <a:lvl2pPr algn="l">
              <a:buNone/>
              <a:defRPr sz="2175" b="1">
                <a:solidFill>
                  <a:srgbClr val="102C32"/>
                </a:solidFill>
                <a:latin typeface="Arial"/>
                <a:ea typeface="Arial"/>
                <a:cs typeface="Arial"/>
              </a:defRPr>
            </a:lvl2pPr>
            <a:lvl3pPr algn="l">
              <a:buNone/>
              <a:defRPr sz="2175" b="1">
                <a:solidFill>
                  <a:srgbClr val="102C32"/>
                </a:solidFill>
                <a:latin typeface="Arial"/>
                <a:ea typeface="Arial"/>
                <a:cs typeface="Arial"/>
              </a:defRPr>
            </a:lvl3pPr>
            <a:lvl4pPr algn="l">
              <a:buNone/>
              <a:defRPr sz="2175" b="1">
                <a:solidFill>
                  <a:srgbClr val="102C32"/>
                </a:solidFill>
                <a:latin typeface="Arial"/>
                <a:ea typeface="Arial"/>
                <a:cs typeface="Arial"/>
              </a:defRPr>
            </a:lvl4pPr>
            <a:lvl5pPr algn="l">
              <a:buNone/>
              <a:defRPr sz="2175" b="1">
                <a:solidFill>
                  <a:srgbClr val="102C32"/>
                </a:solidFill>
                <a:latin typeface="Arial"/>
                <a:ea typeface="Arial"/>
                <a:cs typeface="Arial"/>
              </a:defRPr>
            </a:lvl5pPr>
            <a:lvl6pPr algn="l">
              <a:buNone/>
              <a:defRPr sz="2175" b="1">
                <a:solidFill>
                  <a:srgbClr val="102C32"/>
                </a:solidFill>
                <a:latin typeface="Arial"/>
                <a:ea typeface="Arial"/>
                <a:cs typeface="Arial"/>
              </a:defRPr>
            </a:lvl6pPr>
            <a:lvl7pPr algn="l">
              <a:buNone/>
              <a:defRPr sz="2175" b="1">
                <a:solidFill>
                  <a:srgbClr val="102C32"/>
                </a:solidFill>
                <a:latin typeface="Arial"/>
                <a:ea typeface="Arial"/>
                <a:cs typeface="Arial"/>
              </a:defRPr>
            </a:lvl7pPr>
            <a:lvl8pPr algn="l">
              <a:buNone/>
              <a:defRPr sz="2175" b="1">
                <a:solidFill>
                  <a:srgbClr val="102C32"/>
                </a:solidFill>
                <a:latin typeface="Arial"/>
                <a:ea typeface="Arial"/>
                <a:cs typeface="Arial"/>
              </a:defRPr>
            </a:lvl8pPr>
            <a:lvl9pPr algn="l">
              <a:buNone/>
              <a:defRPr sz="2175" b="1">
                <a:solidFill>
                  <a:srgbClr val="102C32"/>
                </a:solidFill>
                <a:latin typeface="Arial"/>
                <a:ea typeface="Arial"/>
                <a:cs typeface="Arial"/>
              </a:defRPr>
            </a:lvl9pPr>
          </a:lstStyle>
          <a:p xmlns:a="http://schemas.openxmlformats.org/drawingml/2006/main">
            <a:pPr algn="l">
              <a:buNone/>
              <a:defRPr sz="2175" b="1">
                <a:solidFill>
                  <a:srgbClr val="102C32"/>
                </a:solidFill>
                <a:latin typeface="Arial"/>
                <a:ea typeface="Arial"/>
                <a:cs typeface="Arial"/>
              </a:defRPr>
            </a:pPr>
            <a:r>
              <a:rPr sz="2175" b="1">
                <a:solidFill>
                  <a:srgbClr val="102C32"/>
                </a:solidFill>
                <a:latin typeface="Arial"/>
                <a:ea typeface="Arial"/>
                <a:cs typeface="Arial"/>
              </a:rPr>
              <a:t>The tool supports staff review and downloadable conversation guides</a:t>
            </a:r>
          </a:p>
        </p:txBody>
      </p:sp>
      <p:sp>
        <p:nvSpPr>
          <p:cNvPr id="46" name="A pilot would add approved contact and recorde">
            <a:extLst xmlns:a="http://schemas.openxmlformats.org/drawingml/2006/main">
              <a:ext uri="{FF2B5EF4-FFF2-40B4-BE49-F238E27FC236}">
                <a16:creationId xmlns:a16="http://schemas.microsoft.com/office/drawing/2014/main" id="{9E788780-4CCA-4E52-B171-139C2CA1E24A}"/>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96168"/>
                </a:solidFill>
                <a:latin typeface="Arial"/>
                <a:ea typeface="Arial"/>
                <a:cs typeface="Arial"/>
              </a:defRPr>
            </a:defPPr>
            <a:lvl1pPr algn="l">
              <a:buNone/>
              <a:defRPr sz="2025" b="0">
                <a:solidFill>
                  <a:srgbClr val="496168"/>
                </a:solidFill>
                <a:latin typeface="Arial"/>
                <a:ea typeface="Arial"/>
                <a:cs typeface="Arial"/>
              </a:defRPr>
            </a:lvl1pPr>
            <a:lvl2pPr algn="l">
              <a:buNone/>
              <a:defRPr sz="2025" b="0">
                <a:solidFill>
                  <a:srgbClr val="496168"/>
                </a:solidFill>
                <a:latin typeface="Arial"/>
                <a:ea typeface="Arial"/>
                <a:cs typeface="Arial"/>
              </a:defRPr>
            </a:lvl2pPr>
            <a:lvl3pPr algn="l">
              <a:buNone/>
              <a:defRPr sz="2025" b="0">
                <a:solidFill>
                  <a:srgbClr val="496168"/>
                </a:solidFill>
                <a:latin typeface="Arial"/>
                <a:ea typeface="Arial"/>
                <a:cs typeface="Arial"/>
              </a:defRPr>
            </a:lvl3pPr>
            <a:lvl4pPr algn="l">
              <a:buNone/>
              <a:defRPr sz="2025" b="0">
                <a:solidFill>
                  <a:srgbClr val="496168"/>
                </a:solidFill>
                <a:latin typeface="Arial"/>
                <a:ea typeface="Arial"/>
                <a:cs typeface="Arial"/>
              </a:defRPr>
            </a:lvl4pPr>
            <a:lvl5pPr algn="l">
              <a:buNone/>
              <a:defRPr sz="2025" b="0">
                <a:solidFill>
                  <a:srgbClr val="496168"/>
                </a:solidFill>
                <a:latin typeface="Arial"/>
                <a:ea typeface="Arial"/>
                <a:cs typeface="Arial"/>
              </a:defRPr>
            </a:lvl5pPr>
            <a:lvl6pPr algn="l">
              <a:buNone/>
              <a:defRPr sz="2025" b="0">
                <a:solidFill>
                  <a:srgbClr val="496168"/>
                </a:solidFill>
                <a:latin typeface="Arial"/>
                <a:ea typeface="Arial"/>
                <a:cs typeface="Arial"/>
              </a:defRPr>
            </a:lvl6pPr>
            <a:lvl7pPr algn="l">
              <a:buNone/>
              <a:defRPr sz="2025" b="0">
                <a:solidFill>
                  <a:srgbClr val="496168"/>
                </a:solidFill>
                <a:latin typeface="Arial"/>
                <a:ea typeface="Arial"/>
                <a:cs typeface="Arial"/>
              </a:defRPr>
            </a:lvl7pPr>
            <a:lvl8pPr algn="l">
              <a:buNone/>
              <a:defRPr sz="2025" b="0">
                <a:solidFill>
                  <a:srgbClr val="496168"/>
                </a:solidFill>
                <a:latin typeface="Arial"/>
                <a:ea typeface="Arial"/>
                <a:cs typeface="Arial"/>
              </a:defRPr>
            </a:lvl8pPr>
            <a:lvl9pPr algn="l">
              <a:buNone/>
              <a:defRPr sz="2025" b="0">
                <a:solidFill>
                  <a:srgbClr val="496168"/>
                </a:solidFill>
                <a:latin typeface="Arial"/>
                <a:ea typeface="Arial"/>
                <a:cs typeface="Arial"/>
              </a:defRPr>
            </a:lvl9pPr>
          </a:lstStyle>
          <a:p xmlns:a="http://schemas.openxmlformats.org/drawingml/2006/main">
            <a:pPr algn="l">
              <a:buNone/>
              <a:defRPr sz="2025" b="0">
                <a:solidFill>
                  <a:srgbClr val="496168"/>
                </a:solidFill>
                <a:latin typeface="Arial"/>
                <a:ea typeface="Arial"/>
                <a:cs typeface="Arial"/>
              </a:defRPr>
            </a:pPr>
            <a:r>
              <a:rPr sz="2025" b="0">
                <a:solidFill>
                  <a:srgbClr val="496168"/>
                </a:solidFill>
                <a:latin typeface="Arial"/>
                <a:ea typeface="Arial"/>
                <a:cs typeface="Arial"/>
              </a:rPr>
              <a:t>A pilot would add approved contact and recorded real outcomes</a:t>
            </a:r>
          </a:p>
        </p:txBody>
      </p:sp>
      <p:sp>
        <p:nvSpPr>
          <p:cNvPr id="48" name="planned-feedback-label">
            <a:extLst xmlns:a="http://schemas.openxmlformats.org/drawingml/2006/main">
              <a:ext uri="{FF2B5EF4-FFF2-40B4-BE49-F238E27FC236}">
                <a16:creationId xmlns:a16="http://schemas.microsoft.com/office/drawing/2014/main" id="{87BF285C-C0A4-4F71-A6D0-B8B4FB8C2E41}"/>
              </a:ext>
            </a:extLst>
          </p:cNvPr>
          <p:cNvSpPr>
            <a:spLocks xmlns:a="http://schemas.openxmlformats.org/drawingml/2006/main" noGrp="1"/>
          </p:cNvSpPr>
          <p:nvPr/>
        </p:nvSpPr>
        <p:spPr>
          <a:xfrm xmlns:a="http://schemas.openxmlformats.org/drawingml/2006/main">
            <a:off x="5619750" y="2209800"/>
            <a:ext cx="2362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725">
                <a:solidFill>
                  <a:srgbClr val="496168"/>
                </a:solidFill>
                <a:latin typeface="Arial"/>
                <a:ea typeface="Arial"/>
                <a:cs typeface="Arial"/>
              </a:defRPr>
            </a:defPPr>
            <a:lvl1pPr algn="ctr">
              <a:buNone/>
              <a:defRPr sz="1725">
                <a:solidFill>
                  <a:srgbClr val="496168"/>
                </a:solidFill>
                <a:latin typeface="Arial"/>
                <a:ea typeface="Arial"/>
                <a:cs typeface="Arial"/>
              </a:defRPr>
            </a:lvl1pPr>
            <a:lvl2pPr algn="ctr">
              <a:buNone/>
              <a:defRPr sz="1725">
                <a:solidFill>
                  <a:srgbClr val="496168"/>
                </a:solidFill>
                <a:latin typeface="Arial"/>
                <a:ea typeface="Arial"/>
                <a:cs typeface="Arial"/>
              </a:defRPr>
            </a:lvl2pPr>
            <a:lvl3pPr algn="ctr">
              <a:buNone/>
              <a:defRPr sz="1725">
                <a:solidFill>
                  <a:srgbClr val="496168"/>
                </a:solidFill>
                <a:latin typeface="Arial"/>
                <a:ea typeface="Arial"/>
                <a:cs typeface="Arial"/>
              </a:defRPr>
            </a:lvl3pPr>
            <a:lvl4pPr algn="ctr">
              <a:buNone/>
              <a:defRPr sz="1725">
                <a:solidFill>
                  <a:srgbClr val="496168"/>
                </a:solidFill>
                <a:latin typeface="Arial"/>
                <a:ea typeface="Arial"/>
                <a:cs typeface="Arial"/>
              </a:defRPr>
            </a:lvl4pPr>
            <a:lvl5pPr algn="ctr">
              <a:buNone/>
              <a:defRPr sz="1725">
                <a:solidFill>
                  <a:srgbClr val="496168"/>
                </a:solidFill>
                <a:latin typeface="Arial"/>
                <a:ea typeface="Arial"/>
                <a:cs typeface="Arial"/>
              </a:defRPr>
            </a:lvl5pPr>
            <a:lvl6pPr algn="ctr">
              <a:buNone/>
              <a:defRPr sz="1725">
                <a:solidFill>
                  <a:srgbClr val="496168"/>
                </a:solidFill>
                <a:latin typeface="Arial"/>
                <a:ea typeface="Arial"/>
                <a:cs typeface="Arial"/>
              </a:defRPr>
            </a:lvl6pPr>
            <a:lvl7pPr algn="ctr">
              <a:buNone/>
              <a:defRPr sz="1725">
                <a:solidFill>
                  <a:srgbClr val="496168"/>
                </a:solidFill>
                <a:latin typeface="Arial"/>
                <a:ea typeface="Arial"/>
                <a:cs typeface="Arial"/>
              </a:defRPr>
            </a:lvl7pPr>
            <a:lvl8pPr algn="ctr">
              <a:buNone/>
              <a:defRPr sz="1725">
                <a:solidFill>
                  <a:srgbClr val="496168"/>
                </a:solidFill>
                <a:latin typeface="Arial"/>
                <a:ea typeface="Arial"/>
                <a:cs typeface="Arial"/>
              </a:defRPr>
            </a:lvl8pPr>
            <a:lvl9pPr algn="ctr">
              <a:buNone/>
              <a:defRPr sz="1725">
                <a:solidFill>
                  <a:srgbClr val="496168"/>
                </a:solidFill>
                <a:latin typeface="Arial"/>
                <a:ea typeface="Arial"/>
                <a:cs typeface="Arial"/>
              </a:defRPr>
            </a:lvl9pPr>
          </a:lstStyle>
          <a:p xmlns:a="http://schemas.openxmlformats.org/drawingml/2006/main">
            <a:pPr algn="ctr">
              <a:buNone/>
              <a:defRPr sz="1725">
                <a:solidFill>
                  <a:srgbClr val="496168"/>
                </a:solidFill>
                <a:latin typeface="Arial"/>
                <a:ea typeface="Arial"/>
                <a:cs typeface="Arial"/>
              </a:defRPr>
            </a:pPr>
            <a:r>
              <a:rPr sz="1725">
                <a:solidFill>
                  <a:srgbClr val="496168"/>
                </a:solidFill>
                <a:latin typeface="Arial"/>
                <a:ea typeface="Arial"/>
                <a:cs typeface="Arial"/>
              </a:rPr>
              <a:t>Planned feedback</a:t>
            </a:r>
          </a:p>
        </p:txBody>
      </p:sp>
    </p:spTree>
    <p:extLst>
      <p:ext uri="{BB962C8B-B14F-4D97-AF65-F5344CB8AC3E}">
        <p14:creationId xmlns:p14="http://schemas.microsoft.com/office/powerpoint/2010/main" val="7649510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19E6845-21E2-4D7A-B73E-255C1D64E370}"/>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Recommendation: a reviewed pilot</a:t>
            </a:r>
          </a:p>
        </p:txBody>
      </p:sp>
      <p:sp>
        <p:nvSpPr>
          <p:cNvPr id="2" name="MSBA265  /  Final Project Proposal">
            <a:extLst xmlns:a="http://schemas.openxmlformats.org/drawingml/2006/main">
              <a:ext uri="{FF2B5EF4-FFF2-40B4-BE49-F238E27FC236}">
                <a16:creationId xmlns:a16="http://schemas.microsoft.com/office/drawing/2014/main" id="{F9839B4D-D653-48D6-A0F0-7D77594E018F}"/>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a:t>
            </a:r>
          </a:p>
        </p:txBody>
      </p:sp>
      <p:sp>
        <p:nvSpPr>
          <p:cNvPr id="3" name="09">
            <a:extLst xmlns:a="http://schemas.openxmlformats.org/drawingml/2006/main">
              <a:ext uri="{FF2B5EF4-FFF2-40B4-BE49-F238E27FC236}">
                <a16:creationId xmlns:a16="http://schemas.microsoft.com/office/drawing/2014/main" id="{D118593F-8EB0-4D36-AC2D-8A4E07330A8A}"/>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09</a:t>
            </a:r>
          </a:p>
        </p:txBody>
      </p:sp>
      <p:sp>
        <p:nvSpPr>
          <p:cNvPr id="8" name="Use the prototype to support shortlist review">
            <a:extLst xmlns:a="http://schemas.openxmlformats.org/drawingml/2006/main">
              <a:ext uri="{FF2B5EF4-FFF2-40B4-BE49-F238E27FC236}">
                <a16:creationId xmlns:a16="http://schemas.microsoft.com/office/drawing/2014/main" id="{33EA7710-EAF2-4302-B8E4-0CCFC2C6E0A0}"/>
              </a:ext>
            </a:extLst>
          </p:cNvPr>
          <p:cNvSpPr>
            <a:spLocks xmlns:a="http://schemas.openxmlformats.org/drawingml/2006/main" noGrp="1"/>
          </p:cNvSpPr>
          <p:nvPr/>
        </p:nvSpPr>
        <p:spPr>
          <a:xfrm xmlns:a="http://schemas.openxmlformats.org/drawingml/2006/main">
            <a:off x="609600" y="13716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866C"/>
                </a:solidFill>
                <a:latin typeface="Arial"/>
                <a:ea typeface="Arial"/>
                <a:cs typeface="Arial"/>
              </a:defRPr>
            </a:defPPr>
            <a:lvl1pPr algn="l">
              <a:defRPr sz="2400" b="1">
                <a:solidFill>
                  <a:srgbClr val="15866C"/>
                </a:solidFill>
                <a:latin typeface="Arial"/>
                <a:ea typeface="Arial"/>
                <a:cs typeface="Arial"/>
              </a:defRPr>
            </a:lvl1pPr>
            <a:lvl2pPr algn="l">
              <a:defRPr sz="2400" b="1">
                <a:solidFill>
                  <a:srgbClr val="15866C"/>
                </a:solidFill>
                <a:latin typeface="Arial"/>
                <a:ea typeface="Arial"/>
                <a:cs typeface="Arial"/>
              </a:defRPr>
            </a:lvl2pPr>
            <a:lvl3pPr algn="l">
              <a:defRPr sz="2400" b="1">
                <a:solidFill>
                  <a:srgbClr val="15866C"/>
                </a:solidFill>
                <a:latin typeface="Arial"/>
                <a:ea typeface="Arial"/>
                <a:cs typeface="Arial"/>
              </a:defRPr>
            </a:lvl3pPr>
            <a:lvl4pPr algn="l">
              <a:defRPr sz="2400" b="1">
                <a:solidFill>
                  <a:srgbClr val="15866C"/>
                </a:solidFill>
                <a:latin typeface="Arial"/>
                <a:ea typeface="Arial"/>
                <a:cs typeface="Arial"/>
              </a:defRPr>
            </a:lvl4pPr>
            <a:lvl5pPr algn="l">
              <a:defRPr sz="2400" b="1">
                <a:solidFill>
                  <a:srgbClr val="15866C"/>
                </a:solidFill>
                <a:latin typeface="Arial"/>
                <a:ea typeface="Arial"/>
                <a:cs typeface="Arial"/>
              </a:defRPr>
            </a:lvl5pPr>
            <a:lvl6pPr algn="l">
              <a:defRPr sz="2400" b="1">
                <a:solidFill>
                  <a:srgbClr val="15866C"/>
                </a:solidFill>
                <a:latin typeface="Arial"/>
                <a:ea typeface="Arial"/>
                <a:cs typeface="Arial"/>
              </a:defRPr>
            </a:lvl6pPr>
            <a:lvl7pPr algn="l">
              <a:defRPr sz="2400" b="1">
                <a:solidFill>
                  <a:srgbClr val="15866C"/>
                </a:solidFill>
                <a:latin typeface="Arial"/>
                <a:ea typeface="Arial"/>
                <a:cs typeface="Arial"/>
              </a:defRPr>
            </a:lvl7pPr>
            <a:lvl8pPr algn="l">
              <a:defRPr sz="2400" b="1">
                <a:solidFill>
                  <a:srgbClr val="15866C"/>
                </a:solidFill>
                <a:latin typeface="Arial"/>
                <a:ea typeface="Arial"/>
                <a:cs typeface="Arial"/>
              </a:defRPr>
            </a:lvl8pPr>
            <a:lvl9pPr algn="l">
              <a:defRPr sz="2400" b="1">
                <a:solidFill>
                  <a:srgbClr val="15866C"/>
                </a:solidFill>
                <a:latin typeface="Arial"/>
                <a:ea typeface="Arial"/>
                <a:cs typeface="Arial"/>
              </a:defRPr>
            </a:lvl9pPr>
          </a:lstStyle>
          <a:p xmlns:a="http://schemas.openxmlformats.org/drawingml/2006/main">
            <a:pPr algn="l">
              <a:defRPr sz="2400" b="1">
                <a:solidFill>
                  <a:srgbClr val="15866C"/>
                </a:solidFill>
                <a:latin typeface="Arial"/>
                <a:ea typeface="Arial"/>
                <a:cs typeface="Arial"/>
              </a:defRPr>
            </a:pPr>
            <a:r>
              <a:rPr sz="2400" b="1">
                <a:solidFill>
                  <a:srgbClr val="15866C"/>
                </a:solidFill>
                <a:latin typeface="Arial"/>
                <a:ea typeface="Arial"/>
                <a:cs typeface="Arial"/>
              </a:rPr>
              <a:t>Use the prototype to support shortlist review</a:t>
            </a:r>
          </a:p>
        </p:txBody>
      </p:sp>
      <p:sp>
        <p:nvSpPr>
          <p:cNvPr id="9" name="Pilot scope">
            <a:extLst xmlns:a="http://schemas.openxmlformats.org/drawingml/2006/main">
              <a:ext uri="{FF2B5EF4-FFF2-40B4-BE49-F238E27FC236}">
                <a16:creationId xmlns:a16="http://schemas.microsoft.com/office/drawing/2014/main" id="{F6D8A2A9-C3FD-4333-8630-569B3A1393FE}"/>
              </a:ext>
            </a:extLst>
          </p:cNvPr>
          <p:cNvSpPr>
            <a:spLocks xmlns:a="http://schemas.openxmlformats.org/drawingml/2006/main" noGrp="1"/>
          </p:cNvSpPr>
          <p:nvPr/>
        </p:nvSpPr>
        <p:spPr>
          <a:xfrm xmlns:a="http://schemas.openxmlformats.org/drawingml/2006/main">
            <a:off x="609600" y="23907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C32"/>
                </a:solidFill>
                <a:latin typeface="Arial"/>
                <a:ea typeface="Arial"/>
                <a:cs typeface="Arial"/>
              </a:defRPr>
            </a:defPPr>
            <a:lvl1pPr algn="l">
              <a:defRPr sz="2325" b="1">
                <a:solidFill>
                  <a:srgbClr val="102C32"/>
                </a:solidFill>
                <a:latin typeface="Arial"/>
                <a:ea typeface="Arial"/>
                <a:cs typeface="Arial"/>
              </a:defRPr>
            </a:lvl1pPr>
            <a:lvl2pPr algn="l">
              <a:defRPr sz="2325" b="1">
                <a:solidFill>
                  <a:srgbClr val="102C32"/>
                </a:solidFill>
                <a:latin typeface="Arial"/>
                <a:ea typeface="Arial"/>
                <a:cs typeface="Arial"/>
              </a:defRPr>
            </a:lvl2pPr>
            <a:lvl3pPr algn="l">
              <a:defRPr sz="2325" b="1">
                <a:solidFill>
                  <a:srgbClr val="102C32"/>
                </a:solidFill>
                <a:latin typeface="Arial"/>
                <a:ea typeface="Arial"/>
                <a:cs typeface="Arial"/>
              </a:defRPr>
            </a:lvl3pPr>
            <a:lvl4pPr algn="l">
              <a:defRPr sz="2325" b="1">
                <a:solidFill>
                  <a:srgbClr val="102C32"/>
                </a:solidFill>
                <a:latin typeface="Arial"/>
                <a:ea typeface="Arial"/>
                <a:cs typeface="Arial"/>
              </a:defRPr>
            </a:lvl4pPr>
            <a:lvl5pPr algn="l">
              <a:defRPr sz="2325" b="1">
                <a:solidFill>
                  <a:srgbClr val="102C32"/>
                </a:solidFill>
                <a:latin typeface="Arial"/>
                <a:ea typeface="Arial"/>
                <a:cs typeface="Arial"/>
              </a:defRPr>
            </a:lvl5pPr>
            <a:lvl6pPr algn="l">
              <a:defRPr sz="2325" b="1">
                <a:solidFill>
                  <a:srgbClr val="102C32"/>
                </a:solidFill>
                <a:latin typeface="Arial"/>
                <a:ea typeface="Arial"/>
                <a:cs typeface="Arial"/>
              </a:defRPr>
            </a:lvl6pPr>
            <a:lvl7pPr algn="l">
              <a:defRPr sz="2325" b="1">
                <a:solidFill>
                  <a:srgbClr val="102C32"/>
                </a:solidFill>
                <a:latin typeface="Arial"/>
                <a:ea typeface="Arial"/>
                <a:cs typeface="Arial"/>
              </a:defRPr>
            </a:lvl7pPr>
            <a:lvl8pPr algn="l">
              <a:defRPr sz="2325" b="1">
                <a:solidFill>
                  <a:srgbClr val="102C32"/>
                </a:solidFill>
                <a:latin typeface="Arial"/>
                <a:ea typeface="Arial"/>
                <a:cs typeface="Arial"/>
              </a:defRPr>
            </a:lvl8pPr>
            <a:lvl9pPr algn="l">
              <a:defRPr sz="2325" b="1">
                <a:solidFill>
                  <a:srgbClr val="102C32"/>
                </a:solidFill>
                <a:latin typeface="Arial"/>
                <a:ea typeface="Arial"/>
                <a:cs typeface="Arial"/>
              </a:defRPr>
            </a:lvl9pPr>
          </a:lstStyle>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Pilot scope</a:t>
            </a:r>
          </a:p>
        </p:txBody>
      </p:sp>
      <p:sp>
        <p:nvSpPr>
          <p:cNvPr id="10" name="Use approved customer profiles&#10;with suitable p">
            <a:extLst xmlns:a="http://schemas.openxmlformats.org/drawingml/2006/main">
              <a:ext uri="{FF2B5EF4-FFF2-40B4-BE49-F238E27FC236}">
                <a16:creationId xmlns:a16="http://schemas.microsoft.com/office/drawing/2014/main" id="{971F39BD-0AEA-42F2-B15C-20CBAB65CEF2}"/>
              </a:ext>
            </a:extLst>
          </p:cNvPr>
          <p:cNvSpPr>
            <a:spLocks xmlns:a="http://schemas.openxmlformats.org/drawingml/2006/main" noGrp="1"/>
          </p:cNvSpPr>
          <p:nvPr/>
        </p:nvSpPr>
        <p:spPr>
          <a:xfrm xmlns:a="http://schemas.openxmlformats.org/drawingml/2006/main">
            <a:off x="609600" y="296227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Use approved customer profiles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with suitable permission.</a:t>
            </a:r>
          </a:p>
        </p:txBody>
      </p:sp>
      <p:sp>
        <p:nvSpPr>
          <p:cNvPr id="11" name="Set a review limit that matches&#10;the team’s cap">
            <a:extLst xmlns:a="http://schemas.openxmlformats.org/drawingml/2006/main">
              <a:ext uri="{FF2B5EF4-FFF2-40B4-BE49-F238E27FC236}">
                <a16:creationId xmlns:a16="http://schemas.microsoft.com/office/drawing/2014/main" id="{27731EFD-99CE-4A66-AECB-05EF461B3FF5}"/>
              </a:ext>
            </a:extLst>
          </p:cNvPr>
          <p:cNvSpPr>
            <a:spLocks xmlns:a="http://schemas.openxmlformats.org/drawingml/2006/main" noGrp="1"/>
          </p:cNvSpPr>
          <p:nvPr/>
        </p:nvSpPr>
        <p:spPr>
          <a:xfrm xmlns:a="http://schemas.openxmlformats.org/drawingml/2006/main">
            <a:off x="609600" y="402907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Set a review limit that matches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the team’s capacity.</a:t>
            </a:r>
          </a:p>
        </p:txBody>
      </p:sp>
      <p:sp>
        <p:nvSpPr>
          <p:cNvPr id="12" name="Have staff review every profile&#10;before contact">
            <a:extLst xmlns:a="http://schemas.openxmlformats.org/drawingml/2006/main">
              <a:ext uri="{FF2B5EF4-FFF2-40B4-BE49-F238E27FC236}">
                <a16:creationId xmlns:a16="http://schemas.microsoft.com/office/drawing/2014/main" id="{ED8EDE64-2752-428C-8736-7642C72C276C}"/>
              </a:ext>
            </a:extLst>
          </p:cNvPr>
          <p:cNvSpPr>
            <a:spLocks xmlns:a="http://schemas.openxmlformats.org/drawingml/2006/main" noGrp="1"/>
          </p:cNvSpPr>
          <p:nvPr/>
        </p:nvSpPr>
        <p:spPr>
          <a:xfrm xmlns:a="http://schemas.openxmlformats.org/drawingml/2006/main">
            <a:off x="609600" y="509587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Have staff review every profile</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before contact.</a:t>
            </a:r>
          </a:p>
        </p:txBody>
      </p:sp>
      <p:sp>
        <p:nvSpPr>
          <p:cNvPr id="13" name="Evidence for the decision">
            <a:extLst xmlns:a="http://schemas.openxmlformats.org/drawingml/2006/main">
              <a:ext uri="{FF2B5EF4-FFF2-40B4-BE49-F238E27FC236}">
                <a16:creationId xmlns:a16="http://schemas.microsoft.com/office/drawing/2014/main" id="{FF1DEA74-E86D-491B-9864-DC6B82B81BF2}"/>
              </a:ext>
            </a:extLst>
          </p:cNvPr>
          <p:cNvSpPr>
            <a:spLocks xmlns:a="http://schemas.openxmlformats.org/drawingml/2006/main" noGrp="1"/>
          </p:cNvSpPr>
          <p:nvPr/>
        </p:nvSpPr>
        <p:spPr>
          <a:xfrm xmlns:a="http://schemas.openxmlformats.org/drawingml/2006/main">
            <a:off x="6705600" y="239077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C32"/>
                </a:solidFill>
                <a:latin typeface="Arial"/>
                <a:ea typeface="Arial"/>
                <a:cs typeface="Arial"/>
              </a:defRPr>
            </a:defPPr>
            <a:lvl1pPr algn="l">
              <a:defRPr sz="2325" b="1">
                <a:solidFill>
                  <a:srgbClr val="102C32"/>
                </a:solidFill>
                <a:latin typeface="Arial"/>
                <a:ea typeface="Arial"/>
                <a:cs typeface="Arial"/>
              </a:defRPr>
            </a:lvl1pPr>
            <a:lvl2pPr algn="l">
              <a:defRPr sz="2325" b="1">
                <a:solidFill>
                  <a:srgbClr val="102C32"/>
                </a:solidFill>
                <a:latin typeface="Arial"/>
                <a:ea typeface="Arial"/>
                <a:cs typeface="Arial"/>
              </a:defRPr>
            </a:lvl2pPr>
            <a:lvl3pPr algn="l">
              <a:defRPr sz="2325" b="1">
                <a:solidFill>
                  <a:srgbClr val="102C32"/>
                </a:solidFill>
                <a:latin typeface="Arial"/>
                <a:ea typeface="Arial"/>
                <a:cs typeface="Arial"/>
              </a:defRPr>
            </a:lvl3pPr>
            <a:lvl4pPr algn="l">
              <a:defRPr sz="2325" b="1">
                <a:solidFill>
                  <a:srgbClr val="102C32"/>
                </a:solidFill>
                <a:latin typeface="Arial"/>
                <a:ea typeface="Arial"/>
                <a:cs typeface="Arial"/>
              </a:defRPr>
            </a:lvl4pPr>
            <a:lvl5pPr algn="l">
              <a:defRPr sz="2325" b="1">
                <a:solidFill>
                  <a:srgbClr val="102C32"/>
                </a:solidFill>
                <a:latin typeface="Arial"/>
                <a:ea typeface="Arial"/>
                <a:cs typeface="Arial"/>
              </a:defRPr>
            </a:lvl5pPr>
            <a:lvl6pPr algn="l">
              <a:defRPr sz="2325" b="1">
                <a:solidFill>
                  <a:srgbClr val="102C32"/>
                </a:solidFill>
                <a:latin typeface="Arial"/>
                <a:ea typeface="Arial"/>
                <a:cs typeface="Arial"/>
              </a:defRPr>
            </a:lvl6pPr>
            <a:lvl7pPr algn="l">
              <a:defRPr sz="2325" b="1">
                <a:solidFill>
                  <a:srgbClr val="102C32"/>
                </a:solidFill>
                <a:latin typeface="Arial"/>
                <a:ea typeface="Arial"/>
                <a:cs typeface="Arial"/>
              </a:defRPr>
            </a:lvl7pPr>
            <a:lvl8pPr algn="l">
              <a:defRPr sz="2325" b="1">
                <a:solidFill>
                  <a:srgbClr val="102C32"/>
                </a:solidFill>
                <a:latin typeface="Arial"/>
                <a:ea typeface="Arial"/>
                <a:cs typeface="Arial"/>
              </a:defRPr>
            </a:lvl8pPr>
            <a:lvl9pPr algn="l">
              <a:defRPr sz="2325" b="1">
                <a:solidFill>
                  <a:srgbClr val="102C32"/>
                </a:solidFill>
                <a:latin typeface="Arial"/>
                <a:ea typeface="Arial"/>
                <a:cs typeface="Arial"/>
              </a:defRPr>
            </a:lvl9pPr>
          </a:lstStyle>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Evidence for the decision</a:t>
            </a:r>
          </a:p>
        </p:txBody>
      </p:sp>
      <p:sp>
        <p:nvSpPr>
          <p:cNvPr id="14" name="Compare with the current selection&#10;at the same">
            <a:extLst xmlns:a="http://schemas.openxmlformats.org/drawingml/2006/main">
              <a:ext uri="{FF2B5EF4-FFF2-40B4-BE49-F238E27FC236}">
                <a16:creationId xmlns:a16="http://schemas.microsoft.com/office/drawing/2014/main" id="{EECAB9D3-9523-41CE-A448-C4F16D22DA96}"/>
              </a:ext>
            </a:extLst>
          </p:cNvPr>
          <p:cNvSpPr>
            <a:spLocks xmlns:a="http://schemas.openxmlformats.org/drawingml/2006/main" noGrp="1"/>
          </p:cNvSpPr>
          <p:nvPr/>
        </p:nvSpPr>
        <p:spPr>
          <a:xfrm xmlns:a="http://schemas.openxmlformats.org/drawingml/2006/main">
            <a:off x="6705600" y="29622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Compare with the current selection</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at the same review limit.</a:t>
            </a:r>
          </a:p>
        </p:txBody>
      </p:sp>
      <p:sp>
        <p:nvSpPr>
          <p:cNvPr id="15" name="Record actual contact and purchase&#10;outcomes ov">
            <a:extLst xmlns:a="http://schemas.openxmlformats.org/drawingml/2006/main">
              <a:ext uri="{FF2B5EF4-FFF2-40B4-BE49-F238E27FC236}">
                <a16:creationId xmlns:a16="http://schemas.microsoft.com/office/drawing/2014/main" id="{76447566-92A0-40E6-B639-43AA7B9867E5}"/>
              </a:ext>
            </a:extLst>
          </p:cNvPr>
          <p:cNvSpPr>
            <a:spLocks xmlns:a="http://schemas.openxmlformats.org/drawingml/2006/main" noGrp="1"/>
          </p:cNvSpPr>
          <p:nvPr/>
        </p:nvSpPr>
        <p:spPr>
          <a:xfrm xmlns:a="http://schemas.openxmlformats.org/drawingml/2006/main">
            <a:off x="6705600" y="40290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Record actual contact and purchase</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outcomes over an agreed period.</a:t>
            </a:r>
          </a:p>
        </p:txBody>
      </p:sp>
      <p:sp>
        <p:nvSpPr>
          <p:cNvPr id="16" name="Check outcomes across customer&#10;groups before e">
            <a:extLst xmlns:a="http://schemas.openxmlformats.org/drawingml/2006/main">
              <a:ext uri="{FF2B5EF4-FFF2-40B4-BE49-F238E27FC236}">
                <a16:creationId xmlns:a16="http://schemas.microsoft.com/office/drawing/2014/main" id="{4933F8AB-A93F-4691-8E7D-0EE8F2875988}"/>
              </a:ext>
            </a:extLst>
          </p:cNvPr>
          <p:cNvSpPr>
            <a:spLocks xmlns:a="http://schemas.openxmlformats.org/drawingml/2006/main" noGrp="1"/>
          </p:cNvSpPr>
          <p:nvPr/>
        </p:nvSpPr>
        <p:spPr>
          <a:xfrm xmlns:a="http://schemas.openxmlformats.org/drawingml/2006/main">
            <a:off x="6705600" y="50958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Check outcomes across customer</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groups before expanding.</a:t>
            </a:r>
          </a:p>
        </p:txBody>
      </p:sp>
    </p:spTree>
    <p:extLst>
      <p:ext uri="{BB962C8B-B14F-4D97-AF65-F5344CB8AC3E}">
        <p14:creationId xmlns:p14="http://schemas.microsoft.com/office/powerpoint/2010/main" val="14931140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7390452-C83C-4640-81EF-DFEBC870C71A}"/>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buNone/>
              <a:defRPr sz="3300" b="1">
                <a:solidFill>
                  <a:srgbClr val="102C32"/>
                </a:solidFill>
                <a:latin typeface="Arial"/>
                <a:ea typeface="Arial"/>
                <a:cs typeface="Arial"/>
              </a:defRPr>
            </a:lvl1pPr>
            <a:lvl2pPr>
              <a:buNone/>
              <a:defRPr sz="3300" b="1">
                <a:solidFill>
                  <a:srgbClr val="102C32"/>
                </a:solidFill>
                <a:latin typeface="Arial"/>
                <a:ea typeface="Arial"/>
                <a:cs typeface="Arial"/>
              </a:defRPr>
            </a:lvl2pPr>
            <a:lvl3pPr>
              <a:buNone/>
              <a:defRPr sz="3300" b="1">
                <a:solidFill>
                  <a:srgbClr val="102C32"/>
                </a:solidFill>
                <a:latin typeface="Arial"/>
                <a:ea typeface="Arial"/>
                <a:cs typeface="Arial"/>
              </a:defRPr>
            </a:lvl3pPr>
            <a:lvl4pPr>
              <a:buNone/>
              <a:defRPr sz="3300" b="1">
                <a:solidFill>
                  <a:srgbClr val="102C32"/>
                </a:solidFill>
                <a:latin typeface="Arial"/>
                <a:ea typeface="Arial"/>
                <a:cs typeface="Arial"/>
              </a:defRPr>
            </a:lvl4pPr>
            <a:lvl5pPr>
              <a:buNone/>
              <a:defRPr sz="3300" b="1">
                <a:solidFill>
                  <a:srgbClr val="102C32"/>
                </a:solidFill>
                <a:latin typeface="Arial"/>
                <a:ea typeface="Arial"/>
                <a:cs typeface="Arial"/>
              </a:defRPr>
            </a:lvl5pPr>
            <a:lvl6pPr>
              <a:buNone/>
              <a:defRPr sz="3300" b="1">
                <a:solidFill>
                  <a:srgbClr val="102C32"/>
                </a:solidFill>
                <a:latin typeface="Arial"/>
                <a:ea typeface="Arial"/>
                <a:cs typeface="Arial"/>
              </a:defRPr>
            </a:lvl6pPr>
            <a:lvl7pPr>
              <a:buNone/>
              <a:defRPr sz="3300" b="1">
                <a:solidFill>
                  <a:srgbClr val="102C32"/>
                </a:solidFill>
                <a:latin typeface="Arial"/>
                <a:ea typeface="Arial"/>
                <a:cs typeface="Arial"/>
              </a:defRPr>
            </a:lvl7pPr>
            <a:lvl8pPr>
              <a:buNone/>
              <a:defRPr sz="3300" b="1">
                <a:solidFill>
                  <a:srgbClr val="102C32"/>
                </a:solidFill>
                <a:latin typeface="Arial"/>
                <a:ea typeface="Arial"/>
                <a:cs typeface="Arial"/>
              </a:defRPr>
            </a:lvl8pPr>
            <a:lvl9pPr>
              <a:buNone/>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Discussion: conversation guides</a:t>
            </a:r>
          </a:p>
        </p:txBody>
      </p:sp>
      <p:sp>
        <p:nvSpPr>
          <p:cNvPr id="2" name="MSBA265  /  Backup">
            <a:extLst xmlns:a="http://schemas.openxmlformats.org/drawingml/2006/main">
              <a:ext uri="{FF2B5EF4-FFF2-40B4-BE49-F238E27FC236}">
                <a16:creationId xmlns:a16="http://schemas.microsoft.com/office/drawing/2014/main" id="{C3F3282B-7175-4D38-BC69-8572FDA126DD}"/>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  /  Discussion</a:t>
            </a:r>
          </a:p>
        </p:txBody>
      </p:sp>
      <p:sp>
        <p:nvSpPr>
          <p:cNvPr id="3" name="10">
            <a:extLst xmlns:a="http://schemas.openxmlformats.org/drawingml/2006/main">
              <a:ext uri="{FF2B5EF4-FFF2-40B4-BE49-F238E27FC236}">
                <a16:creationId xmlns:a16="http://schemas.microsoft.com/office/drawing/2014/main" id="{2CDECB22-04DA-4A83-B140-F7A9925D0F2C}"/>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10</a:t>
            </a:r>
          </a:p>
        </p:txBody>
      </p:sp>
      <p:graphicFrame>
        <p:nvGraphicFramePr>
          <p:cNvPr id="7" name="">
            <a:extLst xmlns:a="http://schemas.openxmlformats.org/drawingml/2006/main">
              <a:ext uri="{FF2B5EF4-FFF2-40B4-BE49-F238E27FC236}">
                <a16:creationId xmlns:a16="http://schemas.microsoft.com/office/drawing/2014/main" id="{DFD0D920-9A43-406D-B602-D9AF2C0B8DB4}"/>
              </a:ext>
            </a:extLst>
          </p:cNvPr>
          <p:cNvGraphicFramePr/>
          <p:nvPr/>
        </p:nvGraphicFramePr>
        <p:xfrm>
          <a:off xmlns:a="http://schemas.openxmlformats.org/drawingml/2006/main" x="609600" y="1562100"/>
          <a:ext xmlns:a="http://schemas.openxmlformats.org/drawingml/2006/main" cx="10972800" cy="4419600"/>
        </p:xfrm>
        <a:graphic xmlns:a="http://schemas.openxmlformats.org/drawingml/2006/main">
          <a:graphicData uri="http://schemas.openxmlformats.org/drawingml/2006/table">
            <a:tbl>
              <a:tblPr/>
              <a:tblGrid>
                <a:gridCol w="3400425"/>
                <a:gridCol w="7572375"/>
              </a:tblGrid>
              <a:tr h="609600">
                <a:tc>
                  <a:txBody>
                    <a:bodyPr/>
                    <a:lstStyle/>
                    <a:p>
                      <a:r>
                        <a:rPr sz="1950" b="1">
                          <a:solidFill>
                            <a:srgbClr val="FFFFFF"/>
                          </a:solidFill>
                          <a:latin typeface="Arial"/>
                          <a:ea typeface="Arial"/>
                          <a:cs typeface="Arial"/>
                        </a:rPr>
                        <a:t>Question</a:t>
                      </a:r>
                    </a:p>
                  </a:txBody>
                  <a:tcPr marL="133350" marR="114300" marT="114300" marB="95250" anchor="ctr">
                    <a:lnL w="9525">
                      <a:solidFill>
                        <a:srgbClr val="CEDDD9"/>
                      </a:solidFill>
                      <a:prstDash val="solid"/>
                    </a:lnL>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c>
                  <a:txBody>
                    <a:bodyPr/>
                    <a:lstStyle/>
                    <a:p>
                      <a:r>
                        <a:rPr sz="1950" b="1">
                          <a:solidFill>
                            <a:srgbClr val="FFFFFF"/>
                          </a:solidFill>
                          <a:latin typeface="Arial"/>
                          <a:ea typeface="Arial"/>
                          <a:cs typeface="Arial"/>
                        </a:rPr>
                        <a:t>Answer</a:t>
                      </a:r>
                    </a:p>
                  </a:txBody>
                  <a:tcPr marL="133350" marR="114300" marT="114300" marB="95250" anchor="ctr">
                    <a:lnR w="9525">
                      <a:solidFill>
                        <a:srgbClr val="CEDDD9"/>
                      </a:solidFill>
                      <a:prstDash val="solid"/>
                    </a:lnR>
                    <a:lnT w="9525">
                      <a:solidFill>
                        <a:srgbClr val="CEDDD9"/>
                      </a:solidFill>
                      <a:prstDash val="solid"/>
                    </a:lnT>
                    <a:lnB w="9525">
                      <a:solidFill>
                        <a:srgbClr val="CEDDD9"/>
                      </a:solidFill>
                      <a:prstDash val="solid"/>
                    </a:lnB>
                    <a:solidFill>
                      <a:srgbClr val="102C32"/>
                    </a:solidFill>
                  </a:tcPr>
                </a:tc>
              </a:tr>
              <a:tr h="0">
                <a:tc>
                  <a:txBody>
                    <a:bodyPr/>
                    <a:lstStyle/>
                    <a:p>
                      <a:r>
                        <a:rPr sz="1950" b="0">
                          <a:solidFill>
                            <a:srgbClr val="102C32"/>
                          </a:solidFill>
                          <a:latin typeface="Arial"/>
                          <a:ea typeface="Arial"/>
                          <a:cs typeface="Arial"/>
                        </a:rPr>
                        <a:t>How does the guide use a profile?</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1950" b="0">
                          <a:solidFill>
                            <a:srgbClr val="102C32"/>
                          </a:solidFill>
                          <a:latin typeface="Arial"/>
                          <a:ea typeface="Arial"/>
                          <a:cs typeface="Arial"/>
                        </a:rPr>
                        <a:t>Draft sections use recorded travel, charging, range</a:t>
                      </a:r>
                    </a:p>
                    <a:p>
                      <a:r>
                        <a:rPr sz="1950" b="0">
                          <a:solidFill>
                            <a:srgbClr val="102C32"/>
                          </a:solidFill>
                          <a:latin typeface="Arial"/>
                          <a:ea typeface="Arial"/>
                          <a:cs typeface="Arial"/>
                        </a:rPr>
                        <a:t>concerns and current vehicle. Staff confirm the details.</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1950" b="0">
                          <a:solidFill>
                            <a:srgbClr val="102C32"/>
                          </a:solidFill>
                          <a:latin typeface="Arial"/>
                          <a:ea typeface="Arial"/>
                          <a:cs typeface="Arial"/>
                        </a:rPr>
                        <a:t>Can staff edit the guide?</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1950" b="0">
                          <a:solidFill>
                            <a:srgbClr val="102C32"/>
                          </a:solidFill>
                          <a:latin typeface="Arial"/>
                          <a:ea typeface="Arial"/>
                          <a:cs typeface="Arial"/>
                        </a:rPr>
                        <a:t>The selected guide is editable. Staff verify facts and</a:t>
                      </a:r>
                    </a:p>
                    <a:p>
                      <a:r>
                        <a:rPr sz="1950" b="0">
                          <a:solidFill>
                            <a:srgbClr val="102C32"/>
                          </a:solidFill>
                          <a:latin typeface="Arial"/>
                          <a:ea typeface="Arial"/>
                          <a:cs typeface="Arial"/>
                        </a:rPr>
                        <a:t>approve any contact. The app sends no messages.</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r h="0">
                <a:tc>
                  <a:txBody>
                    <a:bodyPr/>
                    <a:lstStyle/>
                    <a:p>
                      <a:r>
                        <a:rPr sz="1950" b="0">
                          <a:solidFill>
                            <a:srgbClr val="102C32"/>
                          </a:solidFill>
                          <a:latin typeface="Arial"/>
                          <a:ea typeface="Arial"/>
                          <a:cs typeface="Arial"/>
                        </a:rPr>
                        <a:t>What can staff download?</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EEF5F2"/>
                    </a:solidFill>
                  </a:tcPr>
                </a:tc>
                <a:tc>
                  <a:txBody>
                    <a:bodyPr/>
                    <a:lstStyle/>
                    <a:p>
                      <a:r>
                        <a:rPr sz="1950" b="0">
                          <a:solidFill>
                            <a:srgbClr val="102C32"/>
                          </a:solidFill>
                          <a:latin typeface="Arial"/>
                          <a:ea typeface="Arial"/>
                          <a:cs typeface="Arial"/>
                        </a:rPr>
                        <a:t>A selected script as TXT, or guides for the current</a:t>
                      </a:r>
                    </a:p>
                    <a:p>
                      <a:r>
                        <a:rPr sz="1950" b="0">
                          <a:solidFill>
                            <a:srgbClr val="102C32"/>
                          </a:solidFill>
                          <a:latin typeface="Arial"/>
                          <a:ea typeface="Arial"/>
                          <a:cs typeface="Arial"/>
                        </a:rPr>
                        <a:t>shortlist as CSV, up to 1,000 profiles per batch.</a:t>
                      </a:r>
                    </a:p>
                  </a:txBody>
                  <a:tcPr marL="133350" marR="114300" marT="114300" marB="95250" anchor="ctr">
                    <a:lnR w="9525">
                      <a:solidFill>
                        <a:srgbClr val="CEDDD9"/>
                      </a:solidFill>
                      <a:prstDash val="solid"/>
                    </a:lnR>
                    <a:lnB w="9525">
                      <a:solidFill>
                        <a:srgbClr val="CEDDD9"/>
                      </a:solidFill>
                      <a:prstDash val="solid"/>
                    </a:lnB>
                    <a:solidFill>
                      <a:srgbClr val="EEF5F2"/>
                    </a:solidFill>
                  </a:tcPr>
                </a:tc>
              </a:tr>
              <a:tr h="0">
                <a:tc>
                  <a:txBody>
                    <a:bodyPr/>
                    <a:lstStyle/>
                    <a:p>
                      <a:r>
                        <a:rPr sz="1950" b="0">
                          <a:solidFill>
                            <a:srgbClr val="102C32"/>
                          </a:solidFill>
                          <a:latin typeface="Arial"/>
                          <a:ea typeface="Arial"/>
                          <a:cs typeface="Arial"/>
                        </a:rPr>
                        <a:t>Does this change the ranking?</a:t>
                      </a:r>
                    </a:p>
                  </a:txBody>
                  <a:tcPr marL="133350" marR="114300" marT="114300" marB="95250" anchor="ctr">
                    <a:lnL w="9525">
                      <a:solidFill>
                        <a:srgbClr val="CEDDD9"/>
                      </a:solidFill>
                      <a:prstDash val="solid"/>
                    </a:lnL>
                    <a:lnR w="9525">
                      <a:solidFill>
                        <a:srgbClr val="CEDDD9"/>
                      </a:solidFill>
                      <a:prstDash val="solid"/>
                    </a:lnR>
                    <a:lnB w="9525">
                      <a:solidFill>
                        <a:srgbClr val="CEDDD9"/>
                      </a:solidFill>
                      <a:prstDash val="solid"/>
                    </a:lnB>
                    <a:solidFill>
                      <a:srgbClr val="FFFFFF"/>
                    </a:solidFill>
                  </a:tcPr>
                </a:tc>
                <a:tc>
                  <a:txBody>
                    <a:bodyPr/>
                    <a:lstStyle/>
                    <a:p>
                      <a:r>
                        <a:rPr sz="1950" b="0">
                          <a:solidFill>
                            <a:srgbClr val="102C32"/>
                          </a:solidFill>
                          <a:latin typeface="Arial"/>
                          <a:ea typeface="Arial"/>
                          <a:cs typeface="Arial"/>
                        </a:rPr>
                        <a:t>Ranking scores stay the same. The guides support</a:t>
                      </a:r>
                    </a:p>
                    <a:p>
                      <a:r>
                        <a:rPr sz="1950" b="0">
                          <a:solidFill>
                            <a:srgbClr val="102C32"/>
                          </a:solidFill>
                          <a:latin typeface="Arial"/>
                          <a:ea typeface="Arial"/>
                          <a:cs typeface="Arial"/>
                        </a:rPr>
                        <a:t>staff preparation. Actual sales outcomes need a pilot.</a:t>
                      </a:r>
                    </a:p>
                  </a:txBody>
                  <a:tcPr marL="133350" marR="114300" marT="114300" marB="95250" anchor="ctr">
                    <a:lnR w="9525">
                      <a:solidFill>
                        <a:srgbClr val="CEDDD9"/>
                      </a:solidFill>
                      <a:prstDash val="solid"/>
                    </a:lnR>
                    <a:lnB w="9525">
                      <a:solidFill>
                        <a:srgbClr val="CEDDD9"/>
                      </a:solidFill>
                      <a:prstDash val="solid"/>
                    </a:lnB>
                    <a:solidFill>
                      <a:srgbClr val="FFFFFF"/>
                    </a:solidFill>
                  </a:tcPr>
                </a:tc>
              </a:tr>
            </a:tbl>
          </a:graphicData>
        </a:graphic>
      </p:graphicFrame>
    </p:spTree>
    <p:extLst>
      <p:ext uri="{BB962C8B-B14F-4D97-AF65-F5344CB8AC3E}">
        <p14:creationId xmlns:p14="http://schemas.microsoft.com/office/powerpoint/2010/main" val="17869924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95FCDCC-412E-4046-A7FF-E2E5BB403A4D}"/>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C32"/>
                </a:solidFill>
                <a:latin typeface="Arial"/>
                <a:ea typeface="Arial"/>
                <a:cs typeface="Arial"/>
              </a:defRPr>
            </a:defPPr>
            <a:lvl1pPr>
              <a:defRPr sz="3300" b="1">
                <a:solidFill>
                  <a:srgbClr val="102C32"/>
                </a:solidFill>
                <a:latin typeface="Arial"/>
                <a:ea typeface="Arial"/>
                <a:cs typeface="Arial"/>
              </a:defRPr>
            </a:lvl1pPr>
            <a:lvl2pPr>
              <a:defRPr sz="3300" b="1">
                <a:solidFill>
                  <a:srgbClr val="102C32"/>
                </a:solidFill>
                <a:latin typeface="Arial"/>
                <a:ea typeface="Arial"/>
                <a:cs typeface="Arial"/>
              </a:defRPr>
            </a:lvl2pPr>
            <a:lvl3pPr>
              <a:defRPr sz="3300" b="1">
                <a:solidFill>
                  <a:srgbClr val="102C32"/>
                </a:solidFill>
                <a:latin typeface="Arial"/>
                <a:ea typeface="Arial"/>
                <a:cs typeface="Arial"/>
              </a:defRPr>
            </a:lvl3pPr>
            <a:lvl4pPr>
              <a:defRPr sz="3300" b="1">
                <a:solidFill>
                  <a:srgbClr val="102C32"/>
                </a:solidFill>
                <a:latin typeface="Arial"/>
                <a:ea typeface="Arial"/>
                <a:cs typeface="Arial"/>
              </a:defRPr>
            </a:lvl4pPr>
            <a:lvl5pPr>
              <a:defRPr sz="3300" b="1">
                <a:solidFill>
                  <a:srgbClr val="102C32"/>
                </a:solidFill>
                <a:latin typeface="Arial"/>
                <a:ea typeface="Arial"/>
                <a:cs typeface="Arial"/>
              </a:defRPr>
            </a:lvl5pPr>
            <a:lvl6pPr>
              <a:defRPr sz="3300" b="1">
                <a:solidFill>
                  <a:srgbClr val="102C32"/>
                </a:solidFill>
                <a:latin typeface="Arial"/>
                <a:ea typeface="Arial"/>
                <a:cs typeface="Arial"/>
              </a:defRPr>
            </a:lvl6pPr>
            <a:lvl7pPr>
              <a:defRPr sz="3300" b="1">
                <a:solidFill>
                  <a:srgbClr val="102C32"/>
                </a:solidFill>
                <a:latin typeface="Arial"/>
                <a:ea typeface="Arial"/>
                <a:cs typeface="Arial"/>
              </a:defRPr>
            </a:lvl7pPr>
            <a:lvl8pPr>
              <a:defRPr sz="3300" b="1">
                <a:solidFill>
                  <a:srgbClr val="102C32"/>
                </a:solidFill>
                <a:latin typeface="Arial"/>
                <a:ea typeface="Arial"/>
                <a:cs typeface="Arial"/>
              </a:defRPr>
            </a:lvl8pPr>
            <a:lvl9pPr>
              <a:defRPr sz="3300" b="1">
                <a:solidFill>
                  <a:srgbClr val="102C32"/>
                </a:solidFill>
                <a:latin typeface="Arial"/>
                <a:ea typeface="Arial"/>
                <a:cs typeface="Arial"/>
              </a:defRPr>
            </a:lvl9pPr>
          </a:lstStyle>
          <a:p xmlns:a="http://schemas.openxmlformats.org/drawingml/2006/main">
            <a:pPr algn="l">
              <a:buNone/>
              <a:defRPr sz="3300" b="1">
                <a:solidFill>
                  <a:srgbClr val="102C32"/>
                </a:solidFill>
                <a:latin typeface="Arial"/>
                <a:ea typeface="Arial"/>
                <a:cs typeface="Arial"/>
              </a:defRPr>
            </a:pPr>
            <a:r>
              <a:rPr sz="3300" b="1">
                <a:solidFill>
                  <a:srgbClr val="102C32"/>
                </a:solidFill>
                <a:latin typeface="Arial"/>
                <a:ea typeface="Arial"/>
                <a:cs typeface="Arial"/>
              </a:rPr>
              <a:t>Discussion: limits and next steps</a:t>
            </a:r>
          </a:p>
        </p:txBody>
      </p:sp>
      <p:sp>
        <p:nvSpPr>
          <p:cNvPr id="2" name="MSBA265  /  Backup">
            <a:extLst xmlns:a="http://schemas.openxmlformats.org/drawingml/2006/main">
              <a:ext uri="{FF2B5EF4-FFF2-40B4-BE49-F238E27FC236}">
                <a16:creationId xmlns:a16="http://schemas.microsoft.com/office/drawing/2014/main" id="{2BB7BF09-BC0C-4556-9DF4-0DFB912E7666}"/>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496168"/>
                </a:solidFill>
                <a:latin typeface="Arial"/>
                <a:ea typeface="Arial"/>
                <a:cs typeface="Arial"/>
              </a:defRPr>
            </a:pPr>
            <a:r>
              <a:rPr sz="1275" b="0">
                <a:solidFill>
                  <a:srgbClr val="496168"/>
                </a:solidFill>
                <a:latin typeface="Arial"/>
                <a:ea typeface="Arial"/>
                <a:cs typeface="Arial"/>
              </a:rPr>
              <a:t>EV Customer Prioritization  /  Discussion</a:t>
            </a:r>
          </a:p>
        </p:txBody>
      </p:sp>
      <p:sp>
        <p:nvSpPr>
          <p:cNvPr id="3" name="11">
            <a:extLst xmlns:a="http://schemas.openxmlformats.org/drawingml/2006/main">
              <a:ext uri="{FF2B5EF4-FFF2-40B4-BE49-F238E27FC236}">
                <a16:creationId xmlns:a16="http://schemas.microsoft.com/office/drawing/2014/main" id="{37AE8328-31AC-44AC-BB96-61377EA0C4E9}"/>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496168"/>
                </a:solidFill>
                <a:latin typeface="Arial"/>
                <a:ea typeface="Arial"/>
                <a:cs typeface="Arial"/>
              </a:defRPr>
            </a:pPr>
            <a:r>
              <a:rPr sz="1350" b="0">
                <a:solidFill>
                  <a:srgbClr val="496168"/>
                </a:solidFill>
                <a:latin typeface="Arial"/>
                <a:ea typeface="Arial"/>
                <a:cs typeface="Arial"/>
              </a:rPr>
              <a:t>11</a:t>
            </a:r>
          </a:p>
        </p:txBody>
      </p:sp>
      <p:sp>
        <p:nvSpPr>
          <p:cNvPr id="9" name="Known limits">
            <a:extLst xmlns:a="http://schemas.openxmlformats.org/drawingml/2006/main">
              <a:ext uri="{FF2B5EF4-FFF2-40B4-BE49-F238E27FC236}">
                <a16:creationId xmlns:a16="http://schemas.microsoft.com/office/drawing/2014/main" id="{06877CFD-D40E-460C-9B97-5DBA7FACE920}"/>
              </a:ext>
            </a:extLst>
          </p:cNvPr>
          <p:cNvSpPr>
            <a:spLocks xmlns:a="http://schemas.openxmlformats.org/drawingml/2006/main" noGrp="1"/>
          </p:cNvSpPr>
          <p:nvPr/>
        </p:nvSpPr>
        <p:spPr>
          <a:xfrm xmlns:a="http://schemas.openxmlformats.org/drawingml/2006/main">
            <a:off x="609600" y="16192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Known limits</a:t>
            </a:r>
          </a:p>
        </p:txBody>
      </p:sp>
      <p:sp>
        <p:nvSpPr>
          <p:cNvPr id="10" name="Synthetic data and unverified&#10;purchase timing&#10;">
            <a:extLst xmlns:a="http://schemas.openxmlformats.org/drawingml/2006/main">
              <a:ext uri="{FF2B5EF4-FFF2-40B4-BE49-F238E27FC236}">
                <a16:creationId xmlns:a16="http://schemas.microsoft.com/office/drawing/2014/main" id="{E8408F5F-1461-49F3-8736-6E95B888140F}"/>
              </a:ext>
            </a:extLst>
          </p:cNvPr>
          <p:cNvSpPr>
            <a:spLocks xmlns:a="http://schemas.openxmlformats.org/drawingml/2006/main" noGrp="1"/>
          </p:cNvSpPr>
          <p:nvPr/>
        </p:nvSpPr>
        <p:spPr>
          <a:xfrm xmlns:a="http://schemas.openxmlformats.org/drawingml/2006/main">
            <a:off x="609600" y="2238375"/>
            <a:ext cx="523875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Synthetic data and unverified</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purchase timing</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No company sales outcomes</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Fairness and real-world usefulness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remain untested</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Some field definitions are unclear</a:t>
            </a:r>
          </a:p>
        </p:txBody>
      </p:sp>
      <p:sp>
        <p:nvSpPr>
          <p:cNvPr id="11" name="Planned before wider use">
            <a:extLst xmlns:a="http://schemas.openxmlformats.org/drawingml/2006/main">
              <a:ext uri="{FF2B5EF4-FFF2-40B4-BE49-F238E27FC236}">
                <a16:creationId xmlns:a16="http://schemas.microsoft.com/office/drawing/2014/main" id="{44779E0C-7CAB-4E8C-9931-1A5CB13B8C46}"/>
              </a:ext>
            </a:extLst>
          </p:cNvPr>
          <p:cNvSpPr>
            <a:spLocks xmlns:a="http://schemas.openxmlformats.org/drawingml/2006/main" noGrp="1"/>
          </p:cNvSpPr>
          <p:nvPr/>
        </p:nvSpPr>
        <p:spPr>
          <a:xfrm xmlns:a="http://schemas.openxmlformats.org/drawingml/2006/main">
            <a:off x="6705600" y="161925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866C"/>
                </a:solidFill>
                <a:latin typeface="Arial"/>
                <a:ea typeface="Arial"/>
                <a:cs typeface="Arial"/>
              </a:defRPr>
            </a:defPPr>
            <a:lvl1pPr algn="l">
              <a:defRPr sz="2325" b="1">
                <a:solidFill>
                  <a:srgbClr val="15866C"/>
                </a:solidFill>
                <a:latin typeface="Arial"/>
                <a:ea typeface="Arial"/>
                <a:cs typeface="Arial"/>
              </a:defRPr>
            </a:lvl1pPr>
            <a:lvl2pPr algn="l">
              <a:defRPr sz="2325" b="1">
                <a:solidFill>
                  <a:srgbClr val="15866C"/>
                </a:solidFill>
                <a:latin typeface="Arial"/>
                <a:ea typeface="Arial"/>
                <a:cs typeface="Arial"/>
              </a:defRPr>
            </a:lvl2pPr>
            <a:lvl3pPr algn="l">
              <a:defRPr sz="2325" b="1">
                <a:solidFill>
                  <a:srgbClr val="15866C"/>
                </a:solidFill>
                <a:latin typeface="Arial"/>
                <a:ea typeface="Arial"/>
                <a:cs typeface="Arial"/>
              </a:defRPr>
            </a:lvl3pPr>
            <a:lvl4pPr algn="l">
              <a:defRPr sz="2325" b="1">
                <a:solidFill>
                  <a:srgbClr val="15866C"/>
                </a:solidFill>
                <a:latin typeface="Arial"/>
                <a:ea typeface="Arial"/>
                <a:cs typeface="Arial"/>
              </a:defRPr>
            </a:lvl4pPr>
            <a:lvl5pPr algn="l">
              <a:defRPr sz="2325" b="1">
                <a:solidFill>
                  <a:srgbClr val="15866C"/>
                </a:solidFill>
                <a:latin typeface="Arial"/>
                <a:ea typeface="Arial"/>
                <a:cs typeface="Arial"/>
              </a:defRPr>
            </a:lvl5pPr>
            <a:lvl6pPr algn="l">
              <a:defRPr sz="2325" b="1">
                <a:solidFill>
                  <a:srgbClr val="15866C"/>
                </a:solidFill>
                <a:latin typeface="Arial"/>
                <a:ea typeface="Arial"/>
                <a:cs typeface="Arial"/>
              </a:defRPr>
            </a:lvl6pPr>
            <a:lvl7pPr algn="l">
              <a:defRPr sz="2325" b="1">
                <a:solidFill>
                  <a:srgbClr val="15866C"/>
                </a:solidFill>
                <a:latin typeface="Arial"/>
                <a:ea typeface="Arial"/>
                <a:cs typeface="Arial"/>
              </a:defRPr>
            </a:lvl7pPr>
            <a:lvl8pPr algn="l">
              <a:defRPr sz="2325" b="1">
                <a:solidFill>
                  <a:srgbClr val="15866C"/>
                </a:solidFill>
                <a:latin typeface="Arial"/>
                <a:ea typeface="Arial"/>
                <a:cs typeface="Arial"/>
              </a:defRPr>
            </a:lvl8pPr>
            <a:lvl9pPr algn="l">
              <a:defRPr sz="2325" b="1">
                <a:solidFill>
                  <a:srgbClr val="15866C"/>
                </a:solidFill>
                <a:latin typeface="Arial"/>
                <a:ea typeface="Arial"/>
                <a:cs typeface="Arial"/>
              </a:defRPr>
            </a:lvl9pPr>
          </a:lstStyle>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Planned before wider use</a:t>
            </a:r>
          </a:p>
        </p:txBody>
      </p:sp>
      <p:sp>
        <p:nvSpPr>
          <p:cNvPr id="12" name="Validate with approved real profiles&#10;and measu">
            <a:extLst xmlns:a="http://schemas.openxmlformats.org/drawingml/2006/main">
              <a:ext uri="{FF2B5EF4-FFF2-40B4-BE49-F238E27FC236}">
                <a16:creationId xmlns:a16="http://schemas.microsoft.com/office/drawing/2014/main" id="{DCC13963-6C9A-43CC-A764-61C5F5B0C705}"/>
              </a:ext>
            </a:extLst>
          </p:cNvPr>
          <p:cNvSpPr>
            <a:spLocks xmlns:a="http://schemas.openxmlformats.org/drawingml/2006/main" noGrp="1"/>
          </p:cNvSpPr>
          <p:nvPr/>
        </p:nvSpPr>
        <p:spPr>
          <a:xfrm xmlns:a="http://schemas.openxmlformats.org/drawingml/2006/main">
            <a:off x="6705600" y="2238375"/>
            <a:ext cx="485775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C32"/>
                </a:solidFill>
                <a:latin typeface="Arial"/>
                <a:ea typeface="Arial"/>
                <a:cs typeface="Arial"/>
              </a:defRPr>
            </a:defPPr>
            <a:lvl1pPr algn="l">
              <a:defRPr sz="2100" b="0">
                <a:solidFill>
                  <a:srgbClr val="102C32"/>
                </a:solidFill>
                <a:latin typeface="Arial"/>
                <a:ea typeface="Arial"/>
                <a:cs typeface="Arial"/>
              </a:defRPr>
            </a:lvl1pPr>
            <a:lvl2pPr algn="l">
              <a:defRPr sz="2100" b="0">
                <a:solidFill>
                  <a:srgbClr val="102C32"/>
                </a:solidFill>
                <a:latin typeface="Arial"/>
                <a:ea typeface="Arial"/>
                <a:cs typeface="Arial"/>
              </a:defRPr>
            </a:lvl2pPr>
            <a:lvl3pPr algn="l">
              <a:defRPr sz="2100" b="0">
                <a:solidFill>
                  <a:srgbClr val="102C32"/>
                </a:solidFill>
                <a:latin typeface="Arial"/>
                <a:ea typeface="Arial"/>
                <a:cs typeface="Arial"/>
              </a:defRPr>
            </a:lvl3pPr>
            <a:lvl4pPr algn="l">
              <a:defRPr sz="2100" b="0">
                <a:solidFill>
                  <a:srgbClr val="102C32"/>
                </a:solidFill>
                <a:latin typeface="Arial"/>
                <a:ea typeface="Arial"/>
                <a:cs typeface="Arial"/>
              </a:defRPr>
            </a:lvl4pPr>
            <a:lvl5pPr algn="l">
              <a:defRPr sz="2100" b="0">
                <a:solidFill>
                  <a:srgbClr val="102C32"/>
                </a:solidFill>
                <a:latin typeface="Arial"/>
                <a:ea typeface="Arial"/>
                <a:cs typeface="Arial"/>
              </a:defRPr>
            </a:lvl5pPr>
            <a:lvl6pPr algn="l">
              <a:defRPr sz="2100" b="0">
                <a:solidFill>
                  <a:srgbClr val="102C32"/>
                </a:solidFill>
                <a:latin typeface="Arial"/>
                <a:ea typeface="Arial"/>
                <a:cs typeface="Arial"/>
              </a:defRPr>
            </a:lvl6pPr>
            <a:lvl7pPr algn="l">
              <a:defRPr sz="2100" b="0">
                <a:solidFill>
                  <a:srgbClr val="102C32"/>
                </a:solidFill>
                <a:latin typeface="Arial"/>
                <a:ea typeface="Arial"/>
                <a:cs typeface="Arial"/>
              </a:defRPr>
            </a:lvl7pPr>
            <a:lvl8pPr algn="l">
              <a:defRPr sz="2100" b="0">
                <a:solidFill>
                  <a:srgbClr val="102C32"/>
                </a:solidFill>
                <a:latin typeface="Arial"/>
                <a:ea typeface="Arial"/>
                <a:cs typeface="Arial"/>
              </a:defRPr>
            </a:lvl8pPr>
            <a:lvl9pPr algn="l">
              <a:defRPr sz="2100" b="0">
                <a:solidFill>
                  <a:srgbClr val="102C32"/>
                </a:solidFill>
                <a:latin typeface="Arial"/>
                <a:ea typeface="Arial"/>
                <a:cs typeface="Arial"/>
              </a:defRPr>
            </a:lvl9pPr>
          </a:lstStyle>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Validate with approved real profiles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and measured business outcomes</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Connect scoring to company systems</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Package the tool for repeatable setup</a:t>
            </a:r>
          </a:p>
          <a:p xmlns:a="http://schemas.openxmlformats.org/drawingml/2006/main">
            <a:r>
              <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Monitor input quality and failures</a:t>
            </a:r>
          </a:p>
        </p:txBody>
      </p:sp>
      <p:sp>
        <p:nvSpPr>
          <p:cNvPr id="13" name="Decision today: agree a reviewed pilot and mea">
            <a:extLst xmlns:a="http://schemas.openxmlformats.org/drawingml/2006/main">
              <a:ext uri="{FF2B5EF4-FFF2-40B4-BE49-F238E27FC236}">
                <a16:creationId xmlns:a16="http://schemas.microsoft.com/office/drawing/2014/main" id="{ABB7A40A-9076-4513-B2A1-E00009C7F809}"/>
              </a:ext>
            </a:extLst>
          </p:cNvPr>
          <p:cNvSpPr>
            <a:spLocks xmlns:a="http://schemas.openxmlformats.org/drawingml/2006/main" noGrp="1"/>
          </p:cNvSpPr>
          <p:nvPr/>
        </p:nvSpPr>
        <p:spPr>
          <a:xfrm xmlns:a="http://schemas.openxmlformats.org/drawingml/2006/main">
            <a:off x="609600" y="57245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C32"/>
                </a:solidFill>
                <a:latin typeface="Arial"/>
                <a:ea typeface="Arial"/>
                <a:cs typeface="Arial"/>
              </a:defRPr>
            </a:defPPr>
            <a:lvl1pPr algn="l">
              <a:defRPr sz="2175" b="1">
                <a:solidFill>
                  <a:srgbClr val="102C32"/>
                </a:solidFill>
                <a:latin typeface="Arial"/>
                <a:ea typeface="Arial"/>
                <a:cs typeface="Arial"/>
              </a:defRPr>
            </a:lvl1pPr>
            <a:lvl2pPr algn="l">
              <a:defRPr sz="2175" b="1">
                <a:solidFill>
                  <a:srgbClr val="102C32"/>
                </a:solidFill>
                <a:latin typeface="Arial"/>
                <a:ea typeface="Arial"/>
                <a:cs typeface="Arial"/>
              </a:defRPr>
            </a:lvl2pPr>
            <a:lvl3pPr algn="l">
              <a:defRPr sz="2175" b="1">
                <a:solidFill>
                  <a:srgbClr val="102C32"/>
                </a:solidFill>
                <a:latin typeface="Arial"/>
                <a:ea typeface="Arial"/>
                <a:cs typeface="Arial"/>
              </a:defRPr>
            </a:lvl3pPr>
            <a:lvl4pPr algn="l">
              <a:defRPr sz="2175" b="1">
                <a:solidFill>
                  <a:srgbClr val="102C32"/>
                </a:solidFill>
                <a:latin typeface="Arial"/>
                <a:ea typeface="Arial"/>
                <a:cs typeface="Arial"/>
              </a:defRPr>
            </a:lvl4pPr>
            <a:lvl5pPr algn="l">
              <a:defRPr sz="2175" b="1">
                <a:solidFill>
                  <a:srgbClr val="102C32"/>
                </a:solidFill>
                <a:latin typeface="Arial"/>
                <a:ea typeface="Arial"/>
                <a:cs typeface="Arial"/>
              </a:defRPr>
            </a:lvl5pPr>
            <a:lvl6pPr algn="l">
              <a:defRPr sz="2175" b="1">
                <a:solidFill>
                  <a:srgbClr val="102C32"/>
                </a:solidFill>
                <a:latin typeface="Arial"/>
                <a:ea typeface="Arial"/>
                <a:cs typeface="Arial"/>
              </a:defRPr>
            </a:lvl6pPr>
            <a:lvl7pPr algn="l">
              <a:defRPr sz="2175" b="1">
                <a:solidFill>
                  <a:srgbClr val="102C32"/>
                </a:solidFill>
                <a:latin typeface="Arial"/>
                <a:ea typeface="Arial"/>
                <a:cs typeface="Arial"/>
              </a:defRPr>
            </a:lvl7pPr>
            <a:lvl8pPr algn="l">
              <a:defRPr sz="2175" b="1">
                <a:solidFill>
                  <a:srgbClr val="102C32"/>
                </a:solidFill>
                <a:latin typeface="Arial"/>
                <a:ea typeface="Arial"/>
                <a:cs typeface="Arial"/>
              </a:defRPr>
            </a:lvl8pPr>
            <a:lvl9pPr algn="l">
              <a:defRPr sz="2175" b="1">
                <a:solidFill>
                  <a:srgbClr val="102C32"/>
                </a:solidFill>
                <a:latin typeface="Arial"/>
                <a:ea typeface="Arial"/>
                <a:cs typeface="Arial"/>
              </a:defRPr>
            </a:lvl9pPr>
          </a:lstStyle>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Decision today: agree a reviewed pilot and measures of success</a:t>
            </a:r>
          </a:p>
        </p:txBody>
      </p:sp>
    </p:spTree>
    <p:extLst>
      <p:ext uri="{BB962C8B-B14F-4D97-AF65-F5344CB8AC3E}">
        <p14:creationId xmlns:p14="http://schemas.microsoft.com/office/powerpoint/2010/main" val="1737055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2026-10-27T22:31:35.8910000Z</dcterms:created>
  <dcterms:modified xsi:type="dcterms:W3CDTF">2026-10-27T22:31:35.8910000Z</dcterms:modified>
</coreProperties>
</file>