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25fe87c2fe4527" /><Relationship Type="http://schemas.openxmlformats.org/officeDocument/2006/relationships/extended-properties" Target="/docProps/app.xml" Id="Rf3cd3ea5d39248c4" /><Relationship Type="http://schemas.openxmlformats.org/officeDocument/2006/relationships/officeDocument" Target="/ppt/presentation.xml" Id="Raa367d445e834fad" /></Relationships>
</file>

<file path=ppt/presentation.xml><?xml version="1.0" encoding="utf-8"?>
<p:presentation xmlns:p="http://schemas.openxmlformats.org/presentationml/2006/main">
  <p:sldMasterIdLst>
    <p:sldMasterId xmlns:r="http://schemas.openxmlformats.org/officeDocument/2006/relationships" id="2147483648" r:id="Rdb70e4f1775b4cad"/>
  </p:sldMasterIdLst>
  <p:notesMasterIdLst>
    <p:notesMasterId xmlns:r="http://schemas.openxmlformats.org/officeDocument/2006/relationships" r:id="R5335a68a199b4958"/>
  </p:notesMasterIdLst>
  <p:sldIdLst>
    <p:sldId xmlns:r="http://schemas.openxmlformats.org/officeDocument/2006/relationships" id="256" r:id="R9ef0f996b8ea4673"/>
    <p:sldId xmlns:r="http://schemas.openxmlformats.org/officeDocument/2006/relationships" id="257" r:id="R1cee56f7b2f2401e"/>
    <p:sldId xmlns:r="http://schemas.openxmlformats.org/officeDocument/2006/relationships" id="258" r:id="R6eae6b422bcb4de9"/>
    <p:sldId xmlns:r="http://schemas.openxmlformats.org/officeDocument/2006/relationships" id="259" r:id="R2b1ae0eeae754982"/>
    <p:sldId xmlns:r="http://schemas.openxmlformats.org/officeDocument/2006/relationships" id="260" r:id="R0f5f438dfbb9490f"/>
    <p:sldId xmlns:r="http://schemas.openxmlformats.org/officeDocument/2006/relationships" id="261" r:id="R00df7edbb8904aa9"/>
    <p:sldId xmlns:r="http://schemas.openxmlformats.org/officeDocument/2006/relationships" id="262" r:id="Rba4d6c2e25104712"/>
    <p:sldId xmlns:r="http://schemas.openxmlformats.org/officeDocument/2006/relationships" id="263" r:id="R702fd5c7bba44d92"/>
    <p:sldId xmlns:r="http://schemas.openxmlformats.org/officeDocument/2006/relationships" id="264" r:id="R2916523ec99d4755"/>
    <p:sldId xmlns:r="http://schemas.openxmlformats.org/officeDocument/2006/relationships" id="265" r:id="Reb6de26eb68742ae"/>
    <p:sldId xmlns:r="http://schemas.openxmlformats.org/officeDocument/2006/relationships" id="266" r:id="R6c221c32c5ad4f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a4a6068f42445e" /><Relationship Type="http://schemas.openxmlformats.org/officeDocument/2006/relationships/slideMaster" Target="/ppt/slideMasters/slideMaster1.xml" Id="Rdb70e4f1775b4cad" /><Relationship Type="http://schemas.openxmlformats.org/officeDocument/2006/relationships/notesMaster" Target="/ppt/notesMasters/notesMaster1.xml" Id="R5335a68a199b4958" /><Relationship Type="http://schemas.openxmlformats.org/officeDocument/2006/relationships/presProps" Target="/ppt/presProps.xml" Id="Rf54a9dc23e104251" /><Relationship Type="http://schemas.openxmlformats.org/officeDocument/2006/relationships/tableStyles" Target="/ppt/tableStyles.xml" Id="R90f82f763e004c1b" /><Relationship Type="http://schemas.openxmlformats.org/officeDocument/2006/relationships/slide" Target="/ppt/slides/slide1.xml" Id="R9ef0f996b8ea4673" /><Relationship Type="http://schemas.openxmlformats.org/officeDocument/2006/relationships/slide" Target="/ppt/slides/slide2.xml" Id="R1cee56f7b2f2401e" /><Relationship Type="http://schemas.openxmlformats.org/officeDocument/2006/relationships/slide" Target="/ppt/slides/slide3.xml" Id="R6eae6b422bcb4de9" /><Relationship Type="http://schemas.openxmlformats.org/officeDocument/2006/relationships/slide" Target="/ppt/slides/slide4.xml" Id="R2b1ae0eeae754982" /><Relationship Type="http://schemas.openxmlformats.org/officeDocument/2006/relationships/slide" Target="/ppt/slides/slide5.xml" Id="R0f5f438dfbb9490f" /><Relationship Type="http://schemas.openxmlformats.org/officeDocument/2006/relationships/slide" Target="/ppt/slides/slide6.xml" Id="R00df7edbb8904aa9" /><Relationship Type="http://schemas.openxmlformats.org/officeDocument/2006/relationships/slide" Target="/ppt/slides/slide7.xml" Id="Rba4d6c2e25104712" /><Relationship Type="http://schemas.openxmlformats.org/officeDocument/2006/relationships/slide" Target="/ppt/slides/slide8.xml" Id="R702fd5c7bba44d92" /><Relationship Type="http://schemas.openxmlformats.org/officeDocument/2006/relationships/slide" Target="/ppt/slides/slide9.xml" Id="R2916523ec99d4755" /><Relationship Type="http://schemas.openxmlformats.org/officeDocument/2006/relationships/slide" Target="/ppt/slides/slide10.xml" Id="Reb6de26eb68742ae" /><Relationship Type="http://schemas.openxmlformats.org/officeDocument/2006/relationships/slide" Target="/ppt/slides/slide11.xml" Id="R6c221c32c5ad4f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3667d6a2e2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3d03682e614e0e" /><Relationship Type="http://schemas.openxmlformats.org/officeDocument/2006/relationships/notesMaster" Target="/ppt/notesMasters/notesMaster1.xml" Id="Rcc0be26c62df4a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1c2c20330b4493" /><Relationship Type="http://schemas.openxmlformats.org/officeDocument/2006/relationships/notesMaster" Target="/ppt/notesMasters/notesMaster1.xml" Id="R0580b28b12d141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a23667cc6b41f7" /><Relationship Type="http://schemas.openxmlformats.org/officeDocument/2006/relationships/notesMaster" Target="/ppt/notesMasters/notesMaster1.xml" Id="R56d15b4bc44d45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d7e26c13bc4203" /><Relationship Type="http://schemas.openxmlformats.org/officeDocument/2006/relationships/notesMaster" Target="/ppt/notesMasters/notesMaster1.xml" Id="R32f99691e1c045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c85ec00a0d4336" /><Relationship Type="http://schemas.openxmlformats.org/officeDocument/2006/relationships/notesMaster" Target="/ppt/notesMasters/notesMaster1.xml" Id="R4985ef229574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ec42bb5248496d" /><Relationship Type="http://schemas.openxmlformats.org/officeDocument/2006/relationships/notesMaster" Target="/ppt/notesMasters/notesMaster1.xml" Id="R34f9bc826c8745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3a556d1e3a486c" /><Relationship Type="http://schemas.openxmlformats.org/officeDocument/2006/relationships/notesMaster" Target="/ppt/notesMasters/notesMaster1.xml" Id="R8db4a02981644f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59cf9085af42b5" /><Relationship Type="http://schemas.openxmlformats.org/officeDocument/2006/relationships/notesMaster" Target="/ppt/notesMasters/notesMaster1.xml" Id="R550ef65aa5ae4f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1a5cf6e9e3455a" /><Relationship Type="http://schemas.openxmlformats.org/officeDocument/2006/relationships/notesMaster" Target="/ppt/notesMasters/notesMaster1.xml" Id="Ra9ed87c7df514d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a9aa47a5f4a83" /><Relationship Type="http://schemas.openxmlformats.org/officeDocument/2006/relationships/notesMaster" Target="/ppt/notesMasters/notesMaster1.xml" Id="R25ce96490f9248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b8427a62e142a6" /><Relationship Type="http://schemas.openxmlformats.org/officeDocument/2006/relationships/notesMaster" Target="/ppt/notesMasters/notesMaster1.xml" Id="Rdedda4e9ed5d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helps a manager decide which profiles to review first when contact capacity is limited. It ranks the supplied synthetic profiles and keeps the final decision with the manager. This demonstration shows the working tool, the evaluation evidence and a proposed pilot.</a:t>
            </a:r>
          </a:p>
          <a:p xmlns:a="http://schemas.openxmlformats.org/drawingml/2006/main">
            <a:r>
              <a:t/>
            </a:r>
          </a:p>
          <a:p xmlns:a="http://schemas.openxmlformats.org/drawingml/2006/main">
            <a:r>
              <a:t>Sources</a:t>
            </a:r>
          </a:p>
          <a:p xmlns:a="http://schemas.openxmlformats.org/drawingml/2006/main">
            <a:r>
              <a:t>docs/reports/modeling/holdout_ranking.csv</a:t>
            </a:r>
          </a:p>
          <a:p xmlns:a="http://schemas.openxmlformats.org/drawingml/2006/main">
            <a:r>
              <a:t>app.py</a:t>
            </a:r>
          </a:p>
          <a:p xmlns:a="http://schemas.openxmlformats.org/drawingml/2006/main">
            <a:r>
              <a:t>Cover artwork retained from the original proposal. AI-generated illustrative artwork, not a verified dealership, customer or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 50 is an illustration of a manager’s capacity, not an observed outreach result. A manager can change this limit in the tool. The product returns ranked profile IDs and recorded fields so staff can review the shortlist before deciding whether contact is appropriate.</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ev_project/scoring.py</a:t>
            </a:r>
          </a:p>
          <a:p xmlns:a="http://schemas.openxmlformats.org/drawingml/2006/main">
            <a:r>
              <a:t>Illustrative business scenario. No measured contact or sales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approved dataset has 668,665 labeled synthetic profiles and 286,571 profiles without labels. Thirteen recorded profile fields support ranking. ID stays outside the model inputs and links the output back to each record. The supplied label is Will_Buy_EV, with Yes and No values. The dataset does not establish actual purchases, the purchase timing, personal preferences or affordability. Recorded demographics are context rather than proof of a customer’s needs.</a:t>
            </a:r>
          </a:p>
          <a:p xmlns:a="http://schemas.openxmlformats.org/drawingml/2006/main">
            <a:r>
              <a:t/>
            </a:r>
          </a:p>
          <a:p xmlns:a="http://schemas.openxmlformats.org/drawingml/2006/main">
            <a:r>
              <a:t>Sources</a:t>
            </a:r>
          </a:p>
          <a:p xmlns:a="http://schemas.openxmlformats.org/drawingml/2006/main">
            <a:r>
              <a:t>https://www.kaggle.com/competitions/playground-series-s6e9</a:t>
            </a:r>
          </a:p>
          <a:p xmlns:a="http://schemas.openxmlformats.org/drawingml/2006/main">
            <a:r>
              <a:t>docs/reports/tables/file_summary.csv</a:t>
            </a:r>
          </a:p>
          <a:p xmlns:a="http://schemas.openxmlformats.org/drawingml/2006/main">
            <a:r>
              <a:t>docs/reports/tables/data_dictionary.csv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supports a CSV upload, a chosen list size, ranked results, recorded profile details and CSV downloads. Input checks provide feedback on missing fields and unsupported values. The score estimates the supplied synthetic Yes label. Staff should confirm the recorded information and decide whether contact is appropriate.</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ev_project/scoring.py</a:t>
            </a:r>
          </a:p>
          <a:p xmlns:a="http://schemas.openxmlformats.org/drawingml/2006/main">
            <a:r>
              <a:t>ev_project/customer_details.py</a:t>
            </a:r>
          </a:p>
          <a:p xmlns:a="http://schemas.openxmlformats.org/drawingml/2006/main">
            <a:r>
              <a:t>data/demo/customer_profiles_template.csv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existing capture of the working prototype, showing a synthetic profile. It displays the customer ID, recorded fields and prompts that help staff confirm the context. A recorded demographic or income value does not establish preference, affordability or a suitable vehicle. The current app source provides the implementation details.</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ev_project/customer_details.py</a:t>
            </a:r>
          </a:p>
          <a:p xmlns:a="http://schemas.openxmlformats.org/drawingml/2006/main">
            <a:r>
              <a:t>Existing real prototype screenshot: work/customer_profile_enhancement/customer_card.jpg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ranking selected the top 10,030 of 100,300 held-out synthetic profiles. Of those selected, 78.783649% have a supplied Yes label. The overall evaluation sample has a 17.464606% Yes rate. Their ratio is 4.511046. The chart stores these two rates rounded to twelve decimal places and displays whole percentages. These figures measure the concentration of labels in this evaluation sample. They do not measure contact success, sales conversion or expected revenue. The model selection used a separate validation sample and excluded this holdout from fitting.</a:t>
            </a:r>
          </a:p>
          <a:p xmlns:a="http://schemas.openxmlformats.org/drawingml/2006/main">
            <a:r>
              <a:t/>
            </a:r>
          </a:p>
          <a:p xmlns:a="http://schemas.openxmlformats.org/drawingml/2006/main">
            <a:r>
              <a:t>Sources</a:t>
            </a:r>
          </a:p>
          <a:p xmlns:a="http://schemas.openxmlformats.org/drawingml/2006/main">
            <a:r>
              <a:t>docs/reports/modeling/holdout_ranking.csv</a:t>
            </a:r>
          </a:p>
          <a:p xmlns:a="http://schemas.openxmlformats.org/drawingml/2006/main">
            <a:r>
              <a:t>docs/reports/modeling/holdout_metrics.csv</a:t>
            </a:r>
          </a:p>
          <a:p xmlns:a="http://schemas.openxmlformats.org/drawingml/2006/main">
            <a:r>
              <a:t>docs/reports/modeling/methodology.json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choices use the same 100,300 held-out synthetic profiles. At 1%, 5%, 10% and 20% capacity, the selected counts are 1,003, 5,015, 10,030 and 20,060. The Yes-label shares are 90.129611%, 84.666002%, 78.783649% and 66.186441%. The shares of all Yes profiles captured are 5.160701%, 24.239310%, 45.110464% and 75.794942%. The slide rounds these percentages to whole numbers. A company can choose capacity based on staff time and the cost of review. No outreach outcome is implied.</a:t>
            </a:r>
          </a:p>
          <a:p xmlns:a="http://schemas.openxmlformats.org/drawingml/2006/main">
            <a:r>
              <a:t/>
            </a:r>
          </a:p>
          <a:p xmlns:a="http://schemas.openxmlformats.org/drawingml/2006/main">
            <a:r>
              <a:t>Sources</a:t>
            </a:r>
          </a:p>
          <a:p xmlns:a="http://schemas.openxmlformats.org/drawingml/2006/main">
            <a:r>
              <a:t>docs/reports/modeling/holdout_ranking.csv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uses native editable flowchart symbols and attached directional connectors. The working technical flow includes profile data, checks, learning from the labeled data, evaluation, scoring and a manager’s review. CSV export supports the handoff for review. Contacting customers and capturing actual outcomes are planned pilot activities. The dashed return arrow shows that planned feedback would support future data checks and review before updates. Staff should review any updates based on that feedback before wider use.</a:t>
            </a:r>
          </a:p>
          <a:p xmlns:a="http://schemas.openxmlformats.org/drawingml/2006/main">
            <a:r>
              <a:t/>
            </a:r>
          </a:p>
          <a:p xmlns:a="http://schemas.openxmlformats.org/drawingml/2006/main">
            <a:r>
              <a:t>Sources</a:t>
            </a:r>
          </a:p>
          <a:p xmlns:a="http://schemas.openxmlformats.org/drawingml/2006/main">
            <a:r>
              <a:t>ev_project/run_eda.py</a:t>
            </a:r>
          </a:p>
          <a:p xmlns:a="http://schemas.openxmlformats.org/drawingml/2006/main">
            <a:r>
              <a:t>ev_project/modeling.py</a:t>
            </a:r>
          </a:p>
          <a:p xmlns:a="http://schemas.openxmlformats.org/drawingml/2006/main">
            <a:r>
              <a:t>ev_project/scoring.py</a:t>
            </a:r>
          </a:p>
          <a:p xmlns:a="http://schemas.openxmlformats.org/drawingml/2006/main">
            <a:r>
              <a:t>app.py</a:t>
            </a:r>
          </a:p>
          <a:p xmlns:a="http://schemas.openxmlformats.org/drawingml/2006/main">
            <a:r>
              <a:t>docs/reports/modeling/methodology.json</a:t>
            </a:r>
          </a:p>
          <a:p xmlns:a="http://schemas.openxmlformats.org/drawingml/2006/main">
            <a:r>
              <a:t>Planned business pilot. Contact and feedback are not implemented as an operational campaign.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reviewed pilot is the proposed next business step. The company should agree the review limit, suitable permissions, a comparison with its current process, the observation period and measures of success before contacting anyone. Staff should confirm the profile information. Real outcomes and subgroup checks are needed before deciding whether the tool should support broader use.</a:t>
            </a:r>
          </a:p>
          <a:p xmlns:a="http://schemas.openxmlformats.org/drawingml/2006/main">
            <a:r>
              <a:t/>
            </a:r>
          </a:p>
          <a:p xmlns:a="http://schemas.openxmlformats.org/drawingml/2006/main">
            <a:r>
              <a:t>Sources</a:t>
            </a:r>
          </a:p>
          <a:p xmlns:a="http://schemas.openxmlformats.org/drawingml/2006/main">
            <a:r>
              <a:t>Project recommendation informed by docs/reports/modeling/holdout_ranking.csv</a:t>
            </a:r>
          </a:p>
          <a:p xmlns:a="http://schemas.openxmlformats.org/drawingml/2006/main">
            <a:r>
              <a:t>No operational pilot, conversion uplift or external validation has yet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accepts a CSV with the required schema. The demonstration template shows the exact column names and example categories. The output includes IDs, scores and recorded fields for review. This dataset does not supply names or contact details. The manager retains approval of any contact list. A score is an estimate of the supplied synthetic outcome label and requires real business validation.</a:t>
            </a:r>
          </a:p>
          <a:p xmlns:a="http://schemas.openxmlformats.org/drawingml/2006/main">
            <a:r>
              <a:t/>
            </a:r>
          </a:p>
          <a:p xmlns:a="http://schemas.openxmlformats.org/drawingml/2006/main">
            <a:r>
              <a:t>Sources</a:t>
            </a:r>
          </a:p>
          <a:p xmlns:a="http://schemas.openxmlformats.org/drawingml/2006/main">
            <a:r>
              <a:t>data/demo/customer_profiles_template.csv</a:t>
            </a:r>
          </a:p>
          <a:p xmlns:a="http://schemas.openxmlformats.org/drawingml/2006/main">
            <a:r>
              <a:t>ev_project/schema.py</a:t>
            </a:r>
          </a:p>
          <a:p xmlns:a="http://schemas.openxmlformats.org/drawingml/2006/main">
            <a:r>
              <a:t>app.py</a:t>
            </a:r>
          </a:p>
          <a:p xmlns:a="http://schemas.openxmlformats.org/drawingml/2006/main">
            <a:r>
              <a:t>docs/reports/tables/data_dictionary.csv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limitations remain material. The source is synthetic, transaction timing is unverified, and no company outcome study or fairness audit has established suitability for deployment. A separate scoring service, a portable deployment package and monitoring are planned. In the implementation plan these correspond to API integration, Docker packaging and monitoring of input errors, scoring failures and changes in incoming data. These items are planned work, not completed product features.</a:t>
            </a:r>
          </a:p>
          <a:p xmlns:a="http://schemas.openxmlformats.org/drawingml/2006/main">
            <a:r>
              <a:t/>
            </a:r>
          </a:p>
          <a:p xmlns:a="http://schemas.openxmlformats.org/drawingml/2006/main">
            <a:r>
              <a:t>Sources</a:t>
            </a:r>
          </a:p>
          <a:p xmlns:a="http://schemas.openxmlformats.org/drawingml/2006/main">
            <a:r>
              <a:t>docs/reports/tables/data_dictionary.csv</a:t>
            </a:r>
          </a:p>
          <a:p xmlns:a="http://schemas.openxmlformats.org/drawingml/2006/main">
            <a:r>
              <a:t>docs/reports/modeling/methodology.json</a:t>
            </a:r>
          </a:p>
          <a:p xmlns:a="http://schemas.openxmlformats.org/drawingml/2006/main">
            <a:r>
              <a:t>app.py</a:t>
            </a:r>
          </a:p>
          <a:p xmlns:a="http://schemas.openxmlformats.org/drawingml/2006/main">
            <a:r>
              <a:t>Project roadmap: API integration, Docker packaging, monitoring and external validation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26f19435f4d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74c96fae849cf" /><Relationship Type="http://schemas.openxmlformats.org/officeDocument/2006/relationships/slideLayout" Target="/ppt/slideLayouts/slideLayout1.xml" Id="Rfe339c924332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339c924332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86e9e86f94d19" /><Relationship Type="http://schemas.openxmlformats.org/officeDocument/2006/relationships/image" Target="/ppt/media/image.png" Id="R94c8e05ba8074b4a" /><Relationship Type="http://schemas.openxmlformats.org/officeDocument/2006/relationships/notesSlide" Target="/ppt/notesSlides/notesSlide1.xml" Id="R969dfd4be982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a3116272444852" /><Relationship Type="http://schemas.openxmlformats.org/officeDocument/2006/relationships/notesSlide" Target="/ppt/notesSlides/notesSlide2.xml" Id="R7f6cc2272a614a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18759077b74f30" /><Relationship Type="http://schemas.openxmlformats.org/officeDocument/2006/relationships/notesSlide" Target="/ppt/notesSlides/notesSlide3.xml" Id="Rdaecbb1be6e84b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2a7e32b7e8435a" /><Relationship Type="http://schemas.openxmlformats.org/officeDocument/2006/relationships/notesSlide" Target="/ppt/notesSlides/notesSlide4.xml" Id="R6728bb2cdcb743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0dbb4f69a645d9" /><Relationship Type="http://schemas.openxmlformats.org/officeDocument/2006/relationships/image" Target="/ppt/media/image.jpeg" Id="Rb702a9e609d94aa4" /><Relationship Type="http://schemas.openxmlformats.org/officeDocument/2006/relationships/notesSlide" Target="/ppt/notesSlides/notesSlide5.xml" Id="R7dcda95302fa4a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78e643340a44bb" /><Relationship Type="http://schemas.openxmlformats.org/officeDocument/2006/relationships/chart" Target="/ppt/slides/charts/chart1.xml" Id="Re226cf20d0734c8c" /><Relationship Type="http://schemas.openxmlformats.org/officeDocument/2006/relationships/notesSlide" Target="/ppt/notesSlides/notesSlide6.xml" Id="R50cb919b0f1744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afcf28692a44e6" /><Relationship Type="http://schemas.openxmlformats.org/officeDocument/2006/relationships/notesSlide" Target="/ppt/notesSlides/notesSlide7.xml" Id="R0ef7c3feb3a348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483e4385824a44" /><Relationship Type="http://schemas.openxmlformats.org/officeDocument/2006/relationships/notesSlide" Target="/ppt/notesSlides/notesSlide8.xml" Id="Re313944b28fd46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f1560442964f70" /><Relationship Type="http://schemas.openxmlformats.org/officeDocument/2006/relationships/notesSlide" Target="/ppt/notesSlides/notesSlide9.xml" Id="R031a82ca11014f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e81948e8c84a1a" /><Relationship Type="http://schemas.openxmlformats.org/officeDocument/2006/relationships/notesSlide" Target="/ppt/notesSlides/notesSlide10.xml" Id="R695f625d6ddf43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5fb4c4bde0450d" /><Relationship Type="http://schemas.openxmlformats.org/officeDocument/2006/relationships/notesSlide" Target="/ppt/notesSlides/notesSlide11.xml" Id="R5153cfb223e044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with a Yes label</c:v>
          </c:tx>
          <c:spPr>
            <a:solidFill xmlns:a="http://schemas.openxmlformats.org/drawingml/2006/main">
              <a:srgbClr val="15866C"/>
            </a:solidFill>
          </c:spPr>
          <c:invertIfNegative val="0"/>
          <c:dPt>
            <c:idx val="0"/>
            <c:invertIfNegative val="0"/>
            <c:spPr>
              <a:solidFill xmlns:a="http://schemas.openxmlformats.org/drawingml/2006/main">
                <a:srgbClr val="81969C"/>
              </a:solidFill>
            </c:spPr>
          </c:dPt>
          <c:dPt>
            <c:idx val="1"/>
            <c:invertIfNegative val="0"/>
            <c:spPr>
              <a:solidFill xmlns:a="http://schemas.openxmlformats.org/drawingml/2006/main">
                <a:srgbClr val="15866C"/>
              </a:solidFill>
            </c:spPr>
          </c:dPt>
          <c:cat>
            <c:strRef>
              <c:f>'Chart Data'!$A$2:$A$3</c:f>
              <c:strCache>
                <c:ptCount val="2"/>
                <c:pt idx="0">
                  <c:v>All evaluation profiles</c:v>
                </c:pt>
                <c:pt idx="1">
                  <c:v>Top 10% of the list</c:v>
                </c:pt>
              </c:strCache>
            </c:strRef>
          </c:cat>
          <c:val>
            <c:numRef>
              <c:f>'Chart Data'!$B$2:$B$3</c:f>
              <c:numCache>
                <c:formatCode>0%</c:formatCode>
                <c:ptCount val="2"/>
                <c:pt idx="0">
                  <c:v>0.174646061815</c:v>
                </c:pt>
                <c:pt idx="1">
                  <c:v>0.787836490528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75" b="1">
                  <a:solidFill>
                    <a:srgbClr val="102C32"/>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DD9"/>
            </a:solidFill>
          </a:ln>
        </c:spPr>
        <c:txPr>
          <a:bodyPr xmlns:a="http://schemas.openxmlformats.org/drawingml/2006/main" anchorCtr="1"/>
          <a:lstStyle xmlns:a="http://schemas.openxmlformats.org/drawingml/2006/main"/>
          <a:p xmlns:a="http://schemas.openxmlformats.org/drawingml/2006/main">
            <a:pPr>
              <a:defRPr sz="1875">
                <a:solidFill>
                  <a:srgbClr val="102C3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EDD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496168"/>
                </a:solidFill>
                <a:latin typeface="Arial"/>
                <a:ea typeface="Arial"/>
                <a:cs typeface="Arial"/>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2"/>
        </a:solidFill>
      </p:bgPr>
    </p:bg>
    <p:spTree>
      <p:nvGrpSpPr>
        <p:cNvPr id="1" name=""/>
        <p:cNvGrpSpPr/>
        <p:nvPr/>
      </p:nvGrpSpPr>
      <p:grpSpPr>
        <a:xfrm xmlns:a="http://schemas.openxmlformats.org/drawingml/2006/main"/>
      </p:grpSpPr>
      <p:sp>
        <p:nvSpPr>
          <p:cNvPr id="7" name="MSBA265  /  Final Project Proposal">
            <a:extLst xmlns:a="http://schemas.openxmlformats.org/drawingml/2006/main">
              <a:ext uri="{FF2B5EF4-FFF2-40B4-BE49-F238E27FC236}">
                <a16:creationId xmlns:a16="http://schemas.microsoft.com/office/drawing/2014/main" id="{F2B4ED21-E4C6-449E-A5E7-E011756BFE6C}"/>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9DAD5"/>
                </a:solidFill>
                <a:latin typeface="Arial"/>
                <a:ea typeface="Arial"/>
                <a:cs typeface="Arial"/>
              </a:defRPr>
            </a:pPr>
            <a:r>
              <a:rPr sz="1275" b="0">
                <a:solidFill>
                  <a:srgbClr val="C9DAD5"/>
                </a:solidFill>
                <a:latin typeface="Arial"/>
                <a:ea typeface="Arial"/>
                <a:cs typeface="Arial"/>
              </a:rPr>
              <a:t>EV Customer Prioritization</a:t>
            </a:r>
          </a:p>
        </p:txBody>
      </p:sp>
      <p:sp>
        <p:nvSpPr>
          <p:cNvPr id="2" name="01">
            <a:extLst xmlns:a="http://schemas.openxmlformats.org/drawingml/2006/main">
              <a:ext uri="{FF2B5EF4-FFF2-40B4-BE49-F238E27FC236}">
                <a16:creationId xmlns:a16="http://schemas.microsoft.com/office/drawing/2014/main" id="{0C59BF84-1A55-40F9-9085-E1200071417D}"/>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C9DAD5"/>
                </a:solidFill>
                <a:latin typeface="Arial"/>
                <a:ea typeface="Arial"/>
                <a:cs typeface="Arial"/>
              </a:defRPr>
            </a:pPr>
            <a:r>
              <a:rPr sz="1350" b="0">
                <a:solidFill>
                  <a:srgbClr val="C9DAD5"/>
                </a:solidFill>
                <a:latin typeface="Arial"/>
                <a:ea typeface="Arial"/>
                <a:cs typeface="Arial"/>
              </a:rPr>
              <a:t>01</a:t>
            </a:r>
          </a:p>
        </p:txBody>
      </p:sp>
      <p:pic>
        <p:nvPicPr>
          <p:cNvPr id="9" name="">
            <a:extLst xmlns:a="http://schemas.openxmlformats.org/drawingml/2006/main">
              <a:ext uri="{FF2B5EF4-FFF2-40B4-BE49-F238E27FC236}">
                <a16:creationId xmlns:a16="http://schemas.microsoft.com/office/drawing/2014/main" id="{F7F6CD6A-DB6C-49B2-ABEE-8C195F080131}"/>
              </a:ext>
            </a:extLst>
          </p:cNvPr>
          <p:cNvPicPr>
            <a:picLocks xmlns:a="http://schemas.openxmlformats.org/drawingml/2006/main" noChangeAspect="1"/>
          </p:cNvPicPr>
          <p:nvPr/>
        </p:nvPicPr>
        <p:blipFill>
          <a:blip xmlns:r="http://schemas.openxmlformats.org/officeDocument/2006/relationships" xmlns:a="http://schemas.openxmlformats.org/drawingml/2006/main" r:embed="R94c8e05ba8074b4a"/>
          <a:srcRect xmlns:a="http://schemas.openxmlformats.org/drawingml/2006/main" l="0" t="1498" r="0" b="1498"/>
          <a:stretch xmlns:a="http://schemas.openxmlformats.org/drawingml/2006/main">
            <a:fillRect l="0" t="0" r="0" b="0"/>
          </a:stretch>
        </p:blipFill>
        <p:spPr>
          <a:xfrm xmlns:a="http://schemas.openxmlformats.org/drawingml/2006/main">
            <a:off x="6534150" y="0"/>
            <a:ext cx="5657850" cy="6858000"/>
          </a:xfrm>
          <a:prstGeom xmlns:a="http://schemas.openxmlformats.org/drawingml/2006/main" prst="rect">
            <a:avLst/>
          </a:prstGeom>
        </p:spPr>
      </p:pic>
      <p:sp>
        <p:nvSpPr>
          <p:cNvPr id="4" name="EV Customer&#10;Prioritization">
            <a:extLst xmlns:a="http://schemas.openxmlformats.org/drawingml/2006/main">
              <a:ext uri="{FF2B5EF4-FFF2-40B4-BE49-F238E27FC236}">
                <a16:creationId xmlns:a16="http://schemas.microsoft.com/office/drawing/2014/main" id="{1495A16D-B1D7-4876-9F0C-8BBFD2751E3F}"/>
              </a:ext>
            </a:extLst>
          </p:cNvPr>
          <p:cNvSpPr>
            <a:spLocks xmlns:a="http://schemas.openxmlformats.org/drawingml/2006/main" noGrp="1"/>
          </p:cNvSpPr>
          <p:nvPr/>
        </p:nvSpPr>
        <p:spPr>
          <a:xfrm xmlns:a="http://schemas.openxmlformats.org/drawingml/2006/main">
            <a:off x="609600" y="1428750"/>
            <a:ext cx="56769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00" b="1">
                <a:solidFill>
                  <a:srgbClr val="FFFFFF"/>
                </a:solidFill>
                <a:latin typeface="Arial"/>
                <a:ea typeface="Arial"/>
                <a:cs typeface="Arial"/>
              </a:defRPr>
            </a:pPr>
            <a:r>
              <a:rPr sz="4500" b="1">
                <a:solidFill>
                  <a:srgbClr val="FFFFFF"/>
                </a:solidFill>
                <a:latin typeface="Arial"/>
                <a:ea typeface="Arial"/>
                <a:cs typeface="Arial"/>
              </a:rPr>
              <a:t>EV Customer</a:t>
            </a:r>
          </a:p>
          <a:p xmlns:a="http://schemas.openxmlformats.org/drawingml/2006/main">
            <a:pPr algn="l">
              <a:buNone/>
              <a:defRPr sz="4500" b="1">
                <a:solidFill>
                  <a:srgbClr val="FFFFFF"/>
                </a:solidFill>
                <a:latin typeface="Arial"/>
                <a:ea typeface="Arial"/>
                <a:cs typeface="Arial"/>
              </a:defRPr>
            </a:pPr>
            <a:r>
              <a:rPr sz="4500" b="1">
                <a:solidFill>
                  <a:srgbClr val="FFFFFF"/>
                </a:solidFill>
                <a:latin typeface="Arial"/>
                <a:ea typeface="Arial"/>
                <a:cs typeface="Arial"/>
              </a:rPr>
              <a:t>Prioritization</a:t>
            </a:r>
          </a:p>
        </p:txBody>
      </p:sp>
      <p:sp>
        <p:nvSpPr>
          <p:cNvPr id="5" name="Final Project Proposal">
            <a:extLst xmlns:a="http://schemas.openxmlformats.org/drawingml/2006/main">
              <a:ext uri="{FF2B5EF4-FFF2-40B4-BE49-F238E27FC236}">
                <a16:creationId xmlns:a16="http://schemas.microsoft.com/office/drawing/2014/main" id="{D8F943D9-F139-42CA-A72A-6AD93734E818}"/>
              </a:ext>
            </a:extLst>
          </p:cNvPr>
          <p:cNvSpPr>
            <a:spLocks xmlns:a="http://schemas.openxmlformats.org/drawingml/2006/main" noGrp="1"/>
          </p:cNvSpPr>
          <p:nvPr/>
        </p:nvSpPr>
        <p:spPr>
          <a:xfrm xmlns:a="http://schemas.openxmlformats.org/drawingml/2006/main">
            <a:off x="609600" y="3467100"/>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C9DAD5"/>
                </a:solidFill>
                <a:latin typeface="Arial"/>
                <a:ea typeface="Arial"/>
                <a:cs typeface="Arial"/>
              </a:defRPr>
            </a:defPPr>
            <a:lvl1pPr>
              <a:defRPr sz="2250">
                <a:solidFill>
                  <a:srgbClr val="C9DAD5"/>
                </a:solidFill>
                <a:latin typeface="Arial"/>
                <a:ea typeface="Arial"/>
                <a:cs typeface="Arial"/>
              </a:defRPr>
            </a:lvl1pPr>
            <a:lvl2pPr>
              <a:defRPr sz="2250">
                <a:solidFill>
                  <a:srgbClr val="C9DAD5"/>
                </a:solidFill>
                <a:latin typeface="Arial"/>
                <a:ea typeface="Arial"/>
                <a:cs typeface="Arial"/>
              </a:defRPr>
            </a:lvl2pPr>
            <a:lvl3pPr>
              <a:defRPr sz="2250">
                <a:solidFill>
                  <a:srgbClr val="C9DAD5"/>
                </a:solidFill>
                <a:latin typeface="Arial"/>
                <a:ea typeface="Arial"/>
                <a:cs typeface="Arial"/>
              </a:defRPr>
            </a:lvl3pPr>
            <a:lvl4pPr>
              <a:defRPr sz="2250">
                <a:solidFill>
                  <a:srgbClr val="C9DAD5"/>
                </a:solidFill>
                <a:latin typeface="Arial"/>
                <a:ea typeface="Arial"/>
                <a:cs typeface="Arial"/>
              </a:defRPr>
            </a:lvl4pPr>
            <a:lvl5pPr>
              <a:defRPr sz="2250">
                <a:solidFill>
                  <a:srgbClr val="C9DAD5"/>
                </a:solidFill>
                <a:latin typeface="Arial"/>
                <a:ea typeface="Arial"/>
                <a:cs typeface="Arial"/>
              </a:defRPr>
            </a:lvl5pPr>
            <a:lvl6pPr>
              <a:defRPr sz="2250">
                <a:solidFill>
                  <a:srgbClr val="C9DAD5"/>
                </a:solidFill>
                <a:latin typeface="Arial"/>
                <a:ea typeface="Arial"/>
                <a:cs typeface="Arial"/>
              </a:defRPr>
            </a:lvl6pPr>
            <a:lvl7pPr>
              <a:defRPr sz="2250">
                <a:solidFill>
                  <a:srgbClr val="C9DAD5"/>
                </a:solidFill>
                <a:latin typeface="Arial"/>
                <a:ea typeface="Arial"/>
                <a:cs typeface="Arial"/>
              </a:defRPr>
            </a:lvl7pPr>
            <a:lvl8pPr>
              <a:defRPr sz="2250">
                <a:solidFill>
                  <a:srgbClr val="C9DAD5"/>
                </a:solidFill>
                <a:latin typeface="Arial"/>
                <a:ea typeface="Arial"/>
                <a:cs typeface="Arial"/>
              </a:defRPr>
            </a:lvl8pPr>
            <a:lvl9pPr>
              <a:defRPr sz="2250">
                <a:solidFill>
                  <a:srgbClr val="C9DAD5"/>
                </a:solidFill>
                <a:latin typeface="Arial"/>
                <a:ea typeface="Arial"/>
                <a:cs typeface="Arial"/>
              </a:defRPr>
            </a:lvl9pPr>
          </a:lstStyle>
          <a:p xmlns:a="http://schemas.openxmlformats.org/drawingml/2006/main">
            <a:pPr algn="l">
              <a:buNone/>
              <a:defRPr sz="2250" b="0">
                <a:solidFill>
                  <a:srgbClr val="C9DAD5"/>
                </a:solidFill>
                <a:latin typeface="Arial"/>
                <a:ea typeface="Arial"/>
                <a:cs typeface="Arial"/>
              </a:defRPr>
            </a:pPr>
            <a:r>
              <a:rPr sz="2250" b="0">
                <a:solidFill>
                  <a:srgbClr val="C9DAD5"/>
                </a:solidFill>
                <a:latin typeface="Arial"/>
                <a:ea typeface="Arial"/>
                <a:cs typeface="Arial"/>
              </a:rPr>
              <a:t>Stakeholder demonstration</a:t>
            </a:r>
          </a:p>
        </p:txBody>
      </p:sp>
      <p:sp>
        <p:nvSpPr>
          <p:cNvPr id="6" name="Nu Quynh Chau Nguyen&#10;MSBA265">
            <a:extLst xmlns:a="http://schemas.openxmlformats.org/drawingml/2006/main">
              <a:ext uri="{FF2B5EF4-FFF2-40B4-BE49-F238E27FC236}">
                <a16:creationId xmlns:a16="http://schemas.microsoft.com/office/drawing/2014/main" id="{4C9CA86E-C758-4408-89F2-640AF625C1F4}"/>
              </a:ext>
            </a:extLst>
          </p:cNvPr>
          <p:cNvSpPr>
            <a:spLocks xmlns:a="http://schemas.openxmlformats.org/drawingml/2006/main" noGrp="1"/>
          </p:cNvSpPr>
          <p:nvPr/>
        </p:nvSpPr>
        <p:spPr>
          <a:xfrm xmlns:a="http://schemas.openxmlformats.org/drawingml/2006/main">
            <a:off x="609600" y="47910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Nu Quynh Chau Nguyen</a:t>
            </a:r>
          </a:p>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MSBA265</a:t>
            </a:r>
          </a:p>
        </p:txBody>
      </p:sp>
    </p:spTree>
    <p:extLst>
      <p:ext uri="{BB962C8B-B14F-4D97-AF65-F5344CB8AC3E}">
        <p14:creationId xmlns:p14="http://schemas.microsoft.com/office/powerpoint/2010/main" val="592346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16709D8-E04D-4CB8-BEC9-5BF648133985}"/>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Limited contact capacity</a:t>
            </a:r>
          </a:p>
        </p:txBody>
      </p:sp>
      <p:sp>
        <p:nvSpPr>
          <p:cNvPr id="2" name="MSBA265  /  Final Project Proposal">
            <a:extLst xmlns:a="http://schemas.openxmlformats.org/drawingml/2006/main">
              <a:ext uri="{FF2B5EF4-FFF2-40B4-BE49-F238E27FC236}">
                <a16:creationId xmlns:a16="http://schemas.microsoft.com/office/drawing/2014/main" id="{9E741BA1-7AFE-4204-93A7-E9DA891D4AE8}"/>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2">
            <a:extLst xmlns:a="http://schemas.openxmlformats.org/drawingml/2006/main">
              <a:ext uri="{FF2B5EF4-FFF2-40B4-BE49-F238E27FC236}">
                <a16:creationId xmlns:a16="http://schemas.microsoft.com/office/drawing/2014/main" id="{30610BCF-83DE-433F-8CCC-C0803036B8D3}"/>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02</a:t>
            </a:r>
          </a:p>
        </p:txBody>
      </p:sp>
      <p:sp>
        <p:nvSpPr>
          <p:cNvPr id="11" name="Which profiles should receive review first?">
            <a:extLst xmlns:a="http://schemas.openxmlformats.org/drawingml/2006/main">
              <a:ext uri="{FF2B5EF4-FFF2-40B4-BE49-F238E27FC236}">
                <a16:creationId xmlns:a16="http://schemas.microsoft.com/office/drawing/2014/main" id="{452EA08D-0B17-4C71-8D6F-121F0F05CEF2}"/>
              </a:ext>
            </a:extLst>
          </p:cNvPr>
          <p:cNvSpPr>
            <a:spLocks xmlns:a="http://schemas.openxmlformats.org/drawingml/2006/main" noGrp="1"/>
          </p:cNvSpPr>
          <p:nvPr/>
        </p:nvSpPr>
        <p:spPr>
          <a:xfrm xmlns:a="http://schemas.openxmlformats.org/drawingml/2006/main">
            <a:off x="609600" y="1495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C32"/>
                </a:solidFill>
                <a:latin typeface="Arial"/>
                <a:ea typeface="Arial"/>
                <a:cs typeface="Arial"/>
              </a:defRPr>
            </a:defPPr>
            <a:lvl1pPr algn="l">
              <a:defRPr sz="3225" b="1">
                <a:solidFill>
                  <a:srgbClr val="102C32"/>
                </a:solidFill>
                <a:latin typeface="Arial"/>
                <a:ea typeface="Arial"/>
                <a:cs typeface="Arial"/>
              </a:defRPr>
            </a:lvl1pPr>
            <a:lvl2pPr algn="l">
              <a:defRPr sz="3225" b="1">
                <a:solidFill>
                  <a:srgbClr val="102C32"/>
                </a:solidFill>
                <a:latin typeface="Arial"/>
                <a:ea typeface="Arial"/>
                <a:cs typeface="Arial"/>
              </a:defRPr>
            </a:lvl2pPr>
            <a:lvl3pPr algn="l">
              <a:defRPr sz="3225" b="1">
                <a:solidFill>
                  <a:srgbClr val="102C32"/>
                </a:solidFill>
                <a:latin typeface="Arial"/>
                <a:ea typeface="Arial"/>
                <a:cs typeface="Arial"/>
              </a:defRPr>
            </a:lvl3pPr>
            <a:lvl4pPr algn="l">
              <a:defRPr sz="3225" b="1">
                <a:solidFill>
                  <a:srgbClr val="102C32"/>
                </a:solidFill>
                <a:latin typeface="Arial"/>
                <a:ea typeface="Arial"/>
                <a:cs typeface="Arial"/>
              </a:defRPr>
            </a:lvl4pPr>
            <a:lvl5pPr algn="l">
              <a:defRPr sz="3225" b="1">
                <a:solidFill>
                  <a:srgbClr val="102C32"/>
                </a:solidFill>
                <a:latin typeface="Arial"/>
                <a:ea typeface="Arial"/>
                <a:cs typeface="Arial"/>
              </a:defRPr>
            </a:lvl5pPr>
            <a:lvl6pPr algn="l">
              <a:defRPr sz="3225" b="1">
                <a:solidFill>
                  <a:srgbClr val="102C32"/>
                </a:solidFill>
                <a:latin typeface="Arial"/>
                <a:ea typeface="Arial"/>
                <a:cs typeface="Arial"/>
              </a:defRPr>
            </a:lvl6pPr>
            <a:lvl7pPr algn="l">
              <a:defRPr sz="3225" b="1">
                <a:solidFill>
                  <a:srgbClr val="102C32"/>
                </a:solidFill>
                <a:latin typeface="Arial"/>
                <a:ea typeface="Arial"/>
                <a:cs typeface="Arial"/>
              </a:defRPr>
            </a:lvl7pPr>
            <a:lvl8pPr algn="l">
              <a:defRPr sz="3225" b="1">
                <a:solidFill>
                  <a:srgbClr val="102C32"/>
                </a:solidFill>
                <a:latin typeface="Arial"/>
                <a:ea typeface="Arial"/>
                <a:cs typeface="Arial"/>
              </a:defRPr>
            </a:lvl8pPr>
            <a:lvl9pPr algn="l">
              <a:defRPr sz="3225" b="1">
                <a:solidFill>
                  <a:srgbClr val="102C32"/>
                </a:solidFill>
                <a:latin typeface="Arial"/>
                <a:ea typeface="Arial"/>
                <a:cs typeface="Arial"/>
              </a:defRPr>
            </a:lvl9pPr>
          </a:lstStyle>
          <a:p xmlns:a="http://schemas.openxmlformats.org/drawingml/2006/main">
            <a:pPr algn="l">
              <a:defRPr sz="3225" b="1">
                <a:solidFill>
                  <a:srgbClr val="102C32"/>
                </a:solidFill>
                <a:latin typeface="Arial"/>
                <a:ea typeface="Arial"/>
                <a:cs typeface="Arial"/>
              </a:defRPr>
            </a:pPr>
            <a:r>
              <a:rPr sz="3225" b="1">
                <a:solidFill>
                  <a:srgbClr val="102C32"/>
                </a:solidFill>
                <a:latin typeface="Arial"/>
                <a:ea typeface="Arial"/>
                <a:cs typeface="Arial"/>
              </a:rPr>
              <a:t>Which profiles should receive review first?</a:t>
            </a:r>
          </a:p>
        </p:txBody>
      </p:sp>
      <p:sp>
        <p:nvSpPr>
          <p:cNvPr id="12" name="Illustrative scenario">
            <a:extLst xmlns:a="http://schemas.openxmlformats.org/drawingml/2006/main">
              <a:ext uri="{FF2B5EF4-FFF2-40B4-BE49-F238E27FC236}">
                <a16:creationId xmlns:a16="http://schemas.microsoft.com/office/drawing/2014/main" id="{9874E727-9B2D-4100-ADF7-E3E1FF6C5EF2}"/>
              </a:ext>
            </a:extLst>
          </p:cNvPr>
          <p:cNvSpPr>
            <a:spLocks xmlns:a="http://schemas.openxmlformats.org/drawingml/2006/main" noGrp="1"/>
          </p:cNvSpPr>
          <p:nvPr/>
        </p:nvSpPr>
        <p:spPr>
          <a:xfrm xmlns:a="http://schemas.openxmlformats.org/drawingml/2006/main">
            <a:off x="609600" y="30099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866C"/>
                </a:solidFill>
                <a:latin typeface="Arial"/>
                <a:ea typeface="Arial"/>
                <a:cs typeface="Arial"/>
              </a:defRPr>
            </a:defPPr>
            <a:lvl1pPr algn="l">
              <a:defRPr sz="2025" b="1">
                <a:solidFill>
                  <a:srgbClr val="15866C"/>
                </a:solidFill>
                <a:latin typeface="Arial"/>
                <a:ea typeface="Arial"/>
                <a:cs typeface="Arial"/>
              </a:defRPr>
            </a:lvl1pPr>
            <a:lvl2pPr algn="l">
              <a:defRPr sz="2025" b="1">
                <a:solidFill>
                  <a:srgbClr val="15866C"/>
                </a:solidFill>
                <a:latin typeface="Arial"/>
                <a:ea typeface="Arial"/>
                <a:cs typeface="Arial"/>
              </a:defRPr>
            </a:lvl2pPr>
            <a:lvl3pPr algn="l">
              <a:defRPr sz="2025" b="1">
                <a:solidFill>
                  <a:srgbClr val="15866C"/>
                </a:solidFill>
                <a:latin typeface="Arial"/>
                <a:ea typeface="Arial"/>
                <a:cs typeface="Arial"/>
              </a:defRPr>
            </a:lvl3pPr>
            <a:lvl4pPr algn="l">
              <a:defRPr sz="2025" b="1">
                <a:solidFill>
                  <a:srgbClr val="15866C"/>
                </a:solidFill>
                <a:latin typeface="Arial"/>
                <a:ea typeface="Arial"/>
                <a:cs typeface="Arial"/>
              </a:defRPr>
            </a:lvl4pPr>
            <a:lvl5pPr algn="l">
              <a:defRPr sz="2025" b="1">
                <a:solidFill>
                  <a:srgbClr val="15866C"/>
                </a:solidFill>
                <a:latin typeface="Arial"/>
                <a:ea typeface="Arial"/>
                <a:cs typeface="Arial"/>
              </a:defRPr>
            </a:lvl5pPr>
            <a:lvl6pPr algn="l">
              <a:defRPr sz="2025" b="1">
                <a:solidFill>
                  <a:srgbClr val="15866C"/>
                </a:solidFill>
                <a:latin typeface="Arial"/>
                <a:ea typeface="Arial"/>
                <a:cs typeface="Arial"/>
              </a:defRPr>
            </a:lvl6pPr>
            <a:lvl7pPr algn="l">
              <a:defRPr sz="2025" b="1">
                <a:solidFill>
                  <a:srgbClr val="15866C"/>
                </a:solidFill>
                <a:latin typeface="Arial"/>
                <a:ea typeface="Arial"/>
                <a:cs typeface="Arial"/>
              </a:defRPr>
            </a:lvl7pPr>
            <a:lvl8pPr algn="l">
              <a:defRPr sz="2025" b="1">
                <a:solidFill>
                  <a:srgbClr val="15866C"/>
                </a:solidFill>
                <a:latin typeface="Arial"/>
                <a:ea typeface="Arial"/>
                <a:cs typeface="Arial"/>
              </a:defRPr>
            </a:lvl8pPr>
            <a:lvl9pPr algn="l">
              <a:defRPr sz="2025" b="1">
                <a:solidFill>
                  <a:srgbClr val="15866C"/>
                </a:solidFill>
                <a:latin typeface="Arial"/>
                <a:ea typeface="Arial"/>
                <a:cs typeface="Arial"/>
              </a:defRPr>
            </a:lvl9pPr>
          </a:lstStyle>
          <a:p xmlns:a="http://schemas.openxmlformats.org/drawingml/2006/main">
            <a:pPr algn="l">
              <a:defRPr sz="2025" b="1">
                <a:solidFill>
                  <a:srgbClr val="15866C"/>
                </a:solidFill>
                <a:latin typeface="Arial"/>
                <a:ea typeface="Arial"/>
                <a:cs typeface="Arial"/>
              </a:defRPr>
            </a:pPr>
            <a:r>
              <a:rPr sz="2025" b="1">
                <a:solidFill>
                  <a:srgbClr val="15866C"/>
                </a:solidFill>
                <a:latin typeface="Arial"/>
                <a:ea typeface="Arial"/>
                <a:cs typeface="Arial"/>
              </a:rPr>
              <a:t>Illustrative scenario</a:t>
            </a:r>
          </a:p>
        </p:txBody>
      </p:sp>
      <p:sp>
        <p:nvSpPr>
          <p:cNvPr id="13" name="A team can review 50 profiles.&#10;The manager set">
            <a:extLst xmlns:a="http://schemas.openxmlformats.org/drawingml/2006/main">
              <a:ext uri="{FF2B5EF4-FFF2-40B4-BE49-F238E27FC236}">
                <a16:creationId xmlns:a16="http://schemas.microsoft.com/office/drawing/2014/main" id="{2B913E91-73AF-4136-9A24-23AA6A2EAF17}"/>
              </a:ext>
            </a:extLst>
          </p:cNvPr>
          <p:cNvSpPr>
            <a:spLocks xmlns:a="http://schemas.openxmlformats.org/drawingml/2006/main" noGrp="1"/>
          </p:cNvSpPr>
          <p:nvPr/>
        </p:nvSpPr>
        <p:spPr>
          <a:xfrm xmlns:a="http://schemas.openxmlformats.org/drawingml/2006/main">
            <a:off x="609600" y="35242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A team can review 50 profiles.</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The manager sets the limit to match</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the team’s available time.</a:t>
            </a:r>
          </a:p>
        </p:txBody>
      </p:sp>
      <p:sp>
        <p:nvSpPr>
          <p:cNvPr id="14" name="The tool’s role">
            <a:extLst xmlns:a="http://schemas.openxmlformats.org/drawingml/2006/main">
              <a:ext uri="{FF2B5EF4-FFF2-40B4-BE49-F238E27FC236}">
                <a16:creationId xmlns:a16="http://schemas.microsoft.com/office/drawing/2014/main" id="{F10DDBFC-8AF5-4EA2-B3B1-35CF4779C32B}"/>
              </a:ext>
            </a:extLst>
          </p:cNvPr>
          <p:cNvSpPr>
            <a:spLocks xmlns:a="http://schemas.openxmlformats.org/drawingml/2006/main" noGrp="1"/>
          </p:cNvSpPr>
          <p:nvPr/>
        </p:nvSpPr>
        <p:spPr>
          <a:xfrm xmlns:a="http://schemas.openxmlformats.org/drawingml/2006/main">
            <a:off x="6705600" y="3009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866C"/>
                </a:solidFill>
                <a:latin typeface="Arial"/>
                <a:ea typeface="Arial"/>
                <a:cs typeface="Arial"/>
              </a:defRPr>
            </a:defPPr>
            <a:lvl1pPr algn="l">
              <a:defRPr sz="2025" b="1">
                <a:solidFill>
                  <a:srgbClr val="15866C"/>
                </a:solidFill>
                <a:latin typeface="Arial"/>
                <a:ea typeface="Arial"/>
                <a:cs typeface="Arial"/>
              </a:defRPr>
            </a:lvl1pPr>
            <a:lvl2pPr algn="l">
              <a:defRPr sz="2025" b="1">
                <a:solidFill>
                  <a:srgbClr val="15866C"/>
                </a:solidFill>
                <a:latin typeface="Arial"/>
                <a:ea typeface="Arial"/>
                <a:cs typeface="Arial"/>
              </a:defRPr>
            </a:lvl2pPr>
            <a:lvl3pPr algn="l">
              <a:defRPr sz="2025" b="1">
                <a:solidFill>
                  <a:srgbClr val="15866C"/>
                </a:solidFill>
                <a:latin typeface="Arial"/>
                <a:ea typeface="Arial"/>
                <a:cs typeface="Arial"/>
              </a:defRPr>
            </a:lvl3pPr>
            <a:lvl4pPr algn="l">
              <a:defRPr sz="2025" b="1">
                <a:solidFill>
                  <a:srgbClr val="15866C"/>
                </a:solidFill>
                <a:latin typeface="Arial"/>
                <a:ea typeface="Arial"/>
                <a:cs typeface="Arial"/>
              </a:defRPr>
            </a:lvl4pPr>
            <a:lvl5pPr algn="l">
              <a:defRPr sz="2025" b="1">
                <a:solidFill>
                  <a:srgbClr val="15866C"/>
                </a:solidFill>
                <a:latin typeface="Arial"/>
                <a:ea typeface="Arial"/>
                <a:cs typeface="Arial"/>
              </a:defRPr>
            </a:lvl5pPr>
            <a:lvl6pPr algn="l">
              <a:defRPr sz="2025" b="1">
                <a:solidFill>
                  <a:srgbClr val="15866C"/>
                </a:solidFill>
                <a:latin typeface="Arial"/>
                <a:ea typeface="Arial"/>
                <a:cs typeface="Arial"/>
              </a:defRPr>
            </a:lvl6pPr>
            <a:lvl7pPr algn="l">
              <a:defRPr sz="2025" b="1">
                <a:solidFill>
                  <a:srgbClr val="15866C"/>
                </a:solidFill>
                <a:latin typeface="Arial"/>
                <a:ea typeface="Arial"/>
                <a:cs typeface="Arial"/>
              </a:defRPr>
            </a:lvl7pPr>
            <a:lvl8pPr algn="l">
              <a:defRPr sz="2025" b="1">
                <a:solidFill>
                  <a:srgbClr val="15866C"/>
                </a:solidFill>
                <a:latin typeface="Arial"/>
                <a:ea typeface="Arial"/>
                <a:cs typeface="Arial"/>
              </a:defRPr>
            </a:lvl8pPr>
            <a:lvl9pPr algn="l">
              <a:defRPr sz="2025" b="1">
                <a:solidFill>
                  <a:srgbClr val="15866C"/>
                </a:solidFill>
                <a:latin typeface="Arial"/>
                <a:ea typeface="Arial"/>
                <a:cs typeface="Arial"/>
              </a:defRPr>
            </a:lvl9pPr>
          </a:lstStyle>
          <a:p xmlns:a="http://schemas.openxmlformats.org/drawingml/2006/main">
            <a:pPr algn="l">
              <a:defRPr sz="2025" b="1">
                <a:solidFill>
                  <a:srgbClr val="15866C"/>
                </a:solidFill>
                <a:latin typeface="Arial"/>
                <a:ea typeface="Arial"/>
                <a:cs typeface="Arial"/>
              </a:defRPr>
            </a:pPr>
            <a:r>
              <a:rPr sz="2025" b="1">
                <a:solidFill>
                  <a:srgbClr val="15866C"/>
                </a:solidFill>
                <a:latin typeface="Arial"/>
                <a:ea typeface="Arial"/>
                <a:cs typeface="Arial"/>
              </a:rPr>
              <a:t>The tool’s role</a:t>
            </a:r>
          </a:p>
        </p:txBody>
      </p:sp>
      <p:sp>
        <p:nvSpPr>
          <p:cNvPr id="15" name="Rank the supplied profiles and&#10;return 50 IDs f">
            <a:extLst xmlns:a="http://schemas.openxmlformats.org/drawingml/2006/main">
              <a:ext uri="{FF2B5EF4-FFF2-40B4-BE49-F238E27FC236}">
                <a16:creationId xmlns:a16="http://schemas.microsoft.com/office/drawing/2014/main" id="{3C58F788-528D-405B-A819-96E5546C2D8C}"/>
              </a:ext>
            </a:extLst>
          </p:cNvPr>
          <p:cNvSpPr>
            <a:spLocks xmlns:a="http://schemas.openxmlformats.org/drawingml/2006/main" noGrp="1"/>
          </p:cNvSpPr>
          <p:nvPr/>
        </p:nvSpPr>
        <p:spPr>
          <a:xfrm xmlns:a="http://schemas.openxmlformats.org/drawingml/2006/main">
            <a:off x="6705600" y="3524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Rank the supplied profiles and</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return 50 IDs for staff review.</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The manager approves any contact.</a:t>
            </a:r>
          </a:p>
        </p:txBody>
      </p:sp>
      <p:sp>
        <p:nvSpPr>
          <p:cNvPr id="16" name="Goal: find more profiles with a Yes label with">
            <a:extLst xmlns:a="http://schemas.openxmlformats.org/drawingml/2006/main">
              <a:ext uri="{FF2B5EF4-FFF2-40B4-BE49-F238E27FC236}">
                <a16:creationId xmlns:a16="http://schemas.microsoft.com/office/drawing/2014/main" id="{67083CE9-1CA2-4245-B1D8-9ED9CB8E88FE}"/>
              </a:ext>
            </a:extLst>
          </p:cNvPr>
          <p:cNvSpPr>
            <a:spLocks xmlns:a="http://schemas.openxmlformats.org/drawingml/2006/main" noGrp="1"/>
          </p:cNvSpPr>
          <p:nvPr/>
        </p:nvSpPr>
        <p:spPr>
          <a:xfrm xmlns:a="http://schemas.openxmlformats.org/drawingml/2006/main">
            <a:off x="609600" y="53911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defRPr sz="2175" b="1">
                <a:solidFill>
                  <a:srgbClr val="102C32"/>
                </a:solidFill>
                <a:latin typeface="Arial"/>
                <a:ea typeface="Arial"/>
                <a:cs typeface="Arial"/>
              </a:defRPr>
            </a:lvl1pPr>
            <a:lvl2pPr algn="l">
              <a:defRPr sz="2175" b="1">
                <a:solidFill>
                  <a:srgbClr val="102C32"/>
                </a:solidFill>
                <a:latin typeface="Arial"/>
                <a:ea typeface="Arial"/>
                <a:cs typeface="Arial"/>
              </a:defRPr>
            </a:lvl2pPr>
            <a:lvl3pPr algn="l">
              <a:defRPr sz="2175" b="1">
                <a:solidFill>
                  <a:srgbClr val="102C32"/>
                </a:solidFill>
                <a:latin typeface="Arial"/>
                <a:ea typeface="Arial"/>
                <a:cs typeface="Arial"/>
              </a:defRPr>
            </a:lvl3pPr>
            <a:lvl4pPr algn="l">
              <a:defRPr sz="2175" b="1">
                <a:solidFill>
                  <a:srgbClr val="102C32"/>
                </a:solidFill>
                <a:latin typeface="Arial"/>
                <a:ea typeface="Arial"/>
                <a:cs typeface="Arial"/>
              </a:defRPr>
            </a:lvl4pPr>
            <a:lvl5pPr algn="l">
              <a:defRPr sz="2175" b="1">
                <a:solidFill>
                  <a:srgbClr val="102C32"/>
                </a:solidFill>
                <a:latin typeface="Arial"/>
                <a:ea typeface="Arial"/>
                <a:cs typeface="Arial"/>
              </a:defRPr>
            </a:lvl5pPr>
            <a:lvl6pPr algn="l">
              <a:defRPr sz="2175" b="1">
                <a:solidFill>
                  <a:srgbClr val="102C32"/>
                </a:solidFill>
                <a:latin typeface="Arial"/>
                <a:ea typeface="Arial"/>
                <a:cs typeface="Arial"/>
              </a:defRPr>
            </a:lvl6pPr>
            <a:lvl7pPr algn="l">
              <a:defRPr sz="2175" b="1">
                <a:solidFill>
                  <a:srgbClr val="102C32"/>
                </a:solidFill>
                <a:latin typeface="Arial"/>
                <a:ea typeface="Arial"/>
                <a:cs typeface="Arial"/>
              </a:defRPr>
            </a:lvl7pPr>
            <a:lvl8pPr algn="l">
              <a:defRPr sz="2175" b="1">
                <a:solidFill>
                  <a:srgbClr val="102C32"/>
                </a:solidFill>
                <a:latin typeface="Arial"/>
                <a:ea typeface="Arial"/>
                <a:cs typeface="Arial"/>
              </a:defRPr>
            </a:lvl8pPr>
            <a:lvl9pPr algn="l">
              <a:defRPr sz="2175" b="1">
                <a:solidFill>
                  <a:srgbClr val="102C32"/>
                </a:solidFill>
                <a:latin typeface="Arial"/>
                <a:ea typeface="Arial"/>
                <a:cs typeface="Arial"/>
              </a:defRPr>
            </a:lvl9pPr>
          </a:lstStyle>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Goal: find more profiles with a Yes label within the same review limit</a:t>
            </a:r>
          </a:p>
        </p:txBody>
      </p:sp>
    </p:spTree>
    <p:extLst>
      <p:ext uri="{BB962C8B-B14F-4D97-AF65-F5344CB8AC3E}">
        <p14:creationId xmlns:p14="http://schemas.microsoft.com/office/powerpoint/2010/main" val="587612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773D1B6-59B2-462D-9BE9-4B067D077E9E}"/>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approved profile data</a:t>
            </a:r>
          </a:p>
        </p:txBody>
      </p:sp>
      <p:sp>
        <p:nvSpPr>
          <p:cNvPr id="2" name="MSBA265  /  Final Project Proposal">
            <a:extLst xmlns:a="http://schemas.openxmlformats.org/drawingml/2006/main">
              <a:ext uri="{FF2B5EF4-FFF2-40B4-BE49-F238E27FC236}">
                <a16:creationId xmlns:a16="http://schemas.microsoft.com/office/drawing/2014/main" id="{21AACC2D-1DFB-4961-B4F2-35E41DEC15E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3">
            <a:extLst xmlns:a="http://schemas.openxmlformats.org/drawingml/2006/main">
              <a:ext uri="{FF2B5EF4-FFF2-40B4-BE49-F238E27FC236}">
                <a16:creationId xmlns:a16="http://schemas.microsoft.com/office/drawing/2014/main" id="{26F23E9D-CBE2-4104-B6CA-23DB56CEE95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03</a:t>
            </a:r>
          </a:p>
        </p:txBody>
      </p:sp>
      <p:sp>
        <p:nvSpPr>
          <p:cNvPr id="11" name="Kaggle: Predicting Electric Vehicle Purchases">
            <a:extLst xmlns:a="http://schemas.openxmlformats.org/drawingml/2006/main">
              <a:ext uri="{FF2B5EF4-FFF2-40B4-BE49-F238E27FC236}">
                <a16:creationId xmlns:a16="http://schemas.microsoft.com/office/drawing/2014/main" id="{3DE29F57-772E-40B4-98E4-B193BDD9C920}"/>
              </a:ext>
            </a:extLst>
          </p:cNvPr>
          <p:cNvSpPr>
            <a:spLocks xmlns:a="http://schemas.openxmlformats.org/drawingml/2006/main" noGrp="1"/>
          </p:cNvSpPr>
          <p:nvPr/>
        </p:nvSpPr>
        <p:spPr>
          <a:xfrm xmlns:a="http://schemas.openxmlformats.org/drawingml/2006/main">
            <a:off x="609600" y="13144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866C"/>
                </a:solidFill>
                <a:latin typeface="Arial"/>
                <a:ea typeface="Arial"/>
                <a:cs typeface="Arial"/>
              </a:defRPr>
            </a:defPPr>
            <a:lvl1pPr algn="l">
              <a:defRPr sz="2250" b="1">
                <a:solidFill>
                  <a:srgbClr val="15866C"/>
                </a:solidFill>
                <a:latin typeface="Arial"/>
                <a:ea typeface="Arial"/>
                <a:cs typeface="Arial"/>
              </a:defRPr>
            </a:lvl1pPr>
            <a:lvl2pPr algn="l">
              <a:defRPr sz="2250" b="1">
                <a:solidFill>
                  <a:srgbClr val="15866C"/>
                </a:solidFill>
                <a:latin typeface="Arial"/>
                <a:ea typeface="Arial"/>
                <a:cs typeface="Arial"/>
              </a:defRPr>
            </a:lvl2pPr>
            <a:lvl3pPr algn="l">
              <a:defRPr sz="2250" b="1">
                <a:solidFill>
                  <a:srgbClr val="15866C"/>
                </a:solidFill>
                <a:latin typeface="Arial"/>
                <a:ea typeface="Arial"/>
                <a:cs typeface="Arial"/>
              </a:defRPr>
            </a:lvl3pPr>
            <a:lvl4pPr algn="l">
              <a:defRPr sz="2250" b="1">
                <a:solidFill>
                  <a:srgbClr val="15866C"/>
                </a:solidFill>
                <a:latin typeface="Arial"/>
                <a:ea typeface="Arial"/>
                <a:cs typeface="Arial"/>
              </a:defRPr>
            </a:lvl4pPr>
            <a:lvl5pPr algn="l">
              <a:defRPr sz="2250" b="1">
                <a:solidFill>
                  <a:srgbClr val="15866C"/>
                </a:solidFill>
                <a:latin typeface="Arial"/>
                <a:ea typeface="Arial"/>
                <a:cs typeface="Arial"/>
              </a:defRPr>
            </a:lvl5pPr>
            <a:lvl6pPr algn="l">
              <a:defRPr sz="2250" b="1">
                <a:solidFill>
                  <a:srgbClr val="15866C"/>
                </a:solidFill>
                <a:latin typeface="Arial"/>
                <a:ea typeface="Arial"/>
                <a:cs typeface="Arial"/>
              </a:defRPr>
            </a:lvl6pPr>
            <a:lvl7pPr algn="l">
              <a:defRPr sz="2250" b="1">
                <a:solidFill>
                  <a:srgbClr val="15866C"/>
                </a:solidFill>
                <a:latin typeface="Arial"/>
                <a:ea typeface="Arial"/>
                <a:cs typeface="Arial"/>
              </a:defRPr>
            </a:lvl7pPr>
            <a:lvl8pPr algn="l">
              <a:defRPr sz="2250" b="1">
                <a:solidFill>
                  <a:srgbClr val="15866C"/>
                </a:solidFill>
                <a:latin typeface="Arial"/>
                <a:ea typeface="Arial"/>
                <a:cs typeface="Arial"/>
              </a:defRPr>
            </a:lvl8pPr>
            <a:lvl9pPr algn="l">
              <a:defRPr sz="2250" b="1">
                <a:solidFill>
                  <a:srgbClr val="15866C"/>
                </a:solidFill>
                <a:latin typeface="Arial"/>
                <a:ea typeface="Arial"/>
                <a:cs typeface="Arial"/>
              </a:defRPr>
            </a:lvl9pPr>
          </a:lstStyle>
          <a:p xmlns:a="http://schemas.openxmlformats.org/drawingml/2006/main">
            <a:pPr algn="l">
              <a:defRPr sz="2250" b="1">
                <a:solidFill>
                  <a:srgbClr val="15866C"/>
                </a:solidFill>
                <a:latin typeface="Arial"/>
                <a:ea typeface="Arial"/>
                <a:cs typeface="Arial"/>
              </a:defRPr>
            </a:pPr>
            <a:r>
              <a:rPr sz="2250" b="1">
                <a:solidFill>
                  <a:srgbClr val="15866C"/>
                </a:solidFill>
                <a:latin typeface="Arial"/>
                <a:ea typeface="Arial"/>
                <a:cs typeface="Arial"/>
              </a:rPr>
              <a:t>Kaggle: Predicting Electric Vehicle Purchases</a:t>
            </a:r>
          </a:p>
        </p:txBody>
      </p:sp>
      <p:graphicFrame>
        <p:nvGraphicFramePr>
          <p:cNvPr id="12" name="">
            <a:extLst xmlns:a="http://schemas.openxmlformats.org/drawingml/2006/main">
              <a:ext uri="{FF2B5EF4-FFF2-40B4-BE49-F238E27FC236}">
                <a16:creationId xmlns:a16="http://schemas.microsoft.com/office/drawing/2014/main" id="{19BCF12D-8C12-4B7D-9465-7B1D0B2ED263}"/>
              </a:ext>
            </a:extLst>
          </p:cNvPr>
          <p:cNvGraphicFramePr/>
          <p:nvPr/>
        </p:nvGraphicFramePr>
        <p:xfrm>
          <a:off xmlns:a="http://schemas.openxmlformats.org/drawingml/2006/main" x="609600" y="1990725"/>
          <a:ext xmlns:a="http://schemas.openxmlformats.org/drawingml/2006/main" cx="10972800" cy="2133600"/>
        </p:xfrm>
        <a:graphic xmlns:a="http://schemas.openxmlformats.org/drawingml/2006/main">
          <a:graphicData uri="http://schemas.openxmlformats.org/drawingml/2006/table">
            <a:tbl>
              <a:tblPr/>
              <a:tblGrid>
                <a:gridCol w="2952750"/>
                <a:gridCol w="2047875"/>
                <a:gridCol w="5972175"/>
              </a:tblGrid>
              <a:tr h="609600">
                <a:tc>
                  <a:txBody>
                    <a:bodyPr/>
                    <a:lstStyle/>
                    <a:p>
                      <a:r>
                        <a:rPr sz="2025" b="1">
                          <a:solidFill>
                            <a:srgbClr val="FFFFFF"/>
                          </a:solidFill>
                          <a:latin typeface="Arial"/>
                          <a:ea typeface="Arial"/>
                          <a:cs typeface="Arial"/>
                        </a:rPr>
                        <a:t>File</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Profiles</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Available information</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2025" b="0">
                          <a:solidFill>
                            <a:srgbClr val="102C32"/>
                          </a:solidFill>
                          <a:latin typeface="Arial"/>
                          <a:ea typeface="Arial"/>
                          <a:cs typeface="Arial"/>
                        </a:rPr>
                        <a:t>train.csv</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668,665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Profile fields and Yes / No labels</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test.csv</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286,571</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Profile fields without outcome labels</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
        <p:nvSpPr>
          <p:cNvPr id="13" name="13 input fields">
            <a:extLst xmlns:a="http://schemas.openxmlformats.org/drawingml/2006/main">
              <a:ext uri="{FF2B5EF4-FFF2-40B4-BE49-F238E27FC236}">
                <a16:creationId xmlns:a16="http://schemas.microsoft.com/office/drawing/2014/main" id="{2D3EE349-93A8-43BE-942C-9DA8E6BDDA99}"/>
              </a:ext>
            </a:extLst>
          </p:cNvPr>
          <p:cNvSpPr>
            <a:spLocks xmlns:a="http://schemas.openxmlformats.org/drawingml/2006/main" noGrp="1"/>
          </p:cNvSpPr>
          <p:nvPr/>
        </p:nvSpPr>
        <p:spPr>
          <a:xfrm xmlns:a="http://schemas.openxmlformats.org/drawingml/2006/main">
            <a:off x="609600" y="4524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13 input fields</a:t>
            </a:r>
          </a:p>
        </p:txBody>
      </p:sp>
      <p:sp>
        <p:nvSpPr>
          <p:cNvPr id="14" name="Travel, charging, finances and attitudes&#10;Recor">
            <a:extLst xmlns:a="http://schemas.openxmlformats.org/drawingml/2006/main">
              <a:ext uri="{FF2B5EF4-FFF2-40B4-BE49-F238E27FC236}">
                <a16:creationId xmlns:a16="http://schemas.microsoft.com/office/drawing/2014/main" id="{C0264568-0921-43E8-98A6-160FF5493210}"/>
              </a:ext>
            </a:extLst>
          </p:cNvPr>
          <p:cNvSpPr>
            <a:spLocks xmlns:a="http://schemas.openxmlformats.org/drawingml/2006/main" noGrp="1"/>
          </p:cNvSpPr>
          <p:nvPr/>
        </p:nvSpPr>
        <p:spPr>
          <a:xfrm xmlns:a="http://schemas.openxmlformats.org/drawingml/2006/main">
            <a:off x="609600" y="50101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2C32"/>
                </a:solidFill>
                <a:latin typeface="Arial"/>
                <a:ea typeface="Arial"/>
                <a:cs typeface="Arial"/>
              </a:defRPr>
            </a:defPPr>
            <a:lvl1pPr algn="l">
              <a:defRPr sz="1875" b="0">
                <a:solidFill>
                  <a:srgbClr val="102C32"/>
                </a:solidFill>
                <a:latin typeface="Arial"/>
                <a:ea typeface="Arial"/>
                <a:cs typeface="Arial"/>
              </a:defRPr>
            </a:lvl1pPr>
            <a:lvl2pPr algn="l">
              <a:defRPr sz="1875" b="0">
                <a:solidFill>
                  <a:srgbClr val="102C32"/>
                </a:solidFill>
                <a:latin typeface="Arial"/>
                <a:ea typeface="Arial"/>
                <a:cs typeface="Arial"/>
              </a:defRPr>
            </a:lvl2pPr>
            <a:lvl3pPr algn="l">
              <a:defRPr sz="1875" b="0">
                <a:solidFill>
                  <a:srgbClr val="102C32"/>
                </a:solidFill>
                <a:latin typeface="Arial"/>
                <a:ea typeface="Arial"/>
                <a:cs typeface="Arial"/>
              </a:defRPr>
            </a:lvl3pPr>
            <a:lvl4pPr algn="l">
              <a:defRPr sz="1875" b="0">
                <a:solidFill>
                  <a:srgbClr val="102C32"/>
                </a:solidFill>
                <a:latin typeface="Arial"/>
                <a:ea typeface="Arial"/>
                <a:cs typeface="Arial"/>
              </a:defRPr>
            </a:lvl4pPr>
            <a:lvl5pPr algn="l">
              <a:defRPr sz="1875" b="0">
                <a:solidFill>
                  <a:srgbClr val="102C32"/>
                </a:solidFill>
                <a:latin typeface="Arial"/>
                <a:ea typeface="Arial"/>
                <a:cs typeface="Arial"/>
              </a:defRPr>
            </a:lvl5pPr>
            <a:lvl6pPr algn="l">
              <a:defRPr sz="1875" b="0">
                <a:solidFill>
                  <a:srgbClr val="102C32"/>
                </a:solidFill>
                <a:latin typeface="Arial"/>
                <a:ea typeface="Arial"/>
                <a:cs typeface="Arial"/>
              </a:defRPr>
            </a:lvl6pPr>
            <a:lvl7pPr algn="l">
              <a:defRPr sz="1875" b="0">
                <a:solidFill>
                  <a:srgbClr val="102C32"/>
                </a:solidFill>
                <a:latin typeface="Arial"/>
                <a:ea typeface="Arial"/>
                <a:cs typeface="Arial"/>
              </a:defRPr>
            </a:lvl7pPr>
            <a:lvl8pPr algn="l">
              <a:defRPr sz="1875" b="0">
                <a:solidFill>
                  <a:srgbClr val="102C32"/>
                </a:solidFill>
                <a:latin typeface="Arial"/>
                <a:ea typeface="Arial"/>
                <a:cs typeface="Arial"/>
              </a:defRPr>
            </a:lvl8pPr>
            <a:lvl9pPr algn="l">
              <a:defRPr sz="1875" b="0">
                <a:solidFill>
                  <a:srgbClr val="102C32"/>
                </a:solidFill>
                <a:latin typeface="Arial"/>
                <a:ea typeface="Arial"/>
                <a:cs typeface="Arial"/>
              </a:defRPr>
            </a:lvl9pPr>
          </a:lstStyle>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Travel, charging, finances and attitudes</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Recorded demographics provide context.</a:t>
            </a:r>
          </a:p>
        </p:txBody>
      </p:sp>
      <p:sp>
        <p:nvSpPr>
          <p:cNvPr id="15" name="Synthetic profiles with IDs">
            <a:extLst xmlns:a="http://schemas.openxmlformats.org/drawingml/2006/main">
              <a:ext uri="{FF2B5EF4-FFF2-40B4-BE49-F238E27FC236}">
                <a16:creationId xmlns:a16="http://schemas.microsoft.com/office/drawing/2014/main" id="{01F58E1C-0DA7-4595-8264-76A8F1C9CE01}"/>
              </a:ext>
            </a:extLst>
          </p:cNvPr>
          <p:cNvSpPr>
            <a:spLocks xmlns:a="http://schemas.openxmlformats.org/drawingml/2006/main" noGrp="1"/>
          </p:cNvSpPr>
          <p:nvPr/>
        </p:nvSpPr>
        <p:spPr>
          <a:xfrm xmlns:a="http://schemas.openxmlformats.org/drawingml/2006/main">
            <a:off x="6705600" y="45243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Synthetic profiles with IDs</a:t>
            </a:r>
          </a:p>
        </p:txBody>
      </p:sp>
      <p:sp>
        <p:nvSpPr>
          <p:cNvPr id="16" name="No names, emails or phone numbers&#10;Preferences ">
            <a:extLst xmlns:a="http://schemas.openxmlformats.org/drawingml/2006/main">
              <a:ext uri="{FF2B5EF4-FFF2-40B4-BE49-F238E27FC236}">
                <a16:creationId xmlns:a16="http://schemas.microsoft.com/office/drawing/2014/main" id="{74FB757E-6D72-4B46-87F9-F22F32091B09}"/>
              </a:ext>
            </a:extLst>
          </p:cNvPr>
          <p:cNvSpPr>
            <a:spLocks xmlns:a="http://schemas.openxmlformats.org/drawingml/2006/main" noGrp="1"/>
          </p:cNvSpPr>
          <p:nvPr/>
        </p:nvSpPr>
        <p:spPr>
          <a:xfrm xmlns:a="http://schemas.openxmlformats.org/drawingml/2006/main">
            <a:off x="6705600" y="501015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2C32"/>
                </a:solidFill>
                <a:latin typeface="Arial"/>
                <a:ea typeface="Arial"/>
                <a:cs typeface="Arial"/>
              </a:defRPr>
            </a:defPPr>
            <a:lvl1pPr algn="l">
              <a:defRPr sz="1875" b="0">
                <a:solidFill>
                  <a:srgbClr val="102C32"/>
                </a:solidFill>
                <a:latin typeface="Arial"/>
                <a:ea typeface="Arial"/>
                <a:cs typeface="Arial"/>
              </a:defRPr>
            </a:lvl1pPr>
            <a:lvl2pPr algn="l">
              <a:defRPr sz="1875" b="0">
                <a:solidFill>
                  <a:srgbClr val="102C32"/>
                </a:solidFill>
                <a:latin typeface="Arial"/>
                <a:ea typeface="Arial"/>
                <a:cs typeface="Arial"/>
              </a:defRPr>
            </a:lvl2pPr>
            <a:lvl3pPr algn="l">
              <a:defRPr sz="1875" b="0">
                <a:solidFill>
                  <a:srgbClr val="102C32"/>
                </a:solidFill>
                <a:latin typeface="Arial"/>
                <a:ea typeface="Arial"/>
                <a:cs typeface="Arial"/>
              </a:defRPr>
            </a:lvl3pPr>
            <a:lvl4pPr algn="l">
              <a:defRPr sz="1875" b="0">
                <a:solidFill>
                  <a:srgbClr val="102C32"/>
                </a:solidFill>
                <a:latin typeface="Arial"/>
                <a:ea typeface="Arial"/>
                <a:cs typeface="Arial"/>
              </a:defRPr>
            </a:lvl4pPr>
            <a:lvl5pPr algn="l">
              <a:defRPr sz="1875" b="0">
                <a:solidFill>
                  <a:srgbClr val="102C32"/>
                </a:solidFill>
                <a:latin typeface="Arial"/>
                <a:ea typeface="Arial"/>
                <a:cs typeface="Arial"/>
              </a:defRPr>
            </a:lvl5pPr>
            <a:lvl6pPr algn="l">
              <a:defRPr sz="1875" b="0">
                <a:solidFill>
                  <a:srgbClr val="102C32"/>
                </a:solidFill>
                <a:latin typeface="Arial"/>
                <a:ea typeface="Arial"/>
                <a:cs typeface="Arial"/>
              </a:defRPr>
            </a:lvl6pPr>
            <a:lvl7pPr algn="l">
              <a:defRPr sz="1875" b="0">
                <a:solidFill>
                  <a:srgbClr val="102C32"/>
                </a:solidFill>
                <a:latin typeface="Arial"/>
                <a:ea typeface="Arial"/>
                <a:cs typeface="Arial"/>
              </a:defRPr>
            </a:lvl7pPr>
            <a:lvl8pPr algn="l">
              <a:defRPr sz="1875" b="0">
                <a:solidFill>
                  <a:srgbClr val="102C32"/>
                </a:solidFill>
                <a:latin typeface="Arial"/>
                <a:ea typeface="Arial"/>
                <a:cs typeface="Arial"/>
              </a:defRPr>
            </a:lvl8pPr>
            <a:lvl9pPr algn="l">
              <a:defRPr sz="1875" b="0">
                <a:solidFill>
                  <a:srgbClr val="102C32"/>
                </a:solidFill>
                <a:latin typeface="Arial"/>
                <a:ea typeface="Arial"/>
                <a:cs typeface="Arial"/>
              </a:defRPr>
            </a:lvl9pPr>
          </a:lstStyle>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No names, emails or phone numbers</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Preferences and affordability remain unverified.</a:t>
            </a:r>
          </a:p>
        </p:txBody>
      </p:sp>
    </p:spTree>
    <p:extLst>
      <p:ext uri="{BB962C8B-B14F-4D97-AF65-F5344CB8AC3E}">
        <p14:creationId xmlns:p14="http://schemas.microsoft.com/office/powerpoint/2010/main" val="9655100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4990EF9-805A-4714-B4E5-97B6147EEB07}"/>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A working browser tool</a:t>
            </a:r>
          </a:p>
        </p:txBody>
      </p:sp>
      <p:sp>
        <p:nvSpPr>
          <p:cNvPr id="2" name="MSBA265  /  Final Project Proposal">
            <a:extLst xmlns:a="http://schemas.openxmlformats.org/drawingml/2006/main">
              <a:ext uri="{FF2B5EF4-FFF2-40B4-BE49-F238E27FC236}">
                <a16:creationId xmlns:a16="http://schemas.microsoft.com/office/drawing/2014/main" id="{BAF65893-36E2-494B-945D-4F788C8E9ED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4">
            <a:extLst xmlns:a="http://schemas.openxmlformats.org/drawingml/2006/main">
              <a:ext uri="{FF2B5EF4-FFF2-40B4-BE49-F238E27FC236}">
                <a16:creationId xmlns:a16="http://schemas.microsoft.com/office/drawing/2014/main" id="{68F858B6-687F-4CCE-82AC-E5B5DBEEBF24}"/>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04</a:t>
            </a:r>
          </a:p>
        </p:txBody>
      </p:sp>
      <p:sp>
        <p:nvSpPr>
          <p:cNvPr id="11" name="A manager controls the review list">
            <a:extLst xmlns:a="http://schemas.openxmlformats.org/drawingml/2006/main">
              <a:ext uri="{FF2B5EF4-FFF2-40B4-BE49-F238E27FC236}">
                <a16:creationId xmlns:a16="http://schemas.microsoft.com/office/drawing/2014/main" id="{34DDBD77-FBE0-460F-8837-AD57EC87755F}"/>
              </a:ext>
            </a:extLst>
          </p:cNvPr>
          <p:cNvSpPr>
            <a:spLocks xmlns:a="http://schemas.openxmlformats.org/drawingml/2006/main" noGrp="1"/>
          </p:cNvSpPr>
          <p:nvPr/>
        </p:nvSpPr>
        <p:spPr>
          <a:xfrm xmlns:a="http://schemas.openxmlformats.org/drawingml/2006/main">
            <a:off x="609600" y="13716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A manager controls the review list</a:t>
            </a:r>
          </a:p>
        </p:txBody>
      </p:sp>
      <p:sp>
        <p:nvSpPr>
          <p:cNvPr id="12" name="1">
            <a:extLst xmlns:a="http://schemas.openxmlformats.org/drawingml/2006/main">
              <a:ext uri="{FF2B5EF4-FFF2-40B4-BE49-F238E27FC236}">
                <a16:creationId xmlns:a16="http://schemas.microsoft.com/office/drawing/2014/main" id="{D059B3FA-8952-43CC-9931-281F529E6066}"/>
              </a:ext>
            </a:extLst>
          </p:cNvPr>
          <p:cNvSpPr>
            <a:spLocks xmlns:a="http://schemas.openxmlformats.org/drawingml/2006/main" noGrp="1"/>
          </p:cNvSpPr>
          <p:nvPr/>
        </p:nvSpPr>
        <p:spPr>
          <a:xfrm xmlns:a="http://schemas.openxmlformats.org/drawingml/2006/main">
            <a:off x="609600" y="22574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866C"/>
                </a:solidFill>
                <a:latin typeface="Arial"/>
                <a:ea typeface="Arial"/>
                <a:cs typeface="Arial"/>
              </a:defRPr>
            </a:defPPr>
            <a:lvl1pPr algn="l">
              <a:defRPr sz="2700" b="1">
                <a:solidFill>
                  <a:srgbClr val="15866C"/>
                </a:solidFill>
                <a:latin typeface="Arial"/>
                <a:ea typeface="Arial"/>
                <a:cs typeface="Arial"/>
              </a:defRPr>
            </a:lvl1pPr>
            <a:lvl2pPr algn="l">
              <a:defRPr sz="2700" b="1">
                <a:solidFill>
                  <a:srgbClr val="15866C"/>
                </a:solidFill>
                <a:latin typeface="Arial"/>
                <a:ea typeface="Arial"/>
                <a:cs typeface="Arial"/>
              </a:defRPr>
            </a:lvl2pPr>
            <a:lvl3pPr algn="l">
              <a:defRPr sz="2700" b="1">
                <a:solidFill>
                  <a:srgbClr val="15866C"/>
                </a:solidFill>
                <a:latin typeface="Arial"/>
                <a:ea typeface="Arial"/>
                <a:cs typeface="Arial"/>
              </a:defRPr>
            </a:lvl3pPr>
            <a:lvl4pPr algn="l">
              <a:defRPr sz="2700" b="1">
                <a:solidFill>
                  <a:srgbClr val="15866C"/>
                </a:solidFill>
                <a:latin typeface="Arial"/>
                <a:ea typeface="Arial"/>
                <a:cs typeface="Arial"/>
              </a:defRPr>
            </a:lvl4pPr>
            <a:lvl5pPr algn="l">
              <a:defRPr sz="2700" b="1">
                <a:solidFill>
                  <a:srgbClr val="15866C"/>
                </a:solidFill>
                <a:latin typeface="Arial"/>
                <a:ea typeface="Arial"/>
                <a:cs typeface="Arial"/>
              </a:defRPr>
            </a:lvl5pPr>
            <a:lvl6pPr algn="l">
              <a:defRPr sz="2700" b="1">
                <a:solidFill>
                  <a:srgbClr val="15866C"/>
                </a:solidFill>
                <a:latin typeface="Arial"/>
                <a:ea typeface="Arial"/>
                <a:cs typeface="Arial"/>
              </a:defRPr>
            </a:lvl6pPr>
            <a:lvl7pPr algn="l">
              <a:defRPr sz="2700" b="1">
                <a:solidFill>
                  <a:srgbClr val="15866C"/>
                </a:solidFill>
                <a:latin typeface="Arial"/>
                <a:ea typeface="Arial"/>
                <a:cs typeface="Arial"/>
              </a:defRPr>
            </a:lvl7pPr>
            <a:lvl8pPr algn="l">
              <a:defRPr sz="2700" b="1">
                <a:solidFill>
                  <a:srgbClr val="15866C"/>
                </a:solidFill>
                <a:latin typeface="Arial"/>
                <a:ea typeface="Arial"/>
                <a:cs typeface="Arial"/>
              </a:defRPr>
            </a:lvl8pPr>
            <a:lvl9pPr algn="l">
              <a:defRPr sz="2700" b="1">
                <a:solidFill>
                  <a:srgbClr val="15866C"/>
                </a:solidFill>
                <a:latin typeface="Arial"/>
                <a:ea typeface="Arial"/>
                <a:cs typeface="Arial"/>
              </a:defRPr>
            </a:lvl9pPr>
          </a:lstStyle>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1</a:t>
            </a:r>
          </a:p>
        </p:txBody>
      </p:sp>
      <p:sp>
        <p:nvSpPr>
          <p:cNvPr id="13" name="Upload a CSV of profile data">
            <a:extLst xmlns:a="http://schemas.openxmlformats.org/drawingml/2006/main">
              <a:ext uri="{FF2B5EF4-FFF2-40B4-BE49-F238E27FC236}">
                <a16:creationId xmlns:a16="http://schemas.microsoft.com/office/drawing/2014/main" id="{0F211747-F33C-4420-AF1C-D66764086C9A}"/>
              </a:ext>
            </a:extLst>
          </p:cNvPr>
          <p:cNvSpPr>
            <a:spLocks xmlns:a="http://schemas.openxmlformats.org/drawingml/2006/main" noGrp="1"/>
          </p:cNvSpPr>
          <p:nvPr/>
        </p:nvSpPr>
        <p:spPr>
          <a:xfrm xmlns:a="http://schemas.openxmlformats.org/drawingml/2006/main">
            <a:off x="1295400" y="2314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Upload a CSV of profile data</a:t>
            </a:r>
          </a:p>
        </p:txBody>
      </p:sp>
      <p:sp>
        <p:nvSpPr>
          <p:cNvPr id="14" name="2">
            <a:extLst xmlns:a="http://schemas.openxmlformats.org/drawingml/2006/main">
              <a:ext uri="{FF2B5EF4-FFF2-40B4-BE49-F238E27FC236}">
                <a16:creationId xmlns:a16="http://schemas.microsoft.com/office/drawing/2014/main" id="{EC6B8421-7E4A-4178-8DDB-32F9910429FC}"/>
              </a:ext>
            </a:extLst>
          </p:cNvPr>
          <p:cNvSpPr>
            <a:spLocks xmlns:a="http://schemas.openxmlformats.org/drawingml/2006/main" noGrp="1"/>
          </p:cNvSpPr>
          <p:nvPr/>
        </p:nvSpPr>
        <p:spPr>
          <a:xfrm xmlns:a="http://schemas.openxmlformats.org/drawingml/2006/main">
            <a:off x="609600" y="303847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866C"/>
                </a:solidFill>
                <a:latin typeface="Arial"/>
                <a:ea typeface="Arial"/>
                <a:cs typeface="Arial"/>
              </a:defRPr>
            </a:defPPr>
            <a:lvl1pPr algn="l">
              <a:defRPr sz="2700" b="1">
                <a:solidFill>
                  <a:srgbClr val="15866C"/>
                </a:solidFill>
                <a:latin typeface="Arial"/>
                <a:ea typeface="Arial"/>
                <a:cs typeface="Arial"/>
              </a:defRPr>
            </a:lvl1pPr>
            <a:lvl2pPr algn="l">
              <a:defRPr sz="2700" b="1">
                <a:solidFill>
                  <a:srgbClr val="15866C"/>
                </a:solidFill>
                <a:latin typeface="Arial"/>
                <a:ea typeface="Arial"/>
                <a:cs typeface="Arial"/>
              </a:defRPr>
            </a:lvl2pPr>
            <a:lvl3pPr algn="l">
              <a:defRPr sz="2700" b="1">
                <a:solidFill>
                  <a:srgbClr val="15866C"/>
                </a:solidFill>
                <a:latin typeface="Arial"/>
                <a:ea typeface="Arial"/>
                <a:cs typeface="Arial"/>
              </a:defRPr>
            </a:lvl3pPr>
            <a:lvl4pPr algn="l">
              <a:defRPr sz="2700" b="1">
                <a:solidFill>
                  <a:srgbClr val="15866C"/>
                </a:solidFill>
                <a:latin typeface="Arial"/>
                <a:ea typeface="Arial"/>
                <a:cs typeface="Arial"/>
              </a:defRPr>
            </a:lvl4pPr>
            <a:lvl5pPr algn="l">
              <a:defRPr sz="2700" b="1">
                <a:solidFill>
                  <a:srgbClr val="15866C"/>
                </a:solidFill>
                <a:latin typeface="Arial"/>
                <a:ea typeface="Arial"/>
                <a:cs typeface="Arial"/>
              </a:defRPr>
            </a:lvl5pPr>
            <a:lvl6pPr algn="l">
              <a:defRPr sz="2700" b="1">
                <a:solidFill>
                  <a:srgbClr val="15866C"/>
                </a:solidFill>
                <a:latin typeface="Arial"/>
                <a:ea typeface="Arial"/>
                <a:cs typeface="Arial"/>
              </a:defRPr>
            </a:lvl6pPr>
            <a:lvl7pPr algn="l">
              <a:defRPr sz="2700" b="1">
                <a:solidFill>
                  <a:srgbClr val="15866C"/>
                </a:solidFill>
                <a:latin typeface="Arial"/>
                <a:ea typeface="Arial"/>
                <a:cs typeface="Arial"/>
              </a:defRPr>
            </a:lvl7pPr>
            <a:lvl8pPr algn="l">
              <a:defRPr sz="2700" b="1">
                <a:solidFill>
                  <a:srgbClr val="15866C"/>
                </a:solidFill>
                <a:latin typeface="Arial"/>
                <a:ea typeface="Arial"/>
                <a:cs typeface="Arial"/>
              </a:defRPr>
            </a:lvl8pPr>
            <a:lvl9pPr algn="l">
              <a:defRPr sz="2700" b="1">
                <a:solidFill>
                  <a:srgbClr val="15866C"/>
                </a:solidFill>
                <a:latin typeface="Arial"/>
                <a:ea typeface="Arial"/>
                <a:cs typeface="Arial"/>
              </a:defRPr>
            </a:lvl9pPr>
          </a:lstStyle>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2</a:t>
            </a:r>
          </a:p>
        </p:txBody>
      </p:sp>
      <p:sp>
        <p:nvSpPr>
          <p:cNvPr id="15" name="Choose how many profiles to review">
            <a:extLst xmlns:a="http://schemas.openxmlformats.org/drawingml/2006/main">
              <a:ext uri="{FF2B5EF4-FFF2-40B4-BE49-F238E27FC236}">
                <a16:creationId xmlns:a16="http://schemas.microsoft.com/office/drawing/2014/main" id="{3562FABB-C124-4EE2-B72E-B131FA7DE052}"/>
              </a:ext>
            </a:extLst>
          </p:cNvPr>
          <p:cNvSpPr>
            <a:spLocks xmlns:a="http://schemas.openxmlformats.org/drawingml/2006/main" noGrp="1"/>
          </p:cNvSpPr>
          <p:nvPr/>
        </p:nvSpPr>
        <p:spPr>
          <a:xfrm xmlns:a="http://schemas.openxmlformats.org/drawingml/2006/main">
            <a:off x="1295400" y="30956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Choose how many profiles to review</a:t>
            </a:r>
          </a:p>
        </p:txBody>
      </p:sp>
      <p:sp>
        <p:nvSpPr>
          <p:cNvPr id="16" name="3">
            <a:extLst xmlns:a="http://schemas.openxmlformats.org/drawingml/2006/main">
              <a:ext uri="{FF2B5EF4-FFF2-40B4-BE49-F238E27FC236}">
                <a16:creationId xmlns:a16="http://schemas.microsoft.com/office/drawing/2014/main" id="{145DA41E-8F83-4BFD-965D-958E3A65E899}"/>
              </a:ext>
            </a:extLst>
          </p:cNvPr>
          <p:cNvSpPr>
            <a:spLocks xmlns:a="http://schemas.openxmlformats.org/drawingml/2006/main" noGrp="1"/>
          </p:cNvSpPr>
          <p:nvPr/>
        </p:nvSpPr>
        <p:spPr>
          <a:xfrm xmlns:a="http://schemas.openxmlformats.org/drawingml/2006/main">
            <a:off x="609600" y="38195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866C"/>
                </a:solidFill>
                <a:latin typeface="Arial"/>
                <a:ea typeface="Arial"/>
                <a:cs typeface="Arial"/>
              </a:defRPr>
            </a:defPPr>
            <a:lvl1pPr algn="l">
              <a:defRPr sz="2700" b="1">
                <a:solidFill>
                  <a:srgbClr val="15866C"/>
                </a:solidFill>
                <a:latin typeface="Arial"/>
                <a:ea typeface="Arial"/>
                <a:cs typeface="Arial"/>
              </a:defRPr>
            </a:lvl1pPr>
            <a:lvl2pPr algn="l">
              <a:defRPr sz="2700" b="1">
                <a:solidFill>
                  <a:srgbClr val="15866C"/>
                </a:solidFill>
                <a:latin typeface="Arial"/>
                <a:ea typeface="Arial"/>
                <a:cs typeface="Arial"/>
              </a:defRPr>
            </a:lvl2pPr>
            <a:lvl3pPr algn="l">
              <a:defRPr sz="2700" b="1">
                <a:solidFill>
                  <a:srgbClr val="15866C"/>
                </a:solidFill>
                <a:latin typeface="Arial"/>
                <a:ea typeface="Arial"/>
                <a:cs typeface="Arial"/>
              </a:defRPr>
            </a:lvl3pPr>
            <a:lvl4pPr algn="l">
              <a:defRPr sz="2700" b="1">
                <a:solidFill>
                  <a:srgbClr val="15866C"/>
                </a:solidFill>
                <a:latin typeface="Arial"/>
                <a:ea typeface="Arial"/>
                <a:cs typeface="Arial"/>
              </a:defRPr>
            </a:lvl4pPr>
            <a:lvl5pPr algn="l">
              <a:defRPr sz="2700" b="1">
                <a:solidFill>
                  <a:srgbClr val="15866C"/>
                </a:solidFill>
                <a:latin typeface="Arial"/>
                <a:ea typeface="Arial"/>
                <a:cs typeface="Arial"/>
              </a:defRPr>
            </a:lvl5pPr>
            <a:lvl6pPr algn="l">
              <a:defRPr sz="2700" b="1">
                <a:solidFill>
                  <a:srgbClr val="15866C"/>
                </a:solidFill>
                <a:latin typeface="Arial"/>
                <a:ea typeface="Arial"/>
                <a:cs typeface="Arial"/>
              </a:defRPr>
            </a:lvl6pPr>
            <a:lvl7pPr algn="l">
              <a:defRPr sz="2700" b="1">
                <a:solidFill>
                  <a:srgbClr val="15866C"/>
                </a:solidFill>
                <a:latin typeface="Arial"/>
                <a:ea typeface="Arial"/>
                <a:cs typeface="Arial"/>
              </a:defRPr>
            </a:lvl7pPr>
            <a:lvl8pPr algn="l">
              <a:defRPr sz="2700" b="1">
                <a:solidFill>
                  <a:srgbClr val="15866C"/>
                </a:solidFill>
                <a:latin typeface="Arial"/>
                <a:ea typeface="Arial"/>
                <a:cs typeface="Arial"/>
              </a:defRPr>
            </a:lvl8pPr>
            <a:lvl9pPr algn="l">
              <a:defRPr sz="2700" b="1">
                <a:solidFill>
                  <a:srgbClr val="15866C"/>
                </a:solidFill>
                <a:latin typeface="Arial"/>
                <a:ea typeface="Arial"/>
                <a:cs typeface="Arial"/>
              </a:defRPr>
            </a:lvl9pPr>
          </a:lstStyle>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3</a:t>
            </a:r>
          </a:p>
        </p:txBody>
      </p:sp>
      <p:sp>
        <p:nvSpPr>
          <p:cNvPr id="17" name="Review ranked IDs and recorded fields">
            <a:extLst xmlns:a="http://schemas.openxmlformats.org/drawingml/2006/main">
              <a:ext uri="{FF2B5EF4-FFF2-40B4-BE49-F238E27FC236}">
                <a16:creationId xmlns:a16="http://schemas.microsoft.com/office/drawing/2014/main" id="{EBED9659-B74D-4DC9-95A4-05EDA0186C64}"/>
              </a:ext>
            </a:extLst>
          </p:cNvPr>
          <p:cNvSpPr>
            <a:spLocks xmlns:a="http://schemas.openxmlformats.org/drawingml/2006/main" noGrp="1"/>
          </p:cNvSpPr>
          <p:nvPr/>
        </p:nvSpPr>
        <p:spPr>
          <a:xfrm xmlns:a="http://schemas.openxmlformats.org/drawingml/2006/main">
            <a:off x="1295400" y="38766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Review ranked IDs and recorded fields</a:t>
            </a:r>
          </a:p>
        </p:txBody>
      </p:sp>
      <p:sp>
        <p:nvSpPr>
          <p:cNvPr id="18" name="4">
            <a:extLst xmlns:a="http://schemas.openxmlformats.org/drawingml/2006/main">
              <a:ext uri="{FF2B5EF4-FFF2-40B4-BE49-F238E27FC236}">
                <a16:creationId xmlns:a16="http://schemas.microsoft.com/office/drawing/2014/main" id="{8E9149ED-DD9A-478D-870E-8C8C59184395}"/>
              </a:ext>
            </a:extLst>
          </p:cNvPr>
          <p:cNvSpPr>
            <a:spLocks xmlns:a="http://schemas.openxmlformats.org/drawingml/2006/main" noGrp="1"/>
          </p:cNvSpPr>
          <p:nvPr/>
        </p:nvSpPr>
        <p:spPr>
          <a:xfrm xmlns:a="http://schemas.openxmlformats.org/drawingml/2006/main">
            <a:off x="609600" y="460057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866C"/>
                </a:solidFill>
                <a:latin typeface="Arial"/>
                <a:ea typeface="Arial"/>
                <a:cs typeface="Arial"/>
              </a:defRPr>
            </a:defPPr>
            <a:lvl1pPr algn="l">
              <a:defRPr sz="2700" b="1">
                <a:solidFill>
                  <a:srgbClr val="15866C"/>
                </a:solidFill>
                <a:latin typeface="Arial"/>
                <a:ea typeface="Arial"/>
                <a:cs typeface="Arial"/>
              </a:defRPr>
            </a:lvl1pPr>
            <a:lvl2pPr algn="l">
              <a:defRPr sz="2700" b="1">
                <a:solidFill>
                  <a:srgbClr val="15866C"/>
                </a:solidFill>
                <a:latin typeface="Arial"/>
                <a:ea typeface="Arial"/>
                <a:cs typeface="Arial"/>
              </a:defRPr>
            </a:lvl2pPr>
            <a:lvl3pPr algn="l">
              <a:defRPr sz="2700" b="1">
                <a:solidFill>
                  <a:srgbClr val="15866C"/>
                </a:solidFill>
                <a:latin typeface="Arial"/>
                <a:ea typeface="Arial"/>
                <a:cs typeface="Arial"/>
              </a:defRPr>
            </a:lvl3pPr>
            <a:lvl4pPr algn="l">
              <a:defRPr sz="2700" b="1">
                <a:solidFill>
                  <a:srgbClr val="15866C"/>
                </a:solidFill>
                <a:latin typeface="Arial"/>
                <a:ea typeface="Arial"/>
                <a:cs typeface="Arial"/>
              </a:defRPr>
            </a:lvl4pPr>
            <a:lvl5pPr algn="l">
              <a:defRPr sz="2700" b="1">
                <a:solidFill>
                  <a:srgbClr val="15866C"/>
                </a:solidFill>
                <a:latin typeface="Arial"/>
                <a:ea typeface="Arial"/>
                <a:cs typeface="Arial"/>
              </a:defRPr>
            </a:lvl5pPr>
            <a:lvl6pPr algn="l">
              <a:defRPr sz="2700" b="1">
                <a:solidFill>
                  <a:srgbClr val="15866C"/>
                </a:solidFill>
                <a:latin typeface="Arial"/>
                <a:ea typeface="Arial"/>
                <a:cs typeface="Arial"/>
              </a:defRPr>
            </a:lvl6pPr>
            <a:lvl7pPr algn="l">
              <a:defRPr sz="2700" b="1">
                <a:solidFill>
                  <a:srgbClr val="15866C"/>
                </a:solidFill>
                <a:latin typeface="Arial"/>
                <a:ea typeface="Arial"/>
                <a:cs typeface="Arial"/>
              </a:defRPr>
            </a:lvl7pPr>
            <a:lvl8pPr algn="l">
              <a:defRPr sz="2700" b="1">
                <a:solidFill>
                  <a:srgbClr val="15866C"/>
                </a:solidFill>
                <a:latin typeface="Arial"/>
                <a:ea typeface="Arial"/>
                <a:cs typeface="Arial"/>
              </a:defRPr>
            </a:lvl8pPr>
            <a:lvl9pPr algn="l">
              <a:defRPr sz="2700" b="1">
                <a:solidFill>
                  <a:srgbClr val="15866C"/>
                </a:solidFill>
                <a:latin typeface="Arial"/>
                <a:ea typeface="Arial"/>
                <a:cs typeface="Arial"/>
              </a:defRPr>
            </a:lvl9pPr>
          </a:lstStyle>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4</a:t>
            </a:r>
          </a:p>
        </p:txBody>
      </p:sp>
      <p:sp>
        <p:nvSpPr>
          <p:cNvPr id="19" name="Download the shortlist as a CSV">
            <a:extLst xmlns:a="http://schemas.openxmlformats.org/drawingml/2006/main">
              <a:ext uri="{FF2B5EF4-FFF2-40B4-BE49-F238E27FC236}">
                <a16:creationId xmlns:a16="http://schemas.microsoft.com/office/drawing/2014/main" id="{8F2F5263-3957-482C-B19A-AB8AB1CBBB0D}"/>
              </a:ext>
            </a:extLst>
          </p:cNvPr>
          <p:cNvSpPr>
            <a:spLocks xmlns:a="http://schemas.openxmlformats.org/drawingml/2006/main" noGrp="1"/>
          </p:cNvSpPr>
          <p:nvPr/>
        </p:nvSpPr>
        <p:spPr>
          <a:xfrm xmlns:a="http://schemas.openxmlformats.org/drawingml/2006/main">
            <a:off x="1295400" y="46577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Download the shortlist as a CSV</a:t>
            </a:r>
          </a:p>
        </p:txBody>
      </p:sp>
      <p:sp>
        <p:nvSpPr>
          <p:cNvPr id="20" name="Input checks">
            <a:extLst xmlns:a="http://schemas.openxmlformats.org/drawingml/2006/main">
              <a:ext uri="{FF2B5EF4-FFF2-40B4-BE49-F238E27FC236}">
                <a16:creationId xmlns:a16="http://schemas.microsoft.com/office/drawing/2014/main" id="{5D5D3318-AA27-426E-A388-CA8AECB5054B}"/>
              </a:ext>
            </a:extLst>
          </p:cNvPr>
          <p:cNvSpPr>
            <a:spLocks xmlns:a="http://schemas.openxmlformats.org/drawingml/2006/main" noGrp="1"/>
          </p:cNvSpPr>
          <p:nvPr/>
        </p:nvSpPr>
        <p:spPr>
          <a:xfrm xmlns:a="http://schemas.openxmlformats.org/drawingml/2006/main">
            <a:off x="8667750" y="2305050"/>
            <a:ext cx="289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defRPr sz="2175" b="1">
                <a:solidFill>
                  <a:srgbClr val="102C32"/>
                </a:solidFill>
                <a:latin typeface="Arial"/>
                <a:ea typeface="Arial"/>
                <a:cs typeface="Arial"/>
              </a:defRPr>
            </a:lvl1pPr>
            <a:lvl2pPr algn="l">
              <a:defRPr sz="2175" b="1">
                <a:solidFill>
                  <a:srgbClr val="102C32"/>
                </a:solidFill>
                <a:latin typeface="Arial"/>
                <a:ea typeface="Arial"/>
                <a:cs typeface="Arial"/>
              </a:defRPr>
            </a:lvl2pPr>
            <a:lvl3pPr algn="l">
              <a:defRPr sz="2175" b="1">
                <a:solidFill>
                  <a:srgbClr val="102C32"/>
                </a:solidFill>
                <a:latin typeface="Arial"/>
                <a:ea typeface="Arial"/>
                <a:cs typeface="Arial"/>
              </a:defRPr>
            </a:lvl3pPr>
            <a:lvl4pPr algn="l">
              <a:defRPr sz="2175" b="1">
                <a:solidFill>
                  <a:srgbClr val="102C32"/>
                </a:solidFill>
                <a:latin typeface="Arial"/>
                <a:ea typeface="Arial"/>
                <a:cs typeface="Arial"/>
              </a:defRPr>
            </a:lvl4pPr>
            <a:lvl5pPr algn="l">
              <a:defRPr sz="2175" b="1">
                <a:solidFill>
                  <a:srgbClr val="102C32"/>
                </a:solidFill>
                <a:latin typeface="Arial"/>
                <a:ea typeface="Arial"/>
                <a:cs typeface="Arial"/>
              </a:defRPr>
            </a:lvl5pPr>
            <a:lvl6pPr algn="l">
              <a:defRPr sz="2175" b="1">
                <a:solidFill>
                  <a:srgbClr val="102C32"/>
                </a:solidFill>
                <a:latin typeface="Arial"/>
                <a:ea typeface="Arial"/>
                <a:cs typeface="Arial"/>
              </a:defRPr>
            </a:lvl6pPr>
            <a:lvl7pPr algn="l">
              <a:defRPr sz="2175" b="1">
                <a:solidFill>
                  <a:srgbClr val="102C32"/>
                </a:solidFill>
                <a:latin typeface="Arial"/>
                <a:ea typeface="Arial"/>
                <a:cs typeface="Arial"/>
              </a:defRPr>
            </a:lvl7pPr>
            <a:lvl8pPr algn="l">
              <a:defRPr sz="2175" b="1">
                <a:solidFill>
                  <a:srgbClr val="102C32"/>
                </a:solidFill>
                <a:latin typeface="Arial"/>
                <a:ea typeface="Arial"/>
                <a:cs typeface="Arial"/>
              </a:defRPr>
            </a:lvl8pPr>
            <a:lvl9pPr algn="l">
              <a:defRPr sz="2175" b="1">
                <a:solidFill>
                  <a:srgbClr val="102C32"/>
                </a:solidFill>
                <a:latin typeface="Arial"/>
                <a:ea typeface="Arial"/>
                <a:cs typeface="Arial"/>
              </a:defRPr>
            </a:lvl9pPr>
          </a:lstStyle>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Input checks</a:t>
            </a:r>
          </a:p>
        </p:txBody>
      </p:sp>
      <p:sp>
        <p:nvSpPr>
          <p:cNvPr id="21" name="Missing fields and&#10;unsupported values&#10;trigger ">
            <a:extLst xmlns:a="http://schemas.openxmlformats.org/drawingml/2006/main">
              <a:ext uri="{FF2B5EF4-FFF2-40B4-BE49-F238E27FC236}">
                <a16:creationId xmlns:a16="http://schemas.microsoft.com/office/drawing/2014/main" id="{2D1314D4-8C31-4EFD-A377-80EC326A38BB}"/>
              </a:ext>
            </a:extLst>
          </p:cNvPr>
          <p:cNvSpPr>
            <a:spLocks xmlns:a="http://schemas.openxmlformats.org/drawingml/2006/main" noGrp="1"/>
          </p:cNvSpPr>
          <p:nvPr/>
        </p:nvSpPr>
        <p:spPr>
          <a:xfrm xmlns:a="http://schemas.openxmlformats.org/drawingml/2006/main">
            <a:off x="8667750" y="2867025"/>
            <a:ext cx="2895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Missing fields and</a:t>
            </a:r>
          </a:p>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unsupported values</a:t>
            </a:r>
          </a:p>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trigger a message.</a:t>
            </a:r>
          </a:p>
        </p:txBody>
      </p:sp>
      <p:sp>
        <p:nvSpPr>
          <p:cNvPr id="22" name="Human review">
            <a:extLst xmlns:a="http://schemas.openxmlformats.org/drawingml/2006/main">
              <a:ext uri="{FF2B5EF4-FFF2-40B4-BE49-F238E27FC236}">
                <a16:creationId xmlns:a16="http://schemas.microsoft.com/office/drawing/2014/main" id="{49FB3105-8DBD-4607-9103-5FD96697B135}"/>
              </a:ext>
            </a:extLst>
          </p:cNvPr>
          <p:cNvSpPr>
            <a:spLocks xmlns:a="http://schemas.openxmlformats.org/drawingml/2006/main" noGrp="1"/>
          </p:cNvSpPr>
          <p:nvPr/>
        </p:nvSpPr>
        <p:spPr>
          <a:xfrm xmlns:a="http://schemas.openxmlformats.org/drawingml/2006/main">
            <a:off x="8667750" y="4362450"/>
            <a:ext cx="289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defRPr sz="2175" b="1">
                <a:solidFill>
                  <a:srgbClr val="102C32"/>
                </a:solidFill>
                <a:latin typeface="Arial"/>
                <a:ea typeface="Arial"/>
                <a:cs typeface="Arial"/>
              </a:defRPr>
            </a:lvl1pPr>
            <a:lvl2pPr algn="l">
              <a:defRPr sz="2175" b="1">
                <a:solidFill>
                  <a:srgbClr val="102C32"/>
                </a:solidFill>
                <a:latin typeface="Arial"/>
                <a:ea typeface="Arial"/>
                <a:cs typeface="Arial"/>
              </a:defRPr>
            </a:lvl2pPr>
            <a:lvl3pPr algn="l">
              <a:defRPr sz="2175" b="1">
                <a:solidFill>
                  <a:srgbClr val="102C32"/>
                </a:solidFill>
                <a:latin typeface="Arial"/>
                <a:ea typeface="Arial"/>
                <a:cs typeface="Arial"/>
              </a:defRPr>
            </a:lvl3pPr>
            <a:lvl4pPr algn="l">
              <a:defRPr sz="2175" b="1">
                <a:solidFill>
                  <a:srgbClr val="102C32"/>
                </a:solidFill>
                <a:latin typeface="Arial"/>
                <a:ea typeface="Arial"/>
                <a:cs typeface="Arial"/>
              </a:defRPr>
            </a:lvl4pPr>
            <a:lvl5pPr algn="l">
              <a:defRPr sz="2175" b="1">
                <a:solidFill>
                  <a:srgbClr val="102C32"/>
                </a:solidFill>
                <a:latin typeface="Arial"/>
                <a:ea typeface="Arial"/>
                <a:cs typeface="Arial"/>
              </a:defRPr>
            </a:lvl5pPr>
            <a:lvl6pPr algn="l">
              <a:defRPr sz="2175" b="1">
                <a:solidFill>
                  <a:srgbClr val="102C32"/>
                </a:solidFill>
                <a:latin typeface="Arial"/>
                <a:ea typeface="Arial"/>
                <a:cs typeface="Arial"/>
              </a:defRPr>
            </a:lvl6pPr>
            <a:lvl7pPr algn="l">
              <a:defRPr sz="2175" b="1">
                <a:solidFill>
                  <a:srgbClr val="102C32"/>
                </a:solidFill>
                <a:latin typeface="Arial"/>
                <a:ea typeface="Arial"/>
                <a:cs typeface="Arial"/>
              </a:defRPr>
            </a:lvl7pPr>
            <a:lvl8pPr algn="l">
              <a:defRPr sz="2175" b="1">
                <a:solidFill>
                  <a:srgbClr val="102C32"/>
                </a:solidFill>
                <a:latin typeface="Arial"/>
                <a:ea typeface="Arial"/>
                <a:cs typeface="Arial"/>
              </a:defRPr>
            </a:lvl8pPr>
            <a:lvl9pPr algn="l">
              <a:defRPr sz="2175" b="1">
                <a:solidFill>
                  <a:srgbClr val="102C32"/>
                </a:solidFill>
                <a:latin typeface="Arial"/>
                <a:ea typeface="Arial"/>
                <a:cs typeface="Arial"/>
              </a:defRPr>
            </a:lvl9pPr>
          </a:lstStyle>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Human review</a:t>
            </a:r>
          </a:p>
        </p:txBody>
      </p:sp>
      <p:sp>
        <p:nvSpPr>
          <p:cNvPr id="23" name="Staff confirm the profile&#10;before any contact.">
            <a:extLst xmlns:a="http://schemas.openxmlformats.org/drawingml/2006/main">
              <a:ext uri="{FF2B5EF4-FFF2-40B4-BE49-F238E27FC236}">
                <a16:creationId xmlns:a16="http://schemas.microsoft.com/office/drawing/2014/main" id="{41C0C20B-5B8B-4731-BC27-F97BDDACD1A5}"/>
              </a:ext>
            </a:extLst>
          </p:cNvPr>
          <p:cNvSpPr>
            <a:spLocks xmlns:a="http://schemas.openxmlformats.org/drawingml/2006/main" noGrp="1"/>
          </p:cNvSpPr>
          <p:nvPr/>
        </p:nvSpPr>
        <p:spPr>
          <a:xfrm xmlns:a="http://schemas.openxmlformats.org/drawingml/2006/main">
            <a:off x="8667750" y="4924425"/>
            <a:ext cx="2895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Staff confirm the profile</a:t>
            </a:r>
          </a:p>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before any contact.</a:t>
            </a:r>
          </a:p>
        </p:txBody>
      </p:sp>
    </p:spTree>
    <p:extLst>
      <p:ext uri="{BB962C8B-B14F-4D97-AF65-F5344CB8AC3E}">
        <p14:creationId xmlns:p14="http://schemas.microsoft.com/office/powerpoint/2010/main" val="1024626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AA5CEE6-6AE2-402F-BDD1-D85F51EE4EE4}"/>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Customer details support human review</a:t>
            </a:r>
          </a:p>
        </p:txBody>
      </p:sp>
      <p:sp>
        <p:nvSpPr>
          <p:cNvPr id="2" name="MSBA265  /  Final Project Proposal">
            <a:extLst xmlns:a="http://schemas.openxmlformats.org/drawingml/2006/main">
              <a:ext uri="{FF2B5EF4-FFF2-40B4-BE49-F238E27FC236}">
                <a16:creationId xmlns:a16="http://schemas.microsoft.com/office/drawing/2014/main" id="{4AF14456-B774-4162-B506-BDEE2E5775F1}"/>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5">
            <a:extLst xmlns:a="http://schemas.openxmlformats.org/drawingml/2006/main">
              <a:ext uri="{FF2B5EF4-FFF2-40B4-BE49-F238E27FC236}">
                <a16:creationId xmlns:a16="http://schemas.microsoft.com/office/drawing/2014/main" id="{32DA9A77-595E-43E9-AF29-D60C0626B4CB}"/>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05</a:t>
            </a:r>
          </a:p>
        </p:txBody>
      </p:sp>
      <p:sp>
        <p:nvSpPr>
          <p:cNvPr id="10" name="Existing prototype capture">
            <a:extLst xmlns:a="http://schemas.openxmlformats.org/drawingml/2006/main">
              <a:ext uri="{FF2B5EF4-FFF2-40B4-BE49-F238E27FC236}">
                <a16:creationId xmlns:a16="http://schemas.microsoft.com/office/drawing/2014/main" id="{B04357F4-0907-45C3-A632-D0252CE44EBF}"/>
              </a:ext>
            </a:extLst>
          </p:cNvPr>
          <p:cNvSpPr>
            <a:spLocks xmlns:a="http://schemas.openxmlformats.org/drawingml/2006/main" noGrp="1"/>
          </p:cNvSpPr>
          <p:nvPr/>
        </p:nvSpPr>
        <p:spPr>
          <a:xfrm xmlns:a="http://schemas.openxmlformats.org/drawingml/2006/main">
            <a:off x="609600" y="14097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Existing prototype capture</a:t>
            </a:r>
          </a:p>
        </p:txBody>
      </p:sp>
      <p:sp>
        <p:nvSpPr>
          <p:cNvPr id="11" name="A reviewer can inspect the&#10;recorded profile al">
            <a:extLst xmlns:a="http://schemas.openxmlformats.org/drawingml/2006/main">
              <a:ext uri="{FF2B5EF4-FFF2-40B4-BE49-F238E27FC236}">
                <a16:creationId xmlns:a16="http://schemas.microsoft.com/office/drawing/2014/main" id="{49774007-B1F9-414B-968C-ABAB2880D5AF}"/>
              </a:ext>
            </a:extLst>
          </p:cNvPr>
          <p:cNvSpPr>
            <a:spLocks xmlns:a="http://schemas.openxmlformats.org/drawingml/2006/main" noGrp="1"/>
          </p:cNvSpPr>
          <p:nvPr/>
        </p:nvSpPr>
        <p:spPr>
          <a:xfrm xmlns:a="http://schemas.openxmlformats.org/drawingml/2006/main">
            <a:off x="609600" y="211455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C32"/>
                </a:solidFill>
                <a:latin typeface="Arial"/>
                <a:ea typeface="Arial"/>
                <a:cs typeface="Arial"/>
              </a:defRPr>
            </a:defPPr>
            <a:lvl1pPr algn="l">
              <a:defRPr sz="2250" b="0">
                <a:solidFill>
                  <a:srgbClr val="102C32"/>
                </a:solidFill>
                <a:latin typeface="Arial"/>
                <a:ea typeface="Arial"/>
                <a:cs typeface="Arial"/>
              </a:defRPr>
            </a:lvl1pPr>
            <a:lvl2pPr algn="l">
              <a:defRPr sz="2250" b="0">
                <a:solidFill>
                  <a:srgbClr val="102C32"/>
                </a:solidFill>
                <a:latin typeface="Arial"/>
                <a:ea typeface="Arial"/>
                <a:cs typeface="Arial"/>
              </a:defRPr>
            </a:lvl2pPr>
            <a:lvl3pPr algn="l">
              <a:defRPr sz="2250" b="0">
                <a:solidFill>
                  <a:srgbClr val="102C32"/>
                </a:solidFill>
                <a:latin typeface="Arial"/>
                <a:ea typeface="Arial"/>
                <a:cs typeface="Arial"/>
              </a:defRPr>
            </a:lvl3pPr>
            <a:lvl4pPr algn="l">
              <a:defRPr sz="2250" b="0">
                <a:solidFill>
                  <a:srgbClr val="102C32"/>
                </a:solidFill>
                <a:latin typeface="Arial"/>
                <a:ea typeface="Arial"/>
                <a:cs typeface="Arial"/>
              </a:defRPr>
            </a:lvl4pPr>
            <a:lvl5pPr algn="l">
              <a:defRPr sz="2250" b="0">
                <a:solidFill>
                  <a:srgbClr val="102C32"/>
                </a:solidFill>
                <a:latin typeface="Arial"/>
                <a:ea typeface="Arial"/>
                <a:cs typeface="Arial"/>
              </a:defRPr>
            </a:lvl5pPr>
            <a:lvl6pPr algn="l">
              <a:defRPr sz="2250" b="0">
                <a:solidFill>
                  <a:srgbClr val="102C32"/>
                </a:solidFill>
                <a:latin typeface="Arial"/>
                <a:ea typeface="Arial"/>
                <a:cs typeface="Arial"/>
              </a:defRPr>
            </a:lvl6pPr>
            <a:lvl7pPr algn="l">
              <a:defRPr sz="2250" b="0">
                <a:solidFill>
                  <a:srgbClr val="102C32"/>
                </a:solidFill>
                <a:latin typeface="Arial"/>
                <a:ea typeface="Arial"/>
                <a:cs typeface="Arial"/>
              </a:defRPr>
            </a:lvl7pPr>
            <a:lvl8pPr algn="l">
              <a:defRPr sz="2250" b="0">
                <a:solidFill>
                  <a:srgbClr val="102C32"/>
                </a:solidFill>
                <a:latin typeface="Arial"/>
                <a:ea typeface="Arial"/>
                <a:cs typeface="Arial"/>
              </a:defRPr>
            </a:lvl8pPr>
            <a:lvl9pPr algn="l">
              <a:defRPr sz="2250" b="0">
                <a:solidFill>
                  <a:srgbClr val="102C32"/>
                </a:solidFill>
                <a:latin typeface="Arial"/>
                <a:ea typeface="Arial"/>
                <a:cs typeface="Arial"/>
              </a:defRPr>
            </a:lvl9pPr>
          </a:lstStyle>
          <a:p xmlns:a="http://schemas.openxmlformats.org/drawingml/2006/main">
            <a:pPr algn="l">
              <a:defRPr sz="2250" b="0">
                <a:solidFill>
                  <a:srgbClr val="102C32"/>
                </a:solidFill>
                <a:latin typeface="Arial"/>
                <a:ea typeface="Arial"/>
                <a:cs typeface="Arial"/>
              </a:defRPr>
            </a:pPr>
            <a:r>
              <a:rPr sz="2250" b="0">
                <a:solidFill>
                  <a:srgbClr val="102C32"/>
                </a:solidFill>
                <a:latin typeface="Arial"/>
                <a:ea typeface="Arial"/>
                <a:cs typeface="Arial"/>
              </a:rPr>
              <a:t>A reviewer can inspect the</a:t>
            </a:r>
          </a:p>
          <a:p xmlns:a="http://schemas.openxmlformats.org/drawingml/2006/main">
            <a:pPr algn="l">
              <a:defRPr sz="2250" b="0">
                <a:solidFill>
                  <a:srgbClr val="102C32"/>
                </a:solidFill>
                <a:latin typeface="Arial"/>
                <a:ea typeface="Arial"/>
                <a:cs typeface="Arial"/>
              </a:defRPr>
            </a:pPr>
            <a:r>
              <a:rPr sz="2250" b="0">
                <a:solidFill>
                  <a:srgbClr val="102C32"/>
                </a:solidFill>
                <a:latin typeface="Arial"/>
                <a:ea typeface="Arial"/>
                <a:cs typeface="Arial"/>
              </a:rPr>
              <a:t>recorded profile alongside</a:t>
            </a:r>
          </a:p>
          <a:p xmlns:a="http://schemas.openxmlformats.org/drawingml/2006/main">
            <a:pPr algn="l">
              <a:defRPr sz="2250" b="0">
                <a:solidFill>
                  <a:srgbClr val="102C32"/>
                </a:solidFill>
                <a:latin typeface="Arial"/>
                <a:ea typeface="Arial"/>
                <a:cs typeface="Arial"/>
              </a:defRPr>
            </a:pPr>
            <a:r>
              <a:rPr sz="2250" b="0">
                <a:solidFill>
                  <a:srgbClr val="102C32"/>
                </a:solidFill>
                <a:latin typeface="Arial"/>
                <a:ea typeface="Arial"/>
                <a:cs typeface="Arial"/>
              </a:rPr>
              <a:t>questions for a conversation.</a:t>
            </a:r>
          </a:p>
        </p:txBody>
      </p:sp>
      <p:sp>
        <p:nvSpPr>
          <p:cNvPr id="12" name="Confirm charging access and&#10;travel needs with ">
            <a:extLst xmlns:a="http://schemas.openxmlformats.org/drawingml/2006/main">
              <a:ext uri="{FF2B5EF4-FFF2-40B4-BE49-F238E27FC236}">
                <a16:creationId xmlns:a16="http://schemas.microsoft.com/office/drawing/2014/main" id="{904EB68E-615D-4183-AA14-6BD60DB77D24}"/>
              </a:ext>
            </a:extLst>
          </p:cNvPr>
          <p:cNvSpPr>
            <a:spLocks xmlns:a="http://schemas.openxmlformats.org/drawingml/2006/main" noGrp="1"/>
          </p:cNvSpPr>
          <p:nvPr/>
        </p:nvSpPr>
        <p:spPr>
          <a:xfrm xmlns:a="http://schemas.openxmlformats.org/drawingml/2006/main">
            <a:off x="609600" y="3829050"/>
            <a:ext cx="4857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defRPr sz="2175" b="0">
                <a:solidFill>
                  <a:srgbClr val="102C32"/>
                </a:solidFill>
                <a:latin typeface="Arial"/>
                <a:ea typeface="Arial"/>
                <a:cs typeface="Arial"/>
              </a:defRPr>
            </a:lvl1pPr>
            <a:lvl2pPr algn="l">
              <a:defRPr sz="2175" b="0">
                <a:solidFill>
                  <a:srgbClr val="102C32"/>
                </a:solidFill>
                <a:latin typeface="Arial"/>
                <a:ea typeface="Arial"/>
                <a:cs typeface="Arial"/>
              </a:defRPr>
            </a:lvl2pPr>
            <a:lvl3pPr algn="l">
              <a:defRPr sz="2175" b="0">
                <a:solidFill>
                  <a:srgbClr val="102C32"/>
                </a:solidFill>
                <a:latin typeface="Arial"/>
                <a:ea typeface="Arial"/>
                <a:cs typeface="Arial"/>
              </a:defRPr>
            </a:lvl3pPr>
            <a:lvl4pPr algn="l">
              <a:defRPr sz="2175" b="0">
                <a:solidFill>
                  <a:srgbClr val="102C32"/>
                </a:solidFill>
                <a:latin typeface="Arial"/>
                <a:ea typeface="Arial"/>
                <a:cs typeface="Arial"/>
              </a:defRPr>
            </a:lvl4pPr>
            <a:lvl5pPr algn="l">
              <a:defRPr sz="2175" b="0">
                <a:solidFill>
                  <a:srgbClr val="102C32"/>
                </a:solidFill>
                <a:latin typeface="Arial"/>
                <a:ea typeface="Arial"/>
                <a:cs typeface="Arial"/>
              </a:defRPr>
            </a:lvl5pPr>
            <a:lvl6pPr algn="l">
              <a:defRPr sz="2175" b="0">
                <a:solidFill>
                  <a:srgbClr val="102C32"/>
                </a:solidFill>
                <a:latin typeface="Arial"/>
                <a:ea typeface="Arial"/>
                <a:cs typeface="Arial"/>
              </a:defRPr>
            </a:lvl6pPr>
            <a:lvl7pPr algn="l">
              <a:defRPr sz="2175" b="0">
                <a:solidFill>
                  <a:srgbClr val="102C32"/>
                </a:solidFill>
                <a:latin typeface="Arial"/>
                <a:ea typeface="Arial"/>
                <a:cs typeface="Arial"/>
              </a:defRPr>
            </a:lvl7pPr>
            <a:lvl8pPr algn="l">
              <a:defRPr sz="2175" b="0">
                <a:solidFill>
                  <a:srgbClr val="102C32"/>
                </a:solidFill>
                <a:latin typeface="Arial"/>
                <a:ea typeface="Arial"/>
                <a:cs typeface="Arial"/>
              </a:defRPr>
            </a:lvl8pPr>
            <a:lvl9pPr algn="l">
              <a:defRPr sz="2175" b="0">
                <a:solidFill>
                  <a:srgbClr val="102C32"/>
                </a:solidFill>
                <a:latin typeface="Arial"/>
                <a:ea typeface="Arial"/>
                <a:cs typeface="Arial"/>
              </a:defRPr>
            </a:lvl9pPr>
          </a:lstStyle>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Confirm charging access and</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travel needs with the customer.</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Recorded fields can be incomplete.</a:t>
            </a:r>
          </a:p>
        </p:txBody>
      </p:sp>
      <p:sp>
        <p:nvSpPr>
          <p:cNvPr id="13" name="Synthetic profile example">
            <a:extLst xmlns:a="http://schemas.openxmlformats.org/drawingml/2006/main">
              <a:ext uri="{FF2B5EF4-FFF2-40B4-BE49-F238E27FC236}">
                <a16:creationId xmlns:a16="http://schemas.microsoft.com/office/drawing/2014/main" id="{56C156BE-276D-4A4D-9D6A-A07FE81CB6CF}"/>
              </a:ext>
            </a:extLst>
          </p:cNvPr>
          <p:cNvSpPr>
            <a:spLocks xmlns:a="http://schemas.openxmlformats.org/drawingml/2006/main" noGrp="1"/>
          </p:cNvSpPr>
          <p:nvPr/>
        </p:nvSpPr>
        <p:spPr>
          <a:xfrm xmlns:a="http://schemas.openxmlformats.org/drawingml/2006/main">
            <a:off x="609600" y="56292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96168"/>
                </a:solidFill>
                <a:latin typeface="Arial"/>
                <a:ea typeface="Arial"/>
                <a:cs typeface="Arial"/>
              </a:defRPr>
            </a:defPPr>
            <a:lvl1pPr algn="l">
              <a:defRPr sz="1875" b="0">
                <a:solidFill>
                  <a:srgbClr val="496168"/>
                </a:solidFill>
                <a:latin typeface="Arial"/>
                <a:ea typeface="Arial"/>
                <a:cs typeface="Arial"/>
              </a:defRPr>
            </a:lvl1pPr>
            <a:lvl2pPr algn="l">
              <a:defRPr sz="1875" b="0">
                <a:solidFill>
                  <a:srgbClr val="496168"/>
                </a:solidFill>
                <a:latin typeface="Arial"/>
                <a:ea typeface="Arial"/>
                <a:cs typeface="Arial"/>
              </a:defRPr>
            </a:lvl2pPr>
            <a:lvl3pPr algn="l">
              <a:defRPr sz="1875" b="0">
                <a:solidFill>
                  <a:srgbClr val="496168"/>
                </a:solidFill>
                <a:latin typeface="Arial"/>
                <a:ea typeface="Arial"/>
                <a:cs typeface="Arial"/>
              </a:defRPr>
            </a:lvl3pPr>
            <a:lvl4pPr algn="l">
              <a:defRPr sz="1875" b="0">
                <a:solidFill>
                  <a:srgbClr val="496168"/>
                </a:solidFill>
                <a:latin typeface="Arial"/>
                <a:ea typeface="Arial"/>
                <a:cs typeface="Arial"/>
              </a:defRPr>
            </a:lvl4pPr>
            <a:lvl5pPr algn="l">
              <a:defRPr sz="1875" b="0">
                <a:solidFill>
                  <a:srgbClr val="496168"/>
                </a:solidFill>
                <a:latin typeface="Arial"/>
                <a:ea typeface="Arial"/>
                <a:cs typeface="Arial"/>
              </a:defRPr>
            </a:lvl5pPr>
            <a:lvl6pPr algn="l">
              <a:defRPr sz="1875" b="0">
                <a:solidFill>
                  <a:srgbClr val="496168"/>
                </a:solidFill>
                <a:latin typeface="Arial"/>
                <a:ea typeface="Arial"/>
                <a:cs typeface="Arial"/>
              </a:defRPr>
            </a:lvl6pPr>
            <a:lvl7pPr algn="l">
              <a:defRPr sz="1875" b="0">
                <a:solidFill>
                  <a:srgbClr val="496168"/>
                </a:solidFill>
                <a:latin typeface="Arial"/>
                <a:ea typeface="Arial"/>
                <a:cs typeface="Arial"/>
              </a:defRPr>
            </a:lvl7pPr>
            <a:lvl8pPr algn="l">
              <a:defRPr sz="1875" b="0">
                <a:solidFill>
                  <a:srgbClr val="496168"/>
                </a:solidFill>
                <a:latin typeface="Arial"/>
                <a:ea typeface="Arial"/>
                <a:cs typeface="Arial"/>
              </a:defRPr>
            </a:lvl8pPr>
            <a:lvl9pPr algn="l">
              <a:defRPr sz="1875" b="0">
                <a:solidFill>
                  <a:srgbClr val="496168"/>
                </a:solidFill>
                <a:latin typeface="Arial"/>
                <a:ea typeface="Arial"/>
                <a:cs typeface="Arial"/>
              </a:defRPr>
            </a:lvl9pPr>
          </a:lstStyle>
          <a:p xmlns:a="http://schemas.openxmlformats.org/drawingml/2006/main">
            <a:pPr algn="l">
              <a:defRPr sz="1875" b="0">
                <a:solidFill>
                  <a:srgbClr val="496168"/>
                </a:solidFill>
                <a:latin typeface="Arial"/>
                <a:ea typeface="Arial"/>
                <a:cs typeface="Arial"/>
              </a:defRPr>
            </a:pPr>
            <a:r>
              <a:rPr sz="1875" b="0">
                <a:solidFill>
                  <a:srgbClr val="496168"/>
                </a:solidFill>
                <a:latin typeface="Arial"/>
                <a:ea typeface="Arial"/>
                <a:cs typeface="Arial"/>
              </a:rPr>
              <a:t>Synthetic profile example</a:t>
            </a:r>
          </a:p>
        </p:txBody>
      </p:sp>
      <p:pic>
        <p:nvPicPr>
          <p:cNvPr id="14" name="">
            <a:extLst xmlns:a="http://schemas.openxmlformats.org/drawingml/2006/main">
              <a:ext uri="{FF2B5EF4-FFF2-40B4-BE49-F238E27FC236}">
                <a16:creationId xmlns:a16="http://schemas.microsoft.com/office/drawing/2014/main" id="{ABA84B6D-2A49-40CC-B084-6A446A4C8352}"/>
              </a:ext>
            </a:extLst>
          </p:cNvPr>
          <p:cNvPicPr>
            <a:picLocks xmlns:a="http://schemas.openxmlformats.org/drawingml/2006/main" noChangeAspect="1"/>
          </p:cNvPicPr>
          <p:nvPr/>
        </p:nvPicPr>
        <p:blipFill>
          <a:blip xmlns:r="http://schemas.openxmlformats.org/officeDocument/2006/relationships" xmlns:a="http://schemas.openxmlformats.org/drawingml/2006/main" r:embed="Rb702a9e609d94aa4"/>
          <a:stretch xmlns:a="http://schemas.openxmlformats.org/drawingml/2006/main"/>
        </p:blipFill>
        <p:spPr>
          <a:xfrm xmlns:a="http://schemas.openxmlformats.org/drawingml/2006/main">
            <a:off x="6092794" y="1362075"/>
            <a:ext cx="5397562" cy="4867275"/>
          </a:xfrm>
          <a:prstGeom xmlns:a="http://schemas.openxmlformats.org/drawingml/2006/main" prst="rect">
            <a:avLst/>
          </a:prstGeom>
        </p:spPr>
      </p:pic>
    </p:spTree>
    <p:extLst>
      <p:ext uri="{BB962C8B-B14F-4D97-AF65-F5344CB8AC3E}">
        <p14:creationId xmlns:p14="http://schemas.microsoft.com/office/powerpoint/2010/main" val="17598788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CCD8E26-9D54-4087-9499-66081B81818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top 10% contains more Yes labels</a:t>
            </a:r>
          </a:p>
        </p:txBody>
      </p:sp>
      <p:sp>
        <p:nvSpPr>
          <p:cNvPr id="2" name="MSBA265  /  Final Project Proposal">
            <a:extLst xmlns:a="http://schemas.openxmlformats.org/drawingml/2006/main">
              <a:ext uri="{FF2B5EF4-FFF2-40B4-BE49-F238E27FC236}">
                <a16:creationId xmlns:a16="http://schemas.microsoft.com/office/drawing/2014/main" id="{55652EEF-79EE-4C51-9407-210BBEB9F757}"/>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6">
            <a:extLst xmlns:a="http://schemas.openxmlformats.org/drawingml/2006/main">
              <a:ext uri="{FF2B5EF4-FFF2-40B4-BE49-F238E27FC236}">
                <a16:creationId xmlns:a16="http://schemas.microsoft.com/office/drawing/2014/main" id="{33611F07-FC7E-4E62-B3E2-47037749D647}"/>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06</a:t>
            </a:r>
          </a:p>
        </p:txBody>
      </p:sp>
      <p:sp>
        <p:nvSpPr>
          <p:cNvPr id="9" name="About 79 in 100 shortlisted profiles carry a Y">
            <a:extLst xmlns:a="http://schemas.openxmlformats.org/drawingml/2006/main">
              <a:ext uri="{FF2B5EF4-FFF2-40B4-BE49-F238E27FC236}">
                <a16:creationId xmlns:a16="http://schemas.microsoft.com/office/drawing/2014/main" id="{F6B43F4C-15AF-4B8A-A57B-B13F7EE215C4}"/>
              </a:ext>
            </a:extLst>
          </p:cNvPr>
          <p:cNvSpPr>
            <a:spLocks xmlns:a="http://schemas.openxmlformats.org/drawingml/2006/main" noGrp="1"/>
          </p:cNvSpPr>
          <p:nvPr/>
        </p:nvSpPr>
        <p:spPr>
          <a:xfrm xmlns:a="http://schemas.openxmlformats.org/drawingml/2006/main">
            <a:off x="609600" y="13716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About 79 in 100 shortlisted profiles carry a Yes label</a:t>
            </a:r>
          </a:p>
        </p:txBody>
      </p:sp>
      <p:graphicFrame>
        <p:nvGraphicFramePr>
          <p:cNvPr id="10" name="Chart">
            <a:extLst xmlns:a="http://schemas.openxmlformats.org/drawingml/2006/main">
              <a:ext uri="{FF2B5EF4-FFF2-40B4-BE49-F238E27FC236}">
                <a16:creationId xmlns:a16="http://schemas.microsoft.com/office/drawing/2014/main" id="{C50E1EFB-49D7-4081-80E9-9611FBD2F5B7}"/>
              </a:ext>
            </a:extLst>
          </p:cNvPr>
          <p:cNvGraphicFramePr/>
          <p:nvPr/>
        </p:nvGraphicFramePr>
        <p:xfrm>
          <a:off xmlns:a="http://schemas.openxmlformats.org/drawingml/2006/main" x="609600" y="2190750"/>
          <a:ext xmlns:a="http://schemas.openxmlformats.org/drawingml/2006/main" cx="7000875" cy="3409950"/>
        </p:xfrm>
        <a:graphic xmlns:a="http://schemas.openxmlformats.org/drawingml/2006/main">
          <a:graphicData uri="http://schemas.openxmlformats.org/drawingml/2006/chart">
            <c:chart xmlns:r="http://schemas.openxmlformats.org/officeDocument/2006/relationships" xmlns:c="http://schemas.openxmlformats.org/drawingml/2006/chart" r:id="Re226cf20d0734c8c"/>
          </a:graphicData>
        </a:graphic>
      </p:graphicFrame>
      <p:sp>
        <p:nvSpPr>
          <p:cNvPr id="11" name="10,030">
            <a:extLst xmlns:a="http://schemas.openxmlformats.org/drawingml/2006/main">
              <a:ext uri="{FF2B5EF4-FFF2-40B4-BE49-F238E27FC236}">
                <a16:creationId xmlns:a16="http://schemas.microsoft.com/office/drawing/2014/main" id="{C1DDA422-F27A-4269-9B6D-BCA90FD089A4}"/>
              </a:ext>
            </a:extLst>
          </p:cNvPr>
          <p:cNvSpPr>
            <a:spLocks xmlns:a="http://schemas.openxmlformats.org/drawingml/2006/main" noGrp="1"/>
          </p:cNvSpPr>
          <p:nvPr/>
        </p:nvSpPr>
        <p:spPr>
          <a:xfrm xmlns:a="http://schemas.openxmlformats.org/drawingml/2006/main">
            <a:off x="8286750" y="2381250"/>
            <a:ext cx="327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15866C"/>
                </a:solidFill>
                <a:latin typeface="Arial"/>
                <a:ea typeface="Arial"/>
                <a:cs typeface="Arial"/>
              </a:defRPr>
            </a:defPPr>
            <a:lvl1pPr algn="l">
              <a:defRPr sz="3825" b="1">
                <a:solidFill>
                  <a:srgbClr val="15866C"/>
                </a:solidFill>
                <a:latin typeface="Arial"/>
                <a:ea typeface="Arial"/>
                <a:cs typeface="Arial"/>
              </a:defRPr>
            </a:lvl1pPr>
            <a:lvl2pPr algn="l">
              <a:defRPr sz="3825" b="1">
                <a:solidFill>
                  <a:srgbClr val="15866C"/>
                </a:solidFill>
                <a:latin typeface="Arial"/>
                <a:ea typeface="Arial"/>
                <a:cs typeface="Arial"/>
              </a:defRPr>
            </a:lvl2pPr>
            <a:lvl3pPr algn="l">
              <a:defRPr sz="3825" b="1">
                <a:solidFill>
                  <a:srgbClr val="15866C"/>
                </a:solidFill>
                <a:latin typeface="Arial"/>
                <a:ea typeface="Arial"/>
                <a:cs typeface="Arial"/>
              </a:defRPr>
            </a:lvl3pPr>
            <a:lvl4pPr algn="l">
              <a:defRPr sz="3825" b="1">
                <a:solidFill>
                  <a:srgbClr val="15866C"/>
                </a:solidFill>
                <a:latin typeface="Arial"/>
                <a:ea typeface="Arial"/>
                <a:cs typeface="Arial"/>
              </a:defRPr>
            </a:lvl4pPr>
            <a:lvl5pPr algn="l">
              <a:defRPr sz="3825" b="1">
                <a:solidFill>
                  <a:srgbClr val="15866C"/>
                </a:solidFill>
                <a:latin typeface="Arial"/>
                <a:ea typeface="Arial"/>
                <a:cs typeface="Arial"/>
              </a:defRPr>
            </a:lvl5pPr>
            <a:lvl6pPr algn="l">
              <a:defRPr sz="3825" b="1">
                <a:solidFill>
                  <a:srgbClr val="15866C"/>
                </a:solidFill>
                <a:latin typeface="Arial"/>
                <a:ea typeface="Arial"/>
                <a:cs typeface="Arial"/>
              </a:defRPr>
            </a:lvl6pPr>
            <a:lvl7pPr algn="l">
              <a:defRPr sz="3825" b="1">
                <a:solidFill>
                  <a:srgbClr val="15866C"/>
                </a:solidFill>
                <a:latin typeface="Arial"/>
                <a:ea typeface="Arial"/>
                <a:cs typeface="Arial"/>
              </a:defRPr>
            </a:lvl7pPr>
            <a:lvl8pPr algn="l">
              <a:defRPr sz="3825" b="1">
                <a:solidFill>
                  <a:srgbClr val="15866C"/>
                </a:solidFill>
                <a:latin typeface="Arial"/>
                <a:ea typeface="Arial"/>
                <a:cs typeface="Arial"/>
              </a:defRPr>
            </a:lvl8pPr>
            <a:lvl9pPr algn="l">
              <a:defRPr sz="3825" b="1">
                <a:solidFill>
                  <a:srgbClr val="15866C"/>
                </a:solidFill>
                <a:latin typeface="Arial"/>
                <a:ea typeface="Arial"/>
                <a:cs typeface="Arial"/>
              </a:defRPr>
            </a:lvl9pPr>
          </a:lstStyle>
          <a:p xmlns:a="http://schemas.openxmlformats.org/drawingml/2006/main">
            <a:pPr algn="l">
              <a:defRPr sz="3825" b="1">
                <a:solidFill>
                  <a:srgbClr val="15866C"/>
                </a:solidFill>
                <a:latin typeface="Arial"/>
                <a:ea typeface="Arial"/>
                <a:cs typeface="Arial"/>
              </a:defRPr>
            </a:pPr>
            <a:r>
              <a:rPr sz="3825" b="1">
                <a:solidFill>
                  <a:srgbClr val="15866C"/>
                </a:solidFill>
                <a:latin typeface="Arial"/>
                <a:ea typeface="Arial"/>
                <a:cs typeface="Arial"/>
              </a:rPr>
              <a:t>10,030</a:t>
            </a:r>
          </a:p>
        </p:txBody>
      </p:sp>
      <p:sp>
        <p:nvSpPr>
          <p:cNvPr id="12" name="profiles selected from&#10;100,300 evaluation prof">
            <a:extLst xmlns:a="http://schemas.openxmlformats.org/drawingml/2006/main">
              <a:ext uri="{FF2B5EF4-FFF2-40B4-BE49-F238E27FC236}">
                <a16:creationId xmlns:a16="http://schemas.microsoft.com/office/drawing/2014/main" id="{0201E500-6600-41FB-98F4-3FE772E0E5B0}"/>
              </a:ext>
            </a:extLst>
          </p:cNvPr>
          <p:cNvSpPr>
            <a:spLocks xmlns:a="http://schemas.openxmlformats.org/drawingml/2006/main" noGrp="1"/>
          </p:cNvSpPr>
          <p:nvPr/>
        </p:nvSpPr>
        <p:spPr>
          <a:xfrm xmlns:a="http://schemas.openxmlformats.org/drawingml/2006/main">
            <a:off x="8286750" y="3105150"/>
            <a:ext cx="3276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profiles selected from</a:t>
            </a:r>
          </a:p>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100,300 evaluation profiles</a:t>
            </a:r>
          </a:p>
        </p:txBody>
      </p:sp>
      <p:sp>
        <p:nvSpPr>
          <p:cNvPr id="13" name="4.51 times">
            <a:extLst xmlns:a="http://schemas.openxmlformats.org/drawingml/2006/main">
              <a:ext uri="{FF2B5EF4-FFF2-40B4-BE49-F238E27FC236}">
                <a16:creationId xmlns:a16="http://schemas.microsoft.com/office/drawing/2014/main" id="{25D902C3-1B3C-488F-8ECC-31F27F9664BC}"/>
              </a:ext>
            </a:extLst>
          </p:cNvPr>
          <p:cNvSpPr>
            <a:spLocks xmlns:a="http://schemas.openxmlformats.org/drawingml/2006/main" noGrp="1"/>
          </p:cNvSpPr>
          <p:nvPr/>
        </p:nvSpPr>
        <p:spPr>
          <a:xfrm xmlns:a="http://schemas.openxmlformats.org/drawingml/2006/main">
            <a:off x="8286750" y="4324350"/>
            <a:ext cx="327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02C32"/>
                </a:solidFill>
                <a:latin typeface="Arial"/>
                <a:ea typeface="Arial"/>
                <a:cs typeface="Arial"/>
              </a:defRPr>
            </a:defPPr>
            <a:lvl1pPr algn="l">
              <a:defRPr sz="3000" b="1">
                <a:solidFill>
                  <a:srgbClr val="102C32"/>
                </a:solidFill>
                <a:latin typeface="Arial"/>
                <a:ea typeface="Arial"/>
                <a:cs typeface="Arial"/>
              </a:defRPr>
            </a:lvl1pPr>
            <a:lvl2pPr algn="l">
              <a:defRPr sz="3000" b="1">
                <a:solidFill>
                  <a:srgbClr val="102C32"/>
                </a:solidFill>
                <a:latin typeface="Arial"/>
                <a:ea typeface="Arial"/>
                <a:cs typeface="Arial"/>
              </a:defRPr>
            </a:lvl2pPr>
            <a:lvl3pPr algn="l">
              <a:defRPr sz="3000" b="1">
                <a:solidFill>
                  <a:srgbClr val="102C32"/>
                </a:solidFill>
                <a:latin typeface="Arial"/>
                <a:ea typeface="Arial"/>
                <a:cs typeface="Arial"/>
              </a:defRPr>
            </a:lvl3pPr>
            <a:lvl4pPr algn="l">
              <a:defRPr sz="3000" b="1">
                <a:solidFill>
                  <a:srgbClr val="102C32"/>
                </a:solidFill>
                <a:latin typeface="Arial"/>
                <a:ea typeface="Arial"/>
                <a:cs typeface="Arial"/>
              </a:defRPr>
            </a:lvl4pPr>
            <a:lvl5pPr algn="l">
              <a:defRPr sz="3000" b="1">
                <a:solidFill>
                  <a:srgbClr val="102C32"/>
                </a:solidFill>
                <a:latin typeface="Arial"/>
                <a:ea typeface="Arial"/>
                <a:cs typeface="Arial"/>
              </a:defRPr>
            </a:lvl5pPr>
            <a:lvl6pPr algn="l">
              <a:defRPr sz="3000" b="1">
                <a:solidFill>
                  <a:srgbClr val="102C32"/>
                </a:solidFill>
                <a:latin typeface="Arial"/>
                <a:ea typeface="Arial"/>
                <a:cs typeface="Arial"/>
              </a:defRPr>
            </a:lvl6pPr>
            <a:lvl7pPr algn="l">
              <a:defRPr sz="3000" b="1">
                <a:solidFill>
                  <a:srgbClr val="102C32"/>
                </a:solidFill>
                <a:latin typeface="Arial"/>
                <a:ea typeface="Arial"/>
                <a:cs typeface="Arial"/>
              </a:defRPr>
            </a:lvl7pPr>
            <a:lvl8pPr algn="l">
              <a:defRPr sz="3000" b="1">
                <a:solidFill>
                  <a:srgbClr val="102C32"/>
                </a:solidFill>
                <a:latin typeface="Arial"/>
                <a:ea typeface="Arial"/>
                <a:cs typeface="Arial"/>
              </a:defRPr>
            </a:lvl8pPr>
            <a:lvl9pPr algn="l">
              <a:defRPr sz="3000" b="1">
                <a:solidFill>
                  <a:srgbClr val="102C32"/>
                </a:solidFill>
                <a:latin typeface="Arial"/>
                <a:ea typeface="Arial"/>
                <a:cs typeface="Arial"/>
              </a:defRPr>
            </a:lvl9pPr>
          </a:lstStyle>
          <a:p xmlns:a="http://schemas.openxmlformats.org/drawingml/2006/main">
            <a:pPr algn="l">
              <a:defRPr sz="3000" b="1">
                <a:solidFill>
                  <a:srgbClr val="102C32"/>
                </a:solidFill>
                <a:latin typeface="Arial"/>
                <a:ea typeface="Arial"/>
                <a:cs typeface="Arial"/>
              </a:defRPr>
            </a:pPr>
            <a:r>
              <a:rPr sz="3000" b="1">
                <a:solidFill>
                  <a:srgbClr val="102C32"/>
                </a:solidFill>
                <a:latin typeface="Arial"/>
                <a:ea typeface="Arial"/>
                <a:cs typeface="Arial"/>
              </a:rPr>
              <a:t>4.51 times</a:t>
            </a:r>
          </a:p>
        </p:txBody>
      </p:sp>
      <p:sp>
        <p:nvSpPr>
          <p:cNvPr id="14" name="the overall Yes-label share">
            <a:extLst xmlns:a="http://schemas.openxmlformats.org/drawingml/2006/main">
              <a:ext uri="{FF2B5EF4-FFF2-40B4-BE49-F238E27FC236}">
                <a16:creationId xmlns:a16="http://schemas.microsoft.com/office/drawing/2014/main" id="{DED82B16-6B86-45CF-8154-6DA8557D93BB}"/>
              </a:ext>
            </a:extLst>
          </p:cNvPr>
          <p:cNvSpPr>
            <a:spLocks xmlns:a="http://schemas.openxmlformats.org/drawingml/2006/main" noGrp="1"/>
          </p:cNvSpPr>
          <p:nvPr/>
        </p:nvSpPr>
        <p:spPr>
          <a:xfrm xmlns:a="http://schemas.openxmlformats.org/drawingml/2006/main">
            <a:off x="8286750" y="4933950"/>
            <a:ext cx="327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the overall Yes-label share</a:t>
            </a:r>
          </a:p>
        </p:txBody>
      </p:sp>
      <p:sp>
        <p:nvSpPr>
          <p:cNvPr id="15" name="Synthetic evaluation results. Actual outreach ">
            <a:extLst xmlns:a="http://schemas.openxmlformats.org/drawingml/2006/main">
              <a:ext uri="{FF2B5EF4-FFF2-40B4-BE49-F238E27FC236}">
                <a16:creationId xmlns:a16="http://schemas.microsoft.com/office/drawing/2014/main" id="{D329966A-31E0-4AD5-B668-4BD5F65D8936}"/>
              </a:ext>
            </a:extLst>
          </p:cNvPr>
          <p:cNvSpPr>
            <a:spLocks xmlns:a="http://schemas.openxmlformats.org/drawingml/2006/main" noGrp="1"/>
          </p:cNvSpPr>
          <p:nvPr/>
        </p:nvSpPr>
        <p:spPr>
          <a:xfrm xmlns:a="http://schemas.openxmlformats.org/drawingml/2006/main">
            <a:off x="609600" y="5848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02C32"/>
                </a:solidFill>
                <a:latin typeface="Arial"/>
                <a:ea typeface="Arial"/>
                <a:cs typeface="Arial"/>
              </a:defRPr>
            </a:defPPr>
            <a:lvl1pPr algn="l">
              <a:defRPr sz="1875" b="1">
                <a:solidFill>
                  <a:srgbClr val="102C32"/>
                </a:solidFill>
                <a:latin typeface="Arial"/>
                <a:ea typeface="Arial"/>
                <a:cs typeface="Arial"/>
              </a:defRPr>
            </a:lvl1pPr>
            <a:lvl2pPr algn="l">
              <a:defRPr sz="1875" b="1">
                <a:solidFill>
                  <a:srgbClr val="102C32"/>
                </a:solidFill>
                <a:latin typeface="Arial"/>
                <a:ea typeface="Arial"/>
                <a:cs typeface="Arial"/>
              </a:defRPr>
            </a:lvl2pPr>
            <a:lvl3pPr algn="l">
              <a:defRPr sz="1875" b="1">
                <a:solidFill>
                  <a:srgbClr val="102C32"/>
                </a:solidFill>
                <a:latin typeface="Arial"/>
                <a:ea typeface="Arial"/>
                <a:cs typeface="Arial"/>
              </a:defRPr>
            </a:lvl3pPr>
            <a:lvl4pPr algn="l">
              <a:defRPr sz="1875" b="1">
                <a:solidFill>
                  <a:srgbClr val="102C32"/>
                </a:solidFill>
                <a:latin typeface="Arial"/>
                <a:ea typeface="Arial"/>
                <a:cs typeface="Arial"/>
              </a:defRPr>
            </a:lvl4pPr>
            <a:lvl5pPr algn="l">
              <a:defRPr sz="1875" b="1">
                <a:solidFill>
                  <a:srgbClr val="102C32"/>
                </a:solidFill>
                <a:latin typeface="Arial"/>
                <a:ea typeface="Arial"/>
                <a:cs typeface="Arial"/>
              </a:defRPr>
            </a:lvl5pPr>
            <a:lvl6pPr algn="l">
              <a:defRPr sz="1875" b="1">
                <a:solidFill>
                  <a:srgbClr val="102C32"/>
                </a:solidFill>
                <a:latin typeface="Arial"/>
                <a:ea typeface="Arial"/>
                <a:cs typeface="Arial"/>
              </a:defRPr>
            </a:lvl6pPr>
            <a:lvl7pPr algn="l">
              <a:defRPr sz="1875" b="1">
                <a:solidFill>
                  <a:srgbClr val="102C32"/>
                </a:solidFill>
                <a:latin typeface="Arial"/>
                <a:ea typeface="Arial"/>
                <a:cs typeface="Arial"/>
              </a:defRPr>
            </a:lvl7pPr>
            <a:lvl8pPr algn="l">
              <a:defRPr sz="1875" b="1">
                <a:solidFill>
                  <a:srgbClr val="102C32"/>
                </a:solidFill>
                <a:latin typeface="Arial"/>
                <a:ea typeface="Arial"/>
                <a:cs typeface="Arial"/>
              </a:defRPr>
            </a:lvl8pPr>
            <a:lvl9pPr algn="l">
              <a:defRPr sz="1875" b="1">
                <a:solidFill>
                  <a:srgbClr val="102C32"/>
                </a:solidFill>
                <a:latin typeface="Arial"/>
                <a:ea typeface="Arial"/>
                <a:cs typeface="Arial"/>
              </a:defRPr>
            </a:lvl9pPr>
          </a:lstStyle>
          <a:p xmlns:a="http://schemas.openxmlformats.org/drawingml/2006/main">
            <a:pPr algn="l">
              <a:defRPr sz="1875" b="1">
                <a:solidFill>
                  <a:srgbClr val="102C32"/>
                </a:solidFill>
                <a:latin typeface="Arial"/>
                <a:ea typeface="Arial"/>
                <a:cs typeface="Arial"/>
              </a:defRPr>
            </a:pPr>
            <a:r>
              <a:rPr sz="1875" b="1">
                <a:solidFill>
                  <a:srgbClr val="102C32"/>
                </a:solidFill>
                <a:latin typeface="Arial"/>
                <a:ea typeface="Arial"/>
                <a:cs typeface="Arial"/>
              </a:rPr>
              <a:t>Synthetic evaluation results. Actual outreach outcomes remain untested.</a:t>
            </a:r>
          </a:p>
        </p:txBody>
      </p:sp>
    </p:spTree>
    <p:extLst>
      <p:ext uri="{BB962C8B-B14F-4D97-AF65-F5344CB8AC3E}">
        <p14:creationId xmlns:p14="http://schemas.microsoft.com/office/powerpoint/2010/main" val="6924718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E3A6E3E-A240-4437-9576-AB290CC89F8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Capacity choices</a:t>
            </a:r>
          </a:p>
        </p:txBody>
      </p:sp>
      <p:sp>
        <p:nvSpPr>
          <p:cNvPr id="2" name="MSBA265  /  Final Project Proposal">
            <a:extLst xmlns:a="http://schemas.openxmlformats.org/drawingml/2006/main">
              <a:ext uri="{FF2B5EF4-FFF2-40B4-BE49-F238E27FC236}">
                <a16:creationId xmlns:a16="http://schemas.microsoft.com/office/drawing/2014/main" id="{2CA2F549-5C2D-43A2-A864-9AD6EB52DAA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7">
            <a:extLst xmlns:a="http://schemas.openxmlformats.org/drawingml/2006/main">
              <a:ext uri="{FF2B5EF4-FFF2-40B4-BE49-F238E27FC236}">
                <a16:creationId xmlns:a16="http://schemas.microsoft.com/office/drawing/2014/main" id="{C22A0A72-21D1-4694-B5B0-1BE318B70C78}"/>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07</a:t>
            </a:r>
          </a:p>
        </p:txBody>
      </p:sp>
      <p:sp>
        <p:nvSpPr>
          <p:cNvPr id="9" name="The manager can trade a shorter list for broad">
            <a:extLst xmlns:a="http://schemas.openxmlformats.org/drawingml/2006/main">
              <a:ext uri="{FF2B5EF4-FFF2-40B4-BE49-F238E27FC236}">
                <a16:creationId xmlns:a16="http://schemas.microsoft.com/office/drawing/2014/main" id="{94B6BC17-31A9-4696-BCB4-ADD7F99050DD}"/>
              </a:ext>
            </a:extLst>
          </p:cNvPr>
          <p:cNvSpPr>
            <a:spLocks xmlns:a="http://schemas.openxmlformats.org/drawingml/2006/main" noGrp="1"/>
          </p:cNvSpPr>
          <p:nvPr/>
        </p:nvSpPr>
        <p:spPr>
          <a:xfrm xmlns:a="http://schemas.openxmlformats.org/drawingml/2006/main">
            <a:off x="609600" y="138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The manager can trade a shorter list for broader coverage</a:t>
            </a:r>
          </a:p>
        </p:txBody>
      </p:sp>
      <p:graphicFrame>
        <p:nvGraphicFramePr>
          <p:cNvPr id="10" name="">
            <a:extLst xmlns:a="http://schemas.openxmlformats.org/drawingml/2006/main">
              <a:ext uri="{FF2B5EF4-FFF2-40B4-BE49-F238E27FC236}">
                <a16:creationId xmlns:a16="http://schemas.microsoft.com/office/drawing/2014/main" id="{3DCDBD74-6461-4B88-B31C-C63ACD2F1EDD}"/>
              </a:ext>
            </a:extLst>
          </p:cNvPr>
          <p:cNvGraphicFramePr/>
          <p:nvPr/>
        </p:nvGraphicFramePr>
        <p:xfrm>
          <a:off xmlns:a="http://schemas.openxmlformats.org/drawingml/2006/main" x="609600" y="2152650"/>
          <a:ext xmlns:a="http://schemas.openxmlformats.org/drawingml/2006/main" cx="10972800" cy="3209925"/>
        </p:xfrm>
        <a:graphic xmlns:a="http://schemas.openxmlformats.org/drawingml/2006/main">
          <a:graphicData uri="http://schemas.openxmlformats.org/drawingml/2006/table">
            <a:tbl>
              <a:tblPr/>
              <a:tblGrid>
                <a:gridCol w="2333625"/>
                <a:gridCol w="2333625"/>
                <a:gridCol w="3048000"/>
                <a:gridCol w="3257550"/>
              </a:tblGrid>
              <a:tr h="609600">
                <a:tc>
                  <a:txBody>
                    <a:bodyPr/>
                    <a:lstStyle/>
                    <a:p>
                      <a:r>
                        <a:rPr sz="2025" b="1">
                          <a:solidFill>
                            <a:srgbClr val="FFFFFF"/>
                          </a:solidFill>
                          <a:latin typeface="Arial"/>
                          <a:ea typeface="Arial"/>
                          <a:cs typeface="Arial"/>
                        </a:rPr>
                        <a:t>Share reviewed</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Profiles reviewed</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Yes labels in list</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All Yes profiles found</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2025" b="0">
                          <a:solidFill>
                            <a:srgbClr val="102C32"/>
                          </a:solidFill>
                          <a:latin typeface="Arial"/>
                          <a:ea typeface="Arial"/>
                          <a:cs typeface="Arial"/>
                        </a:rPr>
                        <a:t>1%</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1,003</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90%</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5%</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5,015</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85%</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24%</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r h="0">
                <a:tc>
                  <a:txBody>
                    <a:bodyPr/>
                    <a:lstStyle/>
                    <a:p>
                      <a:r>
                        <a:rPr sz="2025" b="0">
                          <a:solidFill>
                            <a:srgbClr val="102C32"/>
                          </a:solidFill>
                          <a:latin typeface="Arial"/>
                          <a:ea typeface="Arial"/>
                          <a:cs typeface="Arial"/>
                        </a:rPr>
                        <a:t>10%</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10,030</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79%</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45%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20%</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20,060</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66%</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76%</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
        <p:nvSpPr>
          <p:cNvPr id="11" name="Larger lists find more Yes profiles, while the">
            <a:extLst xmlns:a="http://schemas.openxmlformats.org/drawingml/2006/main">
              <a:ext uri="{FF2B5EF4-FFF2-40B4-BE49-F238E27FC236}">
                <a16:creationId xmlns:a16="http://schemas.microsoft.com/office/drawing/2014/main" id="{799F0719-3E78-448B-B256-33872EFD9279}"/>
              </a:ext>
            </a:extLst>
          </p:cNvPr>
          <p:cNvSpPr>
            <a:spLocks xmlns:a="http://schemas.openxmlformats.org/drawingml/2006/main" noGrp="1"/>
          </p:cNvSpPr>
          <p:nvPr/>
        </p:nvSpPr>
        <p:spPr>
          <a:xfrm xmlns:a="http://schemas.openxmlformats.org/drawingml/2006/main">
            <a:off x="609600" y="5657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2"/>
                </a:solidFill>
                <a:latin typeface="Arial"/>
                <a:ea typeface="Arial"/>
                <a:cs typeface="Arial"/>
              </a:defRPr>
            </a:defPPr>
            <a:lvl1pPr algn="l">
              <a:defRPr sz="2100" b="1">
                <a:solidFill>
                  <a:srgbClr val="102C32"/>
                </a:solidFill>
                <a:latin typeface="Arial"/>
                <a:ea typeface="Arial"/>
                <a:cs typeface="Arial"/>
              </a:defRPr>
            </a:lvl1pPr>
            <a:lvl2pPr algn="l">
              <a:defRPr sz="2100" b="1">
                <a:solidFill>
                  <a:srgbClr val="102C32"/>
                </a:solidFill>
                <a:latin typeface="Arial"/>
                <a:ea typeface="Arial"/>
                <a:cs typeface="Arial"/>
              </a:defRPr>
            </a:lvl2pPr>
            <a:lvl3pPr algn="l">
              <a:defRPr sz="2100" b="1">
                <a:solidFill>
                  <a:srgbClr val="102C32"/>
                </a:solidFill>
                <a:latin typeface="Arial"/>
                <a:ea typeface="Arial"/>
                <a:cs typeface="Arial"/>
              </a:defRPr>
            </a:lvl3pPr>
            <a:lvl4pPr algn="l">
              <a:defRPr sz="2100" b="1">
                <a:solidFill>
                  <a:srgbClr val="102C32"/>
                </a:solidFill>
                <a:latin typeface="Arial"/>
                <a:ea typeface="Arial"/>
                <a:cs typeface="Arial"/>
              </a:defRPr>
            </a:lvl4pPr>
            <a:lvl5pPr algn="l">
              <a:defRPr sz="2100" b="1">
                <a:solidFill>
                  <a:srgbClr val="102C32"/>
                </a:solidFill>
                <a:latin typeface="Arial"/>
                <a:ea typeface="Arial"/>
                <a:cs typeface="Arial"/>
              </a:defRPr>
            </a:lvl5pPr>
            <a:lvl6pPr algn="l">
              <a:defRPr sz="2100" b="1">
                <a:solidFill>
                  <a:srgbClr val="102C32"/>
                </a:solidFill>
                <a:latin typeface="Arial"/>
                <a:ea typeface="Arial"/>
                <a:cs typeface="Arial"/>
              </a:defRPr>
            </a:lvl6pPr>
            <a:lvl7pPr algn="l">
              <a:defRPr sz="2100" b="1">
                <a:solidFill>
                  <a:srgbClr val="102C32"/>
                </a:solidFill>
                <a:latin typeface="Arial"/>
                <a:ea typeface="Arial"/>
                <a:cs typeface="Arial"/>
              </a:defRPr>
            </a:lvl7pPr>
            <a:lvl8pPr algn="l">
              <a:defRPr sz="2100" b="1">
                <a:solidFill>
                  <a:srgbClr val="102C32"/>
                </a:solidFill>
                <a:latin typeface="Arial"/>
                <a:ea typeface="Arial"/>
                <a:cs typeface="Arial"/>
              </a:defRPr>
            </a:lvl8pPr>
            <a:lvl9pPr algn="l">
              <a:defRPr sz="2100" b="1">
                <a:solidFill>
                  <a:srgbClr val="102C32"/>
                </a:solidFill>
                <a:latin typeface="Arial"/>
                <a:ea typeface="Arial"/>
                <a:cs typeface="Arial"/>
              </a:defRPr>
            </a:lvl9pPr>
          </a:lstStyle>
          <a:p xmlns:a="http://schemas.openxmlformats.org/drawingml/2006/main">
            <a:pPr algn="l">
              <a:defRPr sz="2100" b="1">
                <a:solidFill>
                  <a:srgbClr val="102C32"/>
                </a:solidFill>
                <a:latin typeface="Arial"/>
                <a:ea typeface="Arial"/>
                <a:cs typeface="Arial"/>
              </a:defRPr>
            </a:pPr>
            <a:r>
              <a:rPr sz="2100" b="1">
                <a:solidFill>
                  <a:srgbClr val="102C32"/>
                </a:solidFill>
                <a:latin typeface="Arial"/>
                <a:ea typeface="Arial"/>
                <a:cs typeface="Arial"/>
              </a:rPr>
              <a:t>Larger lists find more Yes profiles, while their Yes-label share declines</a:t>
            </a:r>
          </a:p>
        </p:txBody>
      </p:sp>
    </p:spTree>
    <p:extLst>
      <p:ext uri="{BB962C8B-B14F-4D97-AF65-F5344CB8AC3E}">
        <p14:creationId xmlns:p14="http://schemas.microsoft.com/office/powerpoint/2010/main" val="2973623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7" name="planned-feedback-return">
            <a:extLst xmlns:a="http://schemas.openxmlformats.org/drawingml/2006/main">
              <a:ext uri="{FF2B5EF4-FFF2-40B4-BE49-F238E27FC236}">
                <a16:creationId xmlns:a16="http://schemas.microsoft.com/office/drawing/2014/main" id="{440C7808-75CD-4E69-BD6C-34B058522D76}"/>
              </a:ext>
            </a:extLst>
          </p:cNvPr>
          <p:cNvCxnSpPr>
            <a:stCxn xmlns:a="http://schemas.openxmlformats.org/drawingml/2006/main" id="36" idx="0"/>
            <a:endCxn xmlns:a="http://schemas.openxmlformats.org/drawingml/2006/main" id="24" idx="0"/>
          </p:cNvCxnSpPr>
          <p:nvPr/>
        </p:nvCxnSpPr>
        <p:spPr>
          <a:xfrm xmlns:a="http://schemas.openxmlformats.org/drawingml/2006/main" flipH="1">
            <a:off x="2571750" y="2514600"/>
            <a:ext cx="8458200" cy="228600"/>
          </a:xfrm>
          <a:prstGeom xmlns:a="http://schemas.openxmlformats.org/drawingml/2006/main" prst="bentConnector4">
            <a:avLst/>
          </a:prstGeom>
          <a:ln xmlns:a="http://schemas.openxmlformats.org/drawingml/2006/main" w="19050">
            <a:solidFill>
              <a:srgbClr val="81969C"/>
            </a:solidFill>
            <a:prstDash val="dash"/>
            <a:tailEnd type="triangle" w="med" len="med"/>
          </a:ln>
        </p:spPr>
      </p:cxnSp>
      <p:cxnSp>
        <p:nvCxnSpPr>
          <p:cNvPr id="44" name="">
            <a:extLst xmlns:a="http://schemas.openxmlformats.org/drawingml/2006/main">
              <a:ext uri="{FF2B5EF4-FFF2-40B4-BE49-F238E27FC236}">
                <a16:creationId xmlns:a16="http://schemas.microsoft.com/office/drawing/2014/main" id="{444E0890-4D24-4BD8-BE83-7F8677C0CD48}"/>
              </a:ext>
            </a:extLst>
          </p:cNvPr>
          <p:cNvCxnSpPr>
            <a:stCxn xmlns:a="http://schemas.openxmlformats.org/drawingml/2006/main" id="34" idx="3"/>
            <a:endCxn xmlns:a="http://schemas.openxmlformats.org/drawingml/2006/main" id="36" idx="1"/>
          </p:cNvCxnSpPr>
          <p:nvPr/>
        </p:nvCxnSpPr>
        <p:spPr>
          <a:xfrm xmlns:a="http://schemas.openxmlformats.org/drawingml/2006/main">
            <a:off x="9953625" y="3076575"/>
            <a:ext cx="742950" cy="0"/>
          </a:xfrm>
          <a:prstGeom xmlns:a="http://schemas.openxmlformats.org/drawingml/2006/main" prst="straightConnector1">
            <a:avLst/>
          </a:prstGeom>
          <a:ln xmlns:a="http://schemas.openxmlformats.org/drawingml/2006/main" w="22860">
            <a:solidFill>
              <a:srgbClr val="81969C"/>
            </a:solidFill>
            <a:prstDash val="dash"/>
            <a:tailEnd type="triangle" w="med" len="med"/>
          </a:ln>
        </p:spPr>
      </p:cxnSp>
      <p:cxnSp>
        <p:nvCxnSpPr>
          <p:cNvPr id="43" name="">
            <a:extLst xmlns:a="http://schemas.openxmlformats.org/drawingml/2006/main">
              <a:ext uri="{FF2B5EF4-FFF2-40B4-BE49-F238E27FC236}">
                <a16:creationId xmlns:a16="http://schemas.microsoft.com/office/drawing/2014/main" id="{1D2AC13A-6D3D-4A3A-905D-1DD1FE3AC645}"/>
              </a:ext>
            </a:extLst>
          </p:cNvPr>
          <p:cNvCxnSpPr>
            <a:stCxn xmlns:a="http://schemas.openxmlformats.org/drawingml/2006/main" id="32" idx="3"/>
            <a:endCxn xmlns:a="http://schemas.openxmlformats.org/drawingml/2006/main" id="34" idx="1"/>
          </p:cNvCxnSpPr>
          <p:nvPr/>
        </p:nvCxnSpPr>
        <p:spPr>
          <a:xfrm xmlns:a="http://schemas.openxmlformats.org/drawingml/2006/main">
            <a:off x="8477250" y="3076575"/>
            <a:ext cx="809625" cy="0"/>
          </a:xfrm>
          <a:prstGeom xmlns:a="http://schemas.openxmlformats.org/drawingml/2006/main" prst="straightConnector1">
            <a:avLst/>
          </a:prstGeom>
          <a:ln xmlns:a="http://schemas.openxmlformats.org/drawingml/2006/main" w="22860">
            <a:solidFill>
              <a:srgbClr val="81969C"/>
            </a:solidFill>
            <a:prstDash val="dash"/>
            <a:tailEnd type="triangle" w="med" len="med"/>
          </a:ln>
        </p:spPr>
      </p:cxnSp>
      <p:cxnSp>
        <p:nvCxnSpPr>
          <p:cNvPr id="42" name="">
            <a:extLst xmlns:a="http://schemas.openxmlformats.org/drawingml/2006/main">
              <a:ext uri="{FF2B5EF4-FFF2-40B4-BE49-F238E27FC236}">
                <a16:creationId xmlns:a16="http://schemas.microsoft.com/office/drawing/2014/main" id="{8A09D808-97FD-4498-B560-E576F3EEE6BB}"/>
              </a:ext>
            </a:extLst>
          </p:cNvPr>
          <p:cNvCxnSpPr>
            <a:stCxn xmlns:a="http://schemas.openxmlformats.org/drawingml/2006/main" id="30" idx="3"/>
            <a:endCxn xmlns:a="http://schemas.openxmlformats.org/drawingml/2006/main" id="32" idx="1"/>
          </p:cNvCxnSpPr>
          <p:nvPr/>
        </p:nvCxnSpPr>
        <p:spPr>
          <a:xfrm xmlns:a="http://schemas.openxmlformats.org/drawingml/2006/main">
            <a:off x="7134225" y="3076575"/>
            <a:ext cx="809625"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41" name="">
            <a:extLst xmlns:a="http://schemas.openxmlformats.org/drawingml/2006/main">
              <a:ext uri="{FF2B5EF4-FFF2-40B4-BE49-F238E27FC236}">
                <a16:creationId xmlns:a16="http://schemas.microsoft.com/office/drawing/2014/main" id="{72855D8A-4F6F-45CA-AA1A-0B24B0A6C6AA}"/>
              </a:ext>
            </a:extLst>
          </p:cNvPr>
          <p:cNvCxnSpPr>
            <a:stCxn xmlns:a="http://schemas.openxmlformats.org/drawingml/2006/main" id="28" idx="3"/>
            <a:endCxn xmlns:a="http://schemas.openxmlformats.org/drawingml/2006/main" id="30" idx="1"/>
          </p:cNvCxnSpPr>
          <p:nvPr/>
        </p:nvCxnSpPr>
        <p:spPr>
          <a:xfrm xmlns:a="http://schemas.openxmlformats.org/drawingml/2006/main">
            <a:off x="57245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40" name="">
            <a:extLst xmlns:a="http://schemas.openxmlformats.org/drawingml/2006/main">
              <a:ext uri="{FF2B5EF4-FFF2-40B4-BE49-F238E27FC236}">
                <a16:creationId xmlns:a16="http://schemas.microsoft.com/office/drawing/2014/main" id="{0C4CB3D4-2FFF-4466-8080-6950B34AC88C}"/>
              </a:ext>
            </a:extLst>
          </p:cNvPr>
          <p:cNvCxnSpPr>
            <a:stCxn xmlns:a="http://schemas.openxmlformats.org/drawingml/2006/main" id="26" idx="3"/>
            <a:endCxn xmlns:a="http://schemas.openxmlformats.org/drawingml/2006/main" id="28" idx="1"/>
          </p:cNvCxnSpPr>
          <p:nvPr/>
        </p:nvCxnSpPr>
        <p:spPr>
          <a:xfrm xmlns:a="http://schemas.openxmlformats.org/drawingml/2006/main">
            <a:off x="43148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39" name="">
            <a:extLst xmlns:a="http://schemas.openxmlformats.org/drawingml/2006/main">
              <a:ext uri="{FF2B5EF4-FFF2-40B4-BE49-F238E27FC236}">
                <a16:creationId xmlns:a16="http://schemas.microsoft.com/office/drawing/2014/main" id="{126B507E-2210-48DE-BAE5-033AD1DB3163}"/>
              </a:ext>
            </a:extLst>
          </p:cNvPr>
          <p:cNvCxnSpPr>
            <a:stCxn xmlns:a="http://schemas.openxmlformats.org/drawingml/2006/main" id="24" idx="3"/>
            <a:endCxn xmlns:a="http://schemas.openxmlformats.org/drawingml/2006/main" id="26" idx="1"/>
          </p:cNvCxnSpPr>
          <p:nvPr/>
        </p:nvCxnSpPr>
        <p:spPr>
          <a:xfrm xmlns:a="http://schemas.openxmlformats.org/drawingml/2006/main">
            <a:off x="29051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38" name="">
            <a:extLst xmlns:a="http://schemas.openxmlformats.org/drawingml/2006/main">
              <a:ext uri="{FF2B5EF4-FFF2-40B4-BE49-F238E27FC236}">
                <a16:creationId xmlns:a16="http://schemas.microsoft.com/office/drawing/2014/main" id="{6CE9D659-28D4-42CD-805D-E2027796A32F}"/>
              </a:ext>
            </a:extLst>
          </p:cNvPr>
          <p:cNvCxnSpPr>
            <a:stCxn xmlns:a="http://schemas.openxmlformats.org/drawingml/2006/main" id="22" idx="3"/>
            <a:endCxn xmlns:a="http://schemas.openxmlformats.org/drawingml/2006/main" id="24" idx="1"/>
          </p:cNvCxnSpPr>
          <p:nvPr/>
        </p:nvCxnSpPr>
        <p:spPr>
          <a:xfrm xmlns:a="http://schemas.openxmlformats.org/drawingml/2006/main">
            <a:off x="14954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sp>
        <p:nvSpPr>
          <p:cNvPr id="17" name="slide-title">
            <a:extLst xmlns:a="http://schemas.openxmlformats.org/drawingml/2006/main">
              <a:ext uri="{FF2B5EF4-FFF2-40B4-BE49-F238E27FC236}">
                <a16:creationId xmlns:a16="http://schemas.microsoft.com/office/drawing/2014/main" id="{7A146E13-BDE7-4890-8F72-06E2439C841B}"/>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data-to-action pipeline</a:t>
            </a:r>
          </a:p>
        </p:txBody>
      </p:sp>
      <p:sp>
        <p:nvSpPr>
          <p:cNvPr id="2" name="MSBA265  /  Final Project Proposal">
            <a:extLst xmlns:a="http://schemas.openxmlformats.org/drawingml/2006/main">
              <a:ext uri="{FF2B5EF4-FFF2-40B4-BE49-F238E27FC236}">
                <a16:creationId xmlns:a16="http://schemas.microsoft.com/office/drawing/2014/main" id="{81E628ED-3E31-4D1B-8BB3-B92F6913AF5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8">
            <a:extLst xmlns:a="http://schemas.openxmlformats.org/drawingml/2006/main">
              <a:ext uri="{FF2B5EF4-FFF2-40B4-BE49-F238E27FC236}">
                <a16:creationId xmlns:a16="http://schemas.microsoft.com/office/drawing/2014/main" id="{20A889B8-BDD6-4F4B-914D-3557BC962A16}"/>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08</a:t>
            </a:r>
          </a:p>
        </p:txBody>
      </p:sp>
      <p:sp>
        <p:nvSpPr>
          <p:cNvPr id="18" name="Working prototype">
            <a:extLst xmlns:a="http://schemas.openxmlformats.org/drawingml/2006/main">
              <a:ext uri="{FF2B5EF4-FFF2-40B4-BE49-F238E27FC236}">
                <a16:creationId xmlns:a16="http://schemas.microsoft.com/office/drawing/2014/main" id="{CFB1CC0D-BD6D-4B4C-A780-4F93C37DF28A}"/>
              </a:ext>
            </a:extLst>
          </p:cNvPr>
          <p:cNvSpPr>
            <a:spLocks xmlns:a="http://schemas.openxmlformats.org/drawingml/2006/main" noGrp="1"/>
          </p:cNvSpPr>
          <p:nvPr/>
        </p:nvSpPr>
        <p:spPr>
          <a:xfrm xmlns:a="http://schemas.openxmlformats.org/drawingml/2006/main">
            <a:off x="609600" y="148590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buNone/>
              <a:defRPr sz="2325" b="1">
                <a:solidFill>
                  <a:srgbClr val="15866C"/>
                </a:solidFill>
                <a:latin typeface="Arial"/>
                <a:ea typeface="Arial"/>
                <a:cs typeface="Arial"/>
              </a:defRPr>
            </a:lvl1pPr>
            <a:lvl2pPr algn="l">
              <a:buNone/>
              <a:defRPr sz="2325" b="1">
                <a:solidFill>
                  <a:srgbClr val="15866C"/>
                </a:solidFill>
                <a:latin typeface="Arial"/>
                <a:ea typeface="Arial"/>
                <a:cs typeface="Arial"/>
              </a:defRPr>
            </a:lvl2pPr>
            <a:lvl3pPr algn="l">
              <a:buNone/>
              <a:defRPr sz="2325" b="1">
                <a:solidFill>
                  <a:srgbClr val="15866C"/>
                </a:solidFill>
                <a:latin typeface="Arial"/>
                <a:ea typeface="Arial"/>
                <a:cs typeface="Arial"/>
              </a:defRPr>
            </a:lvl3pPr>
            <a:lvl4pPr algn="l">
              <a:buNone/>
              <a:defRPr sz="2325" b="1">
                <a:solidFill>
                  <a:srgbClr val="15866C"/>
                </a:solidFill>
                <a:latin typeface="Arial"/>
                <a:ea typeface="Arial"/>
                <a:cs typeface="Arial"/>
              </a:defRPr>
            </a:lvl4pPr>
            <a:lvl5pPr algn="l">
              <a:buNone/>
              <a:defRPr sz="2325" b="1">
                <a:solidFill>
                  <a:srgbClr val="15866C"/>
                </a:solidFill>
                <a:latin typeface="Arial"/>
                <a:ea typeface="Arial"/>
                <a:cs typeface="Arial"/>
              </a:defRPr>
            </a:lvl5pPr>
            <a:lvl6pPr algn="l">
              <a:buNone/>
              <a:defRPr sz="2325" b="1">
                <a:solidFill>
                  <a:srgbClr val="15866C"/>
                </a:solidFill>
                <a:latin typeface="Arial"/>
                <a:ea typeface="Arial"/>
                <a:cs typeface="Arial"/>
              </a:defRPr>
            </a:lvl6pPr>
            <a:lvl7pPr algn="l">
              <a:buNone/>
              <a:defRPr sz="2325" b="1">
                <a:solidFill>
                  <a:srgbClr val="15866C"/>
                </a:solidFill>
                <a:latin typeface="Arial"/>
                <a:ea typeface="Arial"/>
                <a:cs typeface="Arial"/>
              </a:defRPr>
            </a:lvl7pPr>
            <a:lvl8pPr algn="l">
              <a:buNone/>
              <a:defRPr sz="2325" b="1">
                <a:solidFill>
                  <a:srgbClr val="15866C"/>
                </a:solidFill>
                <a:latin typeface="Arial"/>
                <a:ea typeface="Arial"/>
                <a:cs typeface="Arial"/>
              </a:defRPr>
            </a:lvl8pPr>
            <a:lvl9pPr algn="l">
              <a:buNone/>
              <a:defRPr sz="2325" b="1">
                <a:solidFill>
                  <a:srgbClr val="15866C"/>
                </a:solidFill>
                <a:latin typeface="Arial"/>
                <a:ea typeface="Arial"/>
                <a:cs typeface="Arial"/>
              </a:defRPr>
            </a:lvl9pPr>
          </a:lstStyle>
          <a:p xmlns:a="http://schemas.openxmlformats.org/drawingml/2006/main">
            <a:pPr algn="l">
              <a:buNone/>
              <a:defRPr sz="2325" b="1">
                <a:solidFill>
                  <a:srgbClr val="15866C"/>
                </a:solidFill>
                <a:latin typeface="Arial"/>
                <a:ea typeface="Arial"/>
                <a:cs typeface="Arial"/>
              </a:defRPr>
            </a:pPr>
            <a:r>
              <a:rPr sz="2325" b="1">
                <a:solidFill>
                  <a:srgbClr val="15866C"/>
                </a:solidFill>
                <a:latin typeface="Arial"/>
                <a:ea typeface="Arial"/>
                <a:cs typeface="Arial"/>
              </a:rPr>
              <a:t>Working prototype</a:t>
            </a:r>
          </a:p>
        </p:txBody>
      </p:sp>
      <p:sp>
        <p:nvSpPr>
          <p:cNvPr id="19" name="Planned pilot">
            <a:extLst xmlns:a="http://schemas.openxmlformats.org/drawingml/2006/main">
              <a:ext uri="{FF2B5EF4-FFF2-40B4-BE49-F238E27FC236}">
                <a16:creationId xmlns:a16="http://schemas.microsoft.com/office/drawing/2014/main" id="{B005B458-4D0A-475E-B6B5-DC0DA77DB840}"/>
              </a:ext>
            </a:extLst>
          </p:cNvPr>
          <p:cNvSpPr>
            <a:spLocks xmlns:a="http://schemas.openxmlformats.org/drawingml/2006/main" noGrp="1"/>
          </p:cNvSpPr>
          <p:nvPr/>
        </p:nvSpPr>
        <p:spPr>
          <a:xfrm xmlns:a="http://schemas.openxmlformats.org/drawingml/2006/main">
            <a:off x="9067800" y="14859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96168"/>
                </a:solidFill>
                <a:latin typeface="Arial"/>
                <a:ea typeface="Arial"/>
                <a:cs typeface="Arial"/>
              </a:defRPr>
            </a:defPPr>
            <a:lvl1pPr algn="l">
              <a:buNone/>
              <a:defRPr sz="2175" b="1">
                <a:solidFill>
                  <a:srgbClr val="496168"/>
                </a:solidFill>
                <a:latin typeface="Arial"/>
                <a:ea typeface="Arial"/>
                <a:cs typeface="Arial"/>
              </a:defRPr>
            </a:lvl1pPr>
            <a:lvl2pPr algn="l">
              <a:buNone/>
              <a:defRPr sz="2175" b="1">
                <a:solidFill>
                  <a:srgbClr val="496168"/>
                </a:solidFill>
                <a:latin typeface="Arial"/>
                <a:ea typeface="Arial"/>
                <a:cs typeface="Arial"/>
              </a:defRPr>
            </a:lvl2pPr>
            <a:lvl3pPr algn="l">
              <a:buNone/>
              <a:defRPr sz="2175" b="1">
                <a:solidFill>
                  <a:srgbClr val="496168"/>
                </a:solidFill>
                <a:latin typeface="Arial"/>
                <a:ea typeface="Arial"/>
                <a:cs typeface="Arial"/>
              </a:defRPr>
            </a:lvl3pPr>
            <a:lvl4pPr algn="l">
              <a:buNone/>
              <a:defRPr sz="2175" b="1">
                <a:solidFill>
                  <a:srgbClr val="496168"/>
                </a:solidFill>
                <a:latin typeface="Arial"/>
                <a:ea typeface="Arial"/>
                <a:cs typeface="Arial"/>
              </a:defRPr>
            </a:lvl4pPr>
            <a:lvl5pPr algn="l">
              <a:buNone/>
              <a:defRPr sz="2175" b="1">
                <a:solidFill>
                  <a:srgbClr val="496168"/>
                </a:solidFill>
                <a:latin typeface="Arial"/>
                <a:ea typeface="Arial"/>
                <a:cs typeface="Arial"/>
              </a:defRPr>
            </a:lvl5pPr>
            <a:lvl6pPr algn="l">
              <a:buNone/>
              <a:defRPr sz="2175" b="1">
                <a:solidFill>
                  <a:srgbClr val="496168"/>
                </a:solidFill>
                <a:latin typeface="Arial"/>
                <a:ea typeface="Arial"/>
                <a:cs typeface="Arial"/>
              </a:defRPr>
            </a:lvl6pPr>
            <a:lvl7pPr algn="l">
              <a:buNone/>
              <a:defRPr sz="2175" b="1">
                <a:solidFill>
                  <a:srgbClr val="496168"/>
                </a:solidFill>
                <a:latin typeface="Arial"/>
                <a:ea typeface="Arial"/>
                <a:cs typeface="Arial"/>
              </a:defRPr>
            </a:lvl7pPr>
            <a:lvl8pPr algn="l">
              <a:buNone/>
              <a:defRPr sz="2175" b="1">
                <a:solidFill>
                  <a:srgbClr val="496168"/>
                </a:solidFill>
                <a:latin typeface="Arial"/>
                <a:ea typeface="Arial"/>
                <a:cs typeface="Arial"/>
              </a:defRPr>
            </a:lvl8pPr>
            <a:lvl9pPr algn="l">
              <a:buNone/>
              <a:defRPr sz="2175" b="1">
                <a:solidFill>
                  <a:srgbClr val="496168"/>
                </a:solidFill>
                <a:latin typeface="Arial"/>
                <a:ea typeface="Arial"/>
                <a:cs typeface="Arial"/>
              </a:defRPr>
            </a:lvl9pPr>
          </a:lstStyle>
          <a:p xmlns:a="http://schemas.openxmlformats.org/drawingml/2006/main">
            <a:pPr algn="l">
              <a:buNone/>
              <a:defRPr sz="2175" b="1">
                <a:solidFill>
                  <a:srgbClr val="496168"/>
                </a:solidFill>
                <a:latin typeface="Arial"/>
                <a:ea typeface="Arial"/>
                <a:cs typeface="Arial"/>
              </a:defRPr>
            </a:pPr>
            <a:r>
              <a:rPr sz="2175" b="1">
                <a:solidFill>
                  <a:srgbClr val="496168"/>
                </a:solidFill>
                <a:latin typeface="Arial"/>
                <a:ea typeface="Arial"/>
                <a:cs typeface="Arial"/>
              </a:rPr>
              <a:t>Planned pilot</a:t>
            </a:r>
          </a:p>
        </p:txBody>
      </p:sp>
      <p:sp>
        <p:nvSpPr>
          <p:cNvPr id="20" name="divider">
            <a:extLst xmlns:a="http://schemas.openxmlformats.org/drawingml/2006/main">
              <a:ext uri="{FF2B5EF4-FFF2-40B4-BE49-F238E27FC236}">
                <a16:creationId xmlns:a16="http://schemas.microsoft.com/office/drawing/2014/main" id="{3C02D69D-2ABA-4B9C-99B5-5B3D49843D58}"/>
              </a:ext>
            </a:extLst>
          </p:cNvPr>
          <p:cNvSpPr>
            <a:spLocks xmlns:a="http://schemas.openxmlformats.org/drawingml/2006/main" noGrp="1"/>
          </p:cNvSpPr>
          <p:nvPr/>
        </p:nvSpPr>
        <p:spPr>
          <a:xfrm xmlns:a="http://schemas.openxmlformats.org/drawingml/2006/main">
            <a:off x="609600" y="2066925"/>
            <a:ext cx="8096250" cy="0"/>
          </a:xfrm>
          <a:prstGeom xmlns:a="http://schemas.openxmlformats.org/drawingml/2006/main" prst="line">
            <a:avLst/>
          </a:prstGeom>
          <a:noFill xmlns:a="http://schemas.openxmlformats.org/drawingml/2006/main"/>
          <a:ln xmlns:a="http://schemas.openxmlformats.org/drawingml/2006/main" w="13335">
            <a:solidFill>
              <a:srgbClr val="15866C"/>
            </a:solidFill>
          </a:ln>
        </p:spPr>
      </p:sp>
      <p:sp>
        <p:nvSpPr>
          <p:cNvPr id="21" name="divider">
            <a:extLst xmlns:a="http://schemas.openxmlformats.org/drawingml/2006/main">
              <a:ext uri="{FF2B5EF4-FFF2-40B4-BE49-F238E27FC236}">
                <a16:creationId xmlns:a16="http://schemas.microsoft.com/office/drawing/2014/main" id="{2EF63602-913E-429F-B4DA-567EEB201B3F}"/>
              </a:ext>
            </a:extLst>
          </p:cNvPr>
          <p:cNvSpPr>
            <a:spLocks xmlns:a="http://schemas.openxmlformats.org/drawingml/2006/main" noGrp="1"/>
          </p:cNvSpPr>
          <p:nvPr/>
        </p:nvSpPr>
        <p:spPr>
          <a:xfrm xmlns:a="http://schemas.openxmlformats.org/drawingml/2006/main">
            <a:off x="9067800" y="2066925"/>
            <a:ext cx="2514600" cy="0"/>
          </a:xfrm>
          <a:prstGeom xmlns:a="http://schemas.openxmlformats.org/drawingml/2006/main" prst="line">
            <a:avLst/>
          </a:prstGeom>
          <a:noFill xmlns:a="http://schemas.openxmlformats.org/drawingml/2006/main"/>
          <a:ln xmlns:a="http://schemas.openxmlformats.org/drawingml/2006/main" w="13335">
            <a:solidFill>
              <a:srgbClr val="81969C"/>
            </a:solidFill>
          </a:ln>
        </p:spPr>
      </p:sp>
      <p:sp>
        <p:nvSpPr>
          <p:cNvPr id="22" name="pipeline-1">
            <a:extLst xmlns:a="http://schemas.openxmlformats.org/drawingml/2006/main">
              <a:ext uri="{FF2B5EF4-FFF2-40B4-BE49-F238E27FC236}">
                <a16:creationId xmlns:a16="http://schemas.microsoft.com/office/drawing/2014/main" id="{EEB32FB7-C121-4474-B599-386EBC830ADC}"/>
              </a:ext>
            </a:extLst>
          </p:cNvPr>
          <p:cNvSpPr>
            <a:spLocks xmlns:a="http://schemas.openxmlformats.org/drawingml/2006/main" noGrp="1"/>
          </p:cNvSpPr>
          <p:nvPr/>
        </p:nvSpPr>
        <p:spPr>
          <a:xfrm xmlns:a="http://schemas.openxmlformats.org/drawingml/2006/main">
            <a:off x="828675" y="2743200"/>
            <a:ext cx="666750" cy="666750"/>
          </a:xfrm>
          <a:prstGeom xmlns:a="http://schemas.openxmlformats.org/drawingml/2006/main" prst="flowChartDocument">
            <a:avLst/>
          </a:prstGeom>
          <a:solidFill xmlns:a="http://schemas.openxmlformats.org/drawingml/2006/main">
            <a:srgbClr val="EEF5F2"/>
          </a:solidFill>
          <a:ln xmlns:a="http://schemas.openxmlformats.org/drawingml/2006/main" w="21908">
            <a:solidFill>
              <a:srgbClr val="15866C"/>
            </a:solidFill>
            <a:prstDash val="solid"/>
          </a:ln>
        </p:spPr>
      </p:sp>
      <p:sp>
        <p:nvSpPr>
          <p:cNvPr id="23" name="Profile&#10;data">
            <a:extLst xmlns:a="http://schemas.openxmlformats.org/drawingml/2006/main">
              <a:ext uri="{FF2B5EF4-FFF2-40B4-BE49-F238E27FC236}">
                <a16:creationId xmlns:a16="http://schemas.microsoft.com/office/drawing/2014/main" id="{17ABEFD3-88EA-4D8F-AFD9-8AAE16C5A05C}"/>
              </a:ext>
            </a:extLst>
          </p:cNvPr>
          <p:cNvSpPr>
            <a:spLocks xmlns:a="http://schemas.openxmlformats.org/drawingml/2006/main" noGrp="1"/>
          </p:cNvSpPr>
          <p:nvPr/>
        </p:nvSpPr>
        <p:spPr>
          <a:xfrm xmlns:a="http://schemas.openxmlformats.org/drawingml/2006/main">
            <a:off x="5334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Profile</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data</a:t>
            </a:r>
          </a:p>
        </p:txBody>
      </p:sp>
      <p:sp>
        <p:nvSpPr>
          <p:cNvPr id="24" name="pipeline-2">
            <a:extLst xmlns:a="http://schemas.openxmlformats.org/drawingml/2006/main">
              <a:ext uri="{FF2B5EF4-FFF2-40B4-BE49-F238E27FC236}">
                <a16:creationId xmlns:a16="http://schemas.microsoft.com/office/drawing/2014/main" id="{6F2E814C-FACE-4790-8B36-FEE3FB9417BB}"/>
              </a:ext>
            </a:extLst>
          </p:cNvPr>
          <p:cNvSpPr>
            <a:spLocks xmlns:a="http://schemas.openxmlformats.org/drawingml/2006/main" noGrp="1"/>
          </p:cNvSpPr>
          <p:nvPr/>
        </p:nvSpPr>
        <p:spPr>
          <a:xfrm xmlns:a="http://schemas.openxmlformats.org/drawingml/2006/main">
            <a:off x="2238375" y="2743200"/>
            <a:ext cx="666750" cy="666750"/>
          </a:xfrm>
          <a:prstGeom xmlns:a="http://schemas.openxmlformats.org/drawingml/2006/main" prst="flowChartDecision">
            <a:avLst/>
          </a:prstGeom>
          <a:solidFill xmlns:a="http://schemas.openxmlformats.org/drawingml/2006/main">
            <a:srgbClr val="EEF5F2"/>
          </a:solidFill>
          <a:ln xmlns:a="http://schemas.openxmlformats.org/drawingml/2006/main" w="21908">
            <a:solidFill>
              <a:srgbClr val="15866C"/>
            </a:solidFill>
            <a:prstDash val="solid"/>
          </a:ln>
        </p:spPr>
      </p:sp>
      <p:sp>
        <p:nvSpPr>
          <p:cNvPr id="25" name="Data&#10;checks">
            <a:extLst xmlns:a="http://schemas.openxmlformats.org/drawingml/2006/main">
              <a:ext uri="{FF2B5EF4-FFF2-40B4-BE49-F238E27FC236}">
                <a16:creationId xmlns:a16="http://schemas.microsoft.com/office/drawing/2014/main" id="{CDF882F1-3B90-4B79-B67E-BA8FFA2B75B4}"/>
              </a:ext>
            </a:extLst>
          </p:cNvPr>
          <p:cNvSpPr>
            <a:spLocks xmlns:a="http://schemas.openxmlformats.org/drawingml/2006/main" noGrp="1"/>
          </p:cNvSpPr>
          <p:nvPr/>
        </p:nvSpPr>
        <p:spPr>
          <a:xfrm xmlns:a="http://schemas.openxmlformats.org/drawingml/2006/main">
            <a:off x="19431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Data</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checks</a:t>
            </a:r>
          </a:p>
        </p:txBody>
      </p:sp>
      <p:sp>
        <p:nvSpPr>
          <p:cNvPr id="26" name="pipeline-3">
            <a:extLst xmlns:a="http://schemas.openxmlformats.org/drawingml/2006/main">
              <a:ext uri="{FF2B5EF4-FFF2-40B4-BE49-F238E27FC236}">
                <a16:creationId xmlns:a16="http://schemas.microsoft.com/office/drawing/2014/main" id="{9D29AC01-1009-4FBD-B0C2-79307BA269A9}"/>
              </a:ext>
            </a:extLst>
          </p:cNvPr>
          <p:cNvSpPr>
            <a:spLocks xmlns:a="http://schemas.openxmlformats.org/drawingml/2006/main" noGrp="1"/>
          </p:cNvSpPr>
          <p:nvPr/>
        </p:nvSpPr>
        <p:spPr>
          <a:xfrm xmlns:a="http://schemas.openxmlformats.org/drawingml/2006/main">
            <a:off x="3648075" y="2743200"/>
            <a:ext cx="666750" cy="666750"/>
          </a:xfrm>
          <a:prstGeom xmlns:a="http://schemas.openxmlformats.org/drawingml/2006/main" prst="flowChartPredefinedProcess">
            <a:avLst/>
          </a:prstGeom>
          <a:solidFill xmlns:a="http://schemas.openxmlformats.org/drawingml/2006/main">
            <a:srgbClr val="EEF5F2"/>
          </a:solidFill>
          <a:ln xmlns:a="http://schemas.openxmlformats.org/drawingml/2006/main" w="21908">
            <a:solidFill>
              <a:srgbClr val="15866C"/>
            </a:solidFill>
            <a:prstDash val="solid"/>
          </a:ln>
        </p:spPr>
      </p:sp>
      <p:sp>
        <p:nvSpPr>
          <p:cNvPr id="27" name="Learn&#10;patterns">
            <a:extLst xmlns:a="http://schemas.openxmlformats.org/drawingml/2006/main">
              <a:ext uri="{FF2B5EF4-FFF2-40B4-BE49-F238E27FC236}">
                <a16:creationId xmlns:a16="http://schemas.microsoft.com/office/drawing/2014/main" id="{D53A13E9-FFE2-4E0C-9AAC-B2E14D9DC6E0}"/>
              </a:ext>
            </a:extLst>
          </p:cNvPr>
          <p:cNvSpPr>
            <a:spLocks xmlns:a="http://schemas.openxmlformats.org/drawingml/2006/main" noGrp="1"/>
          </p:cNvSpPr>
          <p:nvPr/>
        </p:nvSpPr>
        <p:spPr>
          <a:xfrm xmlns:a="http://schemas.openxmlformats.org/drawingml/2006/main">
            <a:off x="33528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Learn</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patterns</a:t>
            </a:r>
          </a:p>
        </p:txBody>
      </p:sp>
      <p:sp>
        <p:nvSpPr>
          <p:cNvPr id="28" name="pipeline-4">
            <a:extLst xmlns:a="http://schemas.openxmlformats.org/drawingml/2006/main">
              <a:ext uri="{FF2B5EF4-FFF2-40B4-BE49-F238E27FC236}">
                <a16:creationId xmlns:a16="http://schemas.microsoft.com/office/drawing/2014/main" id="{7E0DF916-0299-479D-B3DA-11EA235E3A77}"/>
              </a:ext>
            </a:extLst>
          </p:cNvPr>
          <p:cNvSpPr>
            <a:spLocks xmlns:a="http://schemas.openxmlformats.org/drawingml/2006/main" noGrp="1"/>
          </p:cNvSpPr>
          <p:nvPr/>
        </p:nvSpPr>
        <p:spPr>
          <a:xfrm xmlns:a="http://schemas.openxmlformats.org/drawingml/2006/main">
            <a:off x="5057775" y="2743200"/>
            <a:ext cx="666750" cy="666750"/>
          </a:xfrm>
          <a:prstGeom xmlns:a="http://schemas.openxmlformats.org/drawingml/2006/main" prst="flowChartDecision">
            <a:avLst/>
          </a:prstGeom>
          <a:solidFill xmlns:a="http://schemas.openxmlformats.org/drawingml/2006/main">
            <a:srgbClr val="EEF5F2"/>
          </a:solidFill>
          <a:ln xmlns:a="http://schemas.openxmlformats.org/drawingml/2006/main" w="21908">
            <a:solidFill>
              <a:srgbClr val="15866C"/>
            </a:solidFill>
            <a:prstDash val="solid"/>
          </a:ln>
        </p:spPr>
      </p:sp>
      <p:sp>
        <p:nvSpPr>
          <p:cNvPr id="29" name="Check&#10;results">
            <a:extLst xmlns:a="http://schemas.openxmlformats.org/drawingml/2006/main">
              <a:ext uri="{FF2B5EF4-FFF2-40B4-BE49-F238E27FC236}">
                <a16:creationId xmlns:a16="http://schemas.microsoft.com/office/drawing/2014/main" id="{205813CF-CB52-47F0-AB95-65B9FD4E2510}"/>
              </a:ext>
            </a:extLst>
          </p:cNvPr>
          <p:cNvSpPr>
            <a:spLocks xmlns:a="http://schemas.openxmlformats.org/drawingml/2006/main" noGrp="1"/>
          </p:cNvSpPr>
          <p:nvPr/>
        </p:nvSpPr>
        <p:spPr>
          <a:xfrm xmlns:a="http://schemas.openxmlformats.org/drawingml/2006/main">
            <a:off x="47625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Check</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results</a:t>
            </a:r>
          </a:p>
        </p:txBody>
      </p:sp>
      <p:sp>
        <p:nvSpPr>
          <p:cNvPr id="30" name="pipeline-5">
            <a:extLst xmlns:a="http://schemas.openxmlformats.org/drawingml/2006/main">
              <a:ext uri="{FF2B5EF4-FFF2-40B4-BE49-F238E27FC236}">
                <a16:creationId xmlns:a16="http://schemas.microsoft.com/office/drawing/2014/main" id="{69765312-8CF6-4AE2-A221-7C186246442F}"/>
              </a:ext>
            </a:extLst>
          </p:cNvPr>
          <p:cNvSpPr>
            <a:spLocks xmlns:a="http://schemas.openxmlformats.org/drawingml/2006/main" noGrp="1"/>
          </p:cNvSpPr>
          <p:nvPr/>
        </p:nvSpPr>
        <p:spPr>
          <a:xfrm xmlns:a="http://schemas.openxmlformats.org/drawingml/2006/main">
            <a:off x="6467475" y="2743200"/>
            <a:ext cx="666750" cy="666750"/>
          </a:xfrm>
          <a:prstGeom xmlns:a="http://schemas.openxmlformats.org/drawingml/2006/main" prst="flowChartSort">
            <a:avLst/>
          </a:prstGeom>
          <a:solidFill xmlns:a="http://schemas.openxmlformats.org/drawingml/2006/main">
            <a:srgbClr val="EEF5F2"/>
          </a:solidFill>
          <a:ln xmlns:a="http://schemas.openxmlformats.org/drawingml/2006/main" w="21908">
            <a:solidFill>
              <a:srgbClr val="15866C"/>
            </a:solidFill>
            <a:prstDash val="solid"/>
          </a:ln>
        </p:spPr>
      </p:sp>
      <p:sp>
        <p:nvSpPr>
          <p:cNvPr id="31" name="Rank&#10;profiles">
            <a:extLst xmlns:a="http://schemas.openxmlformats.org/drawingml/2006/main">
              <a:ext uri="{FF2B5EF4-FFF2-40B4-BE49-F238E27FC236}">
                <a16:creationId xmlns:a16="http://schemas.microsoft.com/office/drawing/2014/main" id="{F465723F-F850-410C-879D-EB02A1EEC099}"/>
              </a:ext>
            </a:extLst>
          </p:cNvPr>
          <p:cNvSpPr>
            <a:spLocks xmlns:a="http://schemas.openxmlformats.org/drawingml/2006/main" noGrp="1"/>
          </p:cNvSpPr>
          <p:nvPr/>
        </p:nvSpPr>
        <p:spPr>
          <a:xfrm xmlns:a="http://schemas.openxmlformats.org/drawingml/2006/main">
            <a:off x="61722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Rank</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profiles</a:t>
            </a:r>
          </a:p>
        </p:txBody>
      </p:sp>
      <p:sp>
        <p:nvSpPr>
          <p:cNvPr id="32" name="pipeline-6">
            <a:extLst xmlns:a="http://schemas.openxmlformats.org/drawingml/2006/main">
              <a:ext uri="{FF2B5EF4-FFF2-40B4-BE49-F238E27FC236}">
                <a16:creationId xmlns:a16="http://schemas.microsoft.com/office/drawing/2014/main" id="{A3670C66-D1AC-4F05-B716-77526F9531C1}"/>
              </a:ext>
            </a:extLst>
          </p:cNvPr>
          <p:cNvSpPr>
            <a:spLocks xmlns:a="http://schemas.openxmlformats.org/drawingml/2006/main" noGrp="1"/>
          </p:cNvSpPr>
          <p:nvPr/>
        </p:nvSpPr>
        <p:spPr>
          <a:xfrm xmlns:a="http://schemas.openxmlformats.org/drawingml/2006/main">
            <a:off x="7877175" y="2743200"/>
            <a:ext cx="666750" cy="666750"/>
          </a:xfrm>
          <a:prstGeom xmlns:a="http://schemas.openxmlformats.org/drawingml/2006/main" prst="flowChartManualOperation">
            <a:avLst/>
          </a:prstGeom>
          <a:solidFill xmlns:a="http://schemas.openxmlformats.org/drawingml/2006/main">
            <a:srgbClr val="EEF5F2"/>
          </a:solidFill>
          <a:ln xmlns:a="http://schemas.openxmlformats.org/drawingml/2006/main" w="21908">
            <a:solidFill>
              <a:srgbClr val="15866C"/>
            </a:solidFill>
            <a:prstDash val="solid"/>
          </a:ln>
        </p:spPr>
      </p:sp>
      <p:sp>
        <p:nvSpPr>
          <p:cNvPr id="33" name="Manager&#10;review">
            <a:extLst xmlns:a="http://schemas.openxmlformats.org/drawingml/2006/main">
              <a:ext uri="{FF2B5EF4-FFF2-40B4-BE49-F238E27FC236}">
                <a16:creationId xmlns:a16="http://schemas.microsoft.com/office/drawing/2014/main" id="{702C58ED-378F-445A-9FF5-CCBD5F74C282}"/>
              </a:ext>
            </a:extLst>
          </p:cNvPr>
          <p:cNvSpPr>
            <a:spLocks xmlns:a="http://schemas.openxmlformats.org/drawingml/2006/main" noGrp="1"/>
          </p:cNvSpPr>
          <p:nvPr/>
        </p:nvSpPr>
        <p:spPr>
          <a:xfrm xmlns:a="http://schemas.openxmlformats.org/drawingml/2006/main">
            <a:off x="75819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Manager</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review</a:t>
            </a:r>
          </a:p>
        </p:txBody>
      </p:sp>
      <p:sp>
        <p:nvSpPr>
          <p:cNvPr id="34" name="pipeline-7">
            <a:extLst xmlns:a="http://schemas.openxmlformats.org/drawingml/2006/main">
              <a:ext uri="{FF2B5EF4-FFF2-40B4-BE49-F238E27FC236}">
                <a16:creationId xmlns:a16="http://schemas.microsoft.com/office/drawing/2014/main" id="{8B5D3B66-AF31-45FB-AC78-FBD95E460A0A}"/>
              </a:ext>
            </a:extLst>
          </p:cNvPr>
          <p:cNvSpPr>
            <a:spLocks xmlns:a="http://schemas.openxmlformats.org/drawingml/2006/main" noGrp="1"/>
          </p:cNvSpPr>
          <p:nvPr/>
        </p:nvSpPr>
        <p:spPr>
          <a:xfrm xmlns:a="http://schemas.openxmlformats.org/drawingml/2006/main">
            <a:off x="9286875" y="2743200"/>
            <a:ext cx="666750" cy="666750"/>
          </a:xfrm>
          <a:prstGeom xmlns:a="http://schemas.openxmlformats.org/drawingml/2006/main" prst="flowChartDisplay">
            <a:avLst/>
          </a:prstGeom>
          <a:solidFill xmlns:a="http://schemas.openxmlformats.org/drawingml/2006/main">
            <a:srgbClr val="FFFFFF"/>
          </a:solidFill>
          <a:ln xmlns:a="http://schemas.openxmlformats.org/drawingml/2006/main" w="21908">
            <a:solidFill>
              <a:srgbClr val="81969C"/>
            </a:solidFill>
            <a:prstDash val="dash"/>
          </a:ln>
        </p:spPr>
      </p:sp>
      <p:sp>
        <p:nvSpPr>
          <p:cNvPr id="35" name="Customer&#10;contact">
            <a:extLst xmlns:a="http://schemas.openxmlformats.org/drawingml/2006/main">
              <a:ext uri="{FF2B5EF4-FFF2-40B4-BE49-F238E27FC236}">
                <a16:creationId xmlns:a16="http://schemas.microsoft.com/office/drawing/2014/main" id="{26DAF1DF-036C-45A9-A650-2E42D842EE83}"/>
              </a:ext>
            </a:extLst>
          </p:cNvPr>
          <p:cNvSpPr>
            <a:spLocks xmlns:a="http://schemas.openxmlformats.org/drawingml/2006/main" noGrp="1"/>
          </p:cNvSpPr>
          <p:nvPr/>
        </p:nvSpPr>
        <p:spPr>
          <a:xfrm xmlns:a="http://schemas.openxmlformats.org/drawingml/2006/main">
            <a:off x="89916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496168"/>
                </a:solidFill>
                <a:latin typeface="Arial"/>
                <a:ea typeface="Arial"/>
                <a:cs typeface="Arial"/>
              </a:defRPr>
            </a:defPPr>
            <a:lvl1pPr algn="ctr">
              <a:buNone/>
              <a:defRPr sz="1800" b="1">
                <a:solidFill>
                  <a:srgbClr val="496168"/>
                </a:solidFill>
                <a:latin typeface="Arial"/>
                <a:ea typeface="Arial"/>
                <a:cs typeface="Arial"/>
              </a:defRPr>
            </a:lvl1pPr>
            <a:lvl2pPr algn="ctr">
              <a:buNone/>
              <a:defRPr sz="1800" b="1">
                <a:solidFill>
                  <a:srgbClr val="496168"/>
                </a:solidFill>
                <a:latin typeface="Arial"/>
                <a:ea typeface="Arial"/>
                <a:cs typeface="Arial"/>
              </a:defRPr>
            </a:lvl2pPr>
            <a:lvl3pPr algn="ctr">
              <a:buNone/>
              <a:defRPr sz="1800" b="1">
                <a:solidFill>
                  <a:srgbClr val="496168"/>
                </a:solidFill>
                <a:latin typeface="Arial"/>
                <a:ea typeface="Arial"/>
                <a:cs typeface="Arial"/>
              </a:defRPr>
            </a:lvl3pPr>
            <a:lvl4pPr algn="ctr">
              <a:buNone/>
              <a:defRPr sz="1800" b="1">
                <a:solidFill>
                  <a:srgbClr val="496168"/>
                </a:solidFill>
                <a:latin typeface="Arial"/>
                <a:ea typeface="Arial"/>
                <a:cs typeface="Arial"/>
              </a:defRPr>
            </a:lvl4pPr>
            <a:lvl5pPr algn="ctr">
              <a:buNone/>
              <a:defRPr sz="1800" b="1">
                <a:solidFill>
                  <a:srgbClr val="496168"/>
                </a:solidFill>
                <a:latin typeface="Arial"/>
                <a:ea typeface="Arial"/>
                <a:cs typeface="Arial"/>
              </a:defRPr>
            </a:lvl5pPr>
            <a:lvl6pPr algn="ctr">
              <a:buNone/>
              <a:defRPr sz="1800" b="1">
                <a:solidFill>
                  <a:srgbClr val="496168"/>
                </a:solidFill>
                <a:latin typeface="Arial"/>
                <a:ea typeface="Arial"/>
                <a:cs typeface="Arial"/>
              </a:defRPr>
            </a:lvl6pPr>
            <a:lvl7pPr algn="ctr">
              <a:buNone/>
              <a:defRPr sz="1800" b="1">
                <a:solidFill>
                  <a:srgbClr val="496168"/>
                </a:solidFill>
                <a:latin typeface="Arial"/>
                <a:ea typeface="Arial"/>
                <a:cs typeface="Arial"/>
              </a:defRPr>
            </a:lvl7pPr>
            <a:lvl8pPr algn="ctr">
              <a:buNone/>
              <a:defRPr sz="1800" b="1">
                <a:solidFill>
                  <a:srgbClr val="496168"/>
                </a:solidFill>
                <a:latin typeface="Arial"/>
                <a:ea typeface="Arial"/>
                <a:cs typeface="Arial"/>
              </a:defRPr>
            </a:lvl8pPr>
            <a:lvl9pPr algn="ctr">
              <a:buNone/>
              <a:defRPr sz="1800" b="1">
                <a:solidFill>
                  <a:srgbClr val="496168"/>
                </a:solidFill>
                <a:latin typeface="Arial"/>
                <a:ea typeface="Arial"/>
                <a:cs typeface="Arial"/>
              </a:defRPr>
            </a:lvl9pPr>
          </a:lstStyle>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Customer</a:t>
            </a:r>
          </a:p>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contact</a:t>
            </a:r>
          </a:p>
        </p:txBody>
      </p:sp>
      <p:sp>
        <p:nvSpPr>
          <p:cNvPr id="36" name="pipeline-8">
            <a:extLst xmlns:a="http://schemas.openxmlformats.org/drawingml/2006/main">
              <a:ext uri="{FF2B5EF4-FFF2-40B4-BE49-F238E27FC236}">
                <a16:creationId xmlns:a16="http://schemas.microsoft.com/office/drawing/2014/main" id="{C1C1C395-D2A1-4C5E-AACF-54DAA027A98D}"/>
              </a:ext>
            </a:extLst>
          </p:cNvPr>
          <p:cNvSpPr>
            <a:spLocks xmlns:a="http://schemas.openxmlformats.org/drawingml/2006/main" noGrp="1"/>
          </p:cNvSpPr>
          <p:nvPr/>
        </p:nvSpPr>
        <p:spPr>
          <a:xfrm xmlns:a="http://schemas.openxmlformats.org/drawingml/2006/main">
            <a:off x="10696575" y="2743200"/>
            <a:ext cx="666750" cy="666750"/>
          </a:xfrm>
          <a:prstGeom xmlns:a="http://schemas.openxmlformats.org/drawingml/2006/main" prst="flowChartDocument">
            <a:avLst/>
          </a:prstGeom>
          <a:solidFill xmlns:a="http://schemas.openxmlformats.org/drawingml/2006/main">
            <a:srgbClr val="FFFFFF"/>
          </a:solidFill>
          <a:ln xmlns:a="http://schemas.openxmlformats.org/drawingml/2006/main" w="21908">
            <a:solidFill>
              <a:srgbClr val="81969C"/>
            </a:solidFill>
            <a:prstDash val="dash"/>
          </a:ln>
        </p:spPr>
      </p:sp>
      <p:sp>
        <p:nvSpPr>
          <p:cNvPr id="37" name="Capture&#10;outcomes">
            <a:extLst xmlns:a="http://schemas.openxmlformats.org/drawingml/2006/main">
              <a:ext uri="{FF2B5EF4-FFF2-40B4-BE49-F238E27FC236}">
                <a16:creationId xmlns:a16="http://schemas.microsoft.com/office/drawing/2014/main" id="{4EE1577B-314C-4B4F-A4A7-B61CF2200DEC}"/>
              </a:ext>
            </a:extLst>
          </p:cNvPr>
          <p:cNvSpPr>
            <a:spLocks xmlns:a="http://schemas.openxmlformats.org/drawingml/2006/main" noGrp="1"/>
          </p:cNvSpPr>
          <p:nvPr/>
        </p:nvSpPr>
        <p:spPr>
          <a:xfrm xmlns:a="http://schemas.openxmlformats.org/drawingml/2006/main">
            <a:off x="104013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496168"/>
                </a:solidFill>
                <a:latin typeface="Arial"/>
                <a:ea typeface="Arial"/>
                <a:cs typeface="Arial"/>
              </a:defRPr>
            </a:defPPr>
            <a:lvl1pPr algn="ctr">
              <a:buNone/>
              <a:defRPr sz="1800" b="1">
                <a:solidFill>
                  <a:srgbClr val="496168"/>
                </a:solidFill>
                <a:latin typeface="Arial"/>
                <a:ea typeface="Arial"/>
                <a:cs typeface="Arial"/>
              </a:defRPr>
            </a:lvl1pPr>
            <a:lvl2pPr algn="ctr">
              <a:buNone/>
              <a:defRPr sz="1800" b="1">
                <a:solidFill>
                  <a:srgbClr val="496168"/>
                </a:solidFill>
                <a:latin typeface="Arial"/>
                <a:ea typeface="Arial"/>
                <a:cs typeface="Arial"/>
              </a:defRPr>
            </a:lvl2pPr>
            <a:lvl3pPr algn="ctr">
              <a:buNone/>
              <a:defRPr sz="1800" b="1">
                <a:solidFill>
                  <a:srgbClr val="496168"/>
                </a:solidFill>
                <a:latin typeface="Arial"/>
                <a:ea typeface="Arial"/>
                <a:cs typeface="Arial"/>
              </a:defRPr>
            </a:lvl3pPr>
            <a:lvl4pPr algn="ctr">
              <a:buNone/>
              <a:defRPr sz="1800" b="1">
                <a:solidFill>
                  <a:srgbClr val="496168"/>
                </a:solidFill>
                <a:latin typeface="Arial"/>
                <a:ea typeface="Arial"/>
                <a:cs typeface="Arial"/>
              </a:defRPr>
            </a:lvl4pPr>
            <a:lvl5pPr algn="ctr">
              <a:buNone/>
              <a:defRPr sz="1800" b="1">
                <a:solidFill>
                  <a:srgbClr val="496168"/>
                </a:solidFill>
                <a:latin typeface="Arial"/>
                <a:ea typeface="Arial"/>
                <a:cs typeface="Arial"/>
              </a:defRPr>
            </a:lvl5pPr>
            <a:lvl6pPr algn="ctr">
              <a:buNone/>
              <a:defRPr sz="1800" b="1">
                <a:solidFill>
                  <a:srgbClr val="496168"/>
                </a:solidFill>
                <a:latin typeface="Arial"/>
                <a:ea typeface="Arial"/>
                <a:cs typeface="Arial"/>
              </a:defRPr>
            </a:lvl6pPr>
            <a:lvl7pPr algn="ctr">
              <a:buNone/>
              <a:defRPr sz="1800" b="1">
                <a:solidFill>
                  <a:srgbClr val="496168"/>
                </a:solidFill>
                <a:latin typeface="Arial"/>
                <a:ea typeface="Arial"/>
                <a:cs typeface="Arial"/>
              </a:defRPr>
            </a:lvl7pPr>
            <a:lvl8pPr algn="ctr">
              <a:buNone/>
              <a:defRPr sz="1800" b="1">
                <a:solidFill>
                  <a:srgbClr val="496168"/>
                </a:solidFill>
                <a:latin typeface="Arial"/>
                <a:ea typeface="Arial"/>
                <a:cs typeface="Arial"/>
              </a:defRPr>
            </a:lvl8pPr>
            <a:lvl9pPr algn="ctr">
              <a:buNone/>
              <a:defRPr sz="1800" b="1">
                <a:solidFill>
                  <a:srgbClr val="496168"/>
                </a:solidFill>
                <a:latin typeface="Arial"/>
                <a:ea typeface="Arial"/>
                <a:cs typeface="Arial"/>
              </a:defRPr>
            </a:lvl9pPr>
          </a:lstStyle>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Capture</a:t>
            </a:r>
          </a:p>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outcomes</a:t>
            </a:r>
          </a:p>
        </p:txBody>
      </p:sp>
      <p:sp>
        <p:nvSpPr>
          <p:cNvPr id="45" name="The current tool ends with a reviewed shortlis">
            <a:extLst xmlns:a="http://schemas.openxmlformats.org/drawingml/2006/main">
              <a:ext uri="{FF2B5EF4-FFF2-40B4-BE49-F238E27FC236}">
                <a16:creationId xmlns:a16="http://schemas.microsoft.com/office/drawing/2014/main" id="{6EBFB960-13D8-4E4F-86CF-00D5EABEA1F2}"/>
              </a:ext>
            </a:extLst>
          </p:cNvPr>
          <p:cNvSpPr>
            <a:spLocks xmlns:a="http://schemas.openxmlformats.org/drawingml/2006/main" noGrp="1"/>
          </p:cNvSpPr>
          <p:nvPr/>
        </p:nvSpPr>
        <p:spPr>
          <a:xfrm xmlns:a="http://schemas.openxmlformats.org/drawingml/2006/main">
            <a:off x="609600" y="5038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buNone/>
              <a:defRPr sz="2175" b="1">
                <a:solidFill>
                  <a:srgbClr val="102C32"/>
                </a:solidFill>
                <a:latin typeface="Arial"/>
                <a:ea typeface="Arial"/>
                <a:cs typeface="Arial"/>
              </a:defRPr>
            </a:lvl1pPr>
            <a:lvl2pPr algn="l">
              <a:buNone/>
              <a:defRPr sz="2175" b="1">
                <a:solidFill>
                  <a:srgbClr val="102C32"/>
                </a:solidFill>
                <a:latin typeface="Arial"/>
                <a:ea typeface="Arial"/>
                <a:cs typeface="Arial"/>
              </a:defRPr>
            </a:lvl2pPr>
            <a:lvl3pPr algn="l">
              <a:buNone/>
              <a:defRPr sz="2175" b="1">
                <a:solidFill>
                  <a:srgbClr val="102C32"/>
                </a:solidFill>
                <a:latin typeface="Arial"/>
                <a:ea typeface="Arial"/>
                <a:cs typeface="Arial"/>
              </a:defRPr>
            </a:lvl3pPr>
            <a:lvl4pPr algn="l">
              <a:buNone/>
              <a:defRPr sz="2175" b="1">
                <a:solidFill>
                  <a:srgbClr val="102C32"/>
                </a:solidFill>
                <a:latin typeface="Arial"/>
                <a:ea typeface="Arial"/>
                <a:cs typeface="Arial"/>
              </a:defRPr>
            </a:lvl4pPr>
            <a:lvl5pPr algn="l">
              <a:buNone/>
              <a:defRPr sz="2175" b="1">
                <a:solidFill>
                  <a:srgbClr val="102C32"/>
                </a:solidFill>
                <a:latin typeface="Arial"/>
                <a:ea typeface="Arial"/>
                <a:cs typeface="Arial"/>
              </a:defRPr>
            </a:lvl5pPr>
            <a:lvl6pPr algn="l">
              <a:buNone/>
              <a:defRPr sz="2175" b="1">
                <a:solidFill>
                  <a:srgbClr val="102C32"/>
                </a:solidFill>
                <a:latin typeface="Arial"/>
                <a:ea typeface="Arial"/>
                <a:cs typeface="Arial"/>
              </a:defRPr>
            </a:lvl6pPr>
            <a:lvl7pPr algn="l">
              <a:buNone/>
              <a:defRPr sz="2175" b="1">
                <a:solidFill>
                  <a:srgbClr val="102C32"/>
                </a:solidFill>
                <a:latin typeface="Arial"/>
                <a:ea typeface="Arial"/>
                <a:cs typeface="Arial"/>
              </a:defRPr>
            </a:lvl7pPr>
            <a:lvl8pPr algn="l">
              <a:buNone/>
              <a:defRPr sz="2175" b="1">
                <a:solidFill>
                  <a:srgbClr val="102C32"/>
                </a:solidFill>
                <a:latin typeface="Arial"/>
                <a:ea typeface="Arial"/>
                <a:cs typeface="Arial"/>
              </a:defRPr>
            </a:lvl8pPr>
            <a:lvl9pPr algn="l">
              <a:buNone/>
              <a:defRPr sz="2175" b="1">
                <a:solidFill>
                  <a:srgbClr val="102C32"/>
                </a:solidFill>
                <a:latin typeface="Arial"/>
                <a:ea typeface="Arial"/>
                <a:cs typeface="Arial"/>
              </a:defRPr>
            </a:lvl9pPr>
          </a:lstStyle>
          <a:p xmlns:a="http://schemas.openxmlformats.org/drawingml/2006/main">
            <a:pPr algn="l">
              <a:buNone/>
              <a:defRPr sz="2175" b="1">
                <a:solidFill>
                  <a:srgbClr val="102C32"/>
                </a:solidFill>
                <a:latin typeface="Arial"/>
                <a:ea typeface="Arial"/>
                <a:cs typeface="Arial"/>
              </a:defRPr>
            </a:pPr>
            <a:r>
              <a:rPr sz="2175" b="1">
                <a:solidFill>
                  <a:srgbClr val="102C32"/>
                </a:solidFill>
                <a:latin typeface="Arial"/>
                <a:ea typeface="Arial"/>
                <a:cs typeface="Arial"/>
              </a:rPr>
              <a:t>The current tool ends with a reviewed shortlist and CSV export</a:t>
            </a:r>
          </a:p>
        </p:txBody>
      </p:sp>
      <p:sp>
        <p:nvSpPr>
          <p:cNvPr id="46" name="A pilot would add approved contact and recorde">
            <a:extLst xmlns:a="http://schemas.openxmlformats.org/drawingml/2006/main">
              <a:ext uri="{FF2B5EF4-FFF2-40B4-BE49-F238E27FC236}">
                <a16:creationId xmlns:a16="http://schemas.microsoft.com/office/drawing/2014/main" id="{9E788780-4CCA-4E52-B171-139C2CA1E24A}"/>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96168"/>
                </a:solidFill>
                <a:latin typeface="Arial"/>
                <a:ea typeface="Arial"/>
                <a:cs typeface="Arial"/>
              </a:defRPr>
            </a:defPPr>
            <a:lvl1pPr algn="l">
              <a:buNone/>
              <a:defRPr sz="2025" b="0">
                <a:solidFill>
                  <a:srgbClr val="496168"/>
                </a:solidFill>
                <a:latin typeface="Arial"/>
                <a:ea typeface="Arial"/>
                <a:cs typeface="Arial"/>
              </a:defRPr>
            </a:lvl1pPr>
            <a:lvl2pPr algn="l">
              <a:buNone/>
              <a:defRPr sz="2025" b="0">
                <a:solidFill>
                  <a:srgbClr val="496168"/>
                </a:solidFill>
                <a:latin typeface="Arial"/>
                <a:ea typeface="Arial"/>
                <a:cs typeface="Arial"/>
              </a:defRPr>
            </a:lvl2pPr>
            <a:lvl3pPr algn="l">
              <a:buNone/>
              <a:defRPr sz="2025" b="0">
                <a:solidFill>
                  <a:srgbClr val="496168"/>
                </a:solidFill>
                <a:latin typeface="Arial"/>
                <a:ea typeface="Arial"/>
                <a:cs typeface="Arial"/>
              </a:defRPr>
            </a:lvl3pPr>
            <a:lvl4pPr algn="l">
              <a:buNone/>
              <a:defRPr sz="2025" b="0">
                <a:solidFill>
                  <a:srgbClr val="496168"/>
                </a:solidFill>
                <a:latin typeface="Arial"/>
                <a:ea typeface="Arial"/>
                <a:cs typeface="Arial"/>
              </a:defRPr>
            </a:lvl4pPr>
            <a:lvl5pPr algn="l">
              <a:buNone/>
              <a:defRPr sz="2025" b="0">
                <a:solidFill>
                  <a:srgbClr val="496168"/>
                </a:solidFill>
                <a:latin typeface="Arial"/>
                <a:ea typeface="Arial"/>
                <a:cs typeface="Arial"/>
              </a:defRPr>
            </a:lvl5pPr>
            <a:lvl6pPr algn="l">
              <a:buNone/>
              <a:defRPr sz="2025" b="0">
                <a:solidFill>
                  <a:srgbClr val="496168"/>
                </a:solidFill>
                <a:latin typeface="Arial"/>
                <a:ea typeface="Arial"/>
                <a:cs typeface="Arial"/>
              </a:defRPr>
            </a:lvl6pPr>
            <a:lvl7pPr algn="l">
              <a:buNone/>
              <a:defRPr sz="2025" b="0">
                <a:solidFill>
                  <a:srgbClr val="496168"/>
                </a:solidFill>
                <a:latin typeface="Arial"/>
                <a:ea typeface="Arial"/>
                <a:cs typeface="Arial"/>
              </a:defRPr>
            </a:lvl7pPr>
            <a:lvl8pPr algn="l">
              <a:buNone/>
              <a:defRPr sz="2025" b="0">
                <a:solidFill>
                  <a:srgbClr val="496168"/>
                </a:solidFill>
                <a:latin typeface="Arial"/>
                <a:ea typeface="Arial"/>
                <a:cs typeface="Arial"/>
              </a:defRPr>
            </a:lvl8pPr>
            <a:lvl9pPr algn="l">
              <a:buNone/>
              <a:defRPr sz="2025" b="0">
                <a:solidFill>
                  <a:srgbClr val="496168"/>
                </a:solidFill>
                <a:latin typeface="Arial"/>
                <a:ea typeface="Arial"/>
                <a:cs typeface="Arial"/>
              </a:defRPr>
            </a:lvl9pPr>
          </a:lstStyle>
          <a:p xmlns:a="http://schemas.openxmlformats.org/drawingml/2006/main">
            <a:pPr algn="l">
              <a:buNone/>
              <a:defRPr sz="2025" b="0">
                <a:solidFill>
                  <a:srgbClr val="496168"/>
                </a:solidFill>
                <a:latin typeface="Arial"/>
                <a:ea typeface="Arial"/>
                <a:cs typeface="Arial"/>
              </a:defRPr>
            </a:pPr>
            <a:r>
              <a:rPr sz="2025" b="0">
                <a:solidFill>
                  <a:srgbClr val="496168"/>
                </a:solidFill>
                <a:latin typeface="Arial"/>
                <a:ea typeface="Arial"/>
                <a:cs typeface="Arial"/>
              </a:rPr>
              <a:t>A pilot would add approved contact and recorded real outcomes</a:t>
            </a:r>
          </a:p>
        </p:txBody>
      </p:sp>
      <p:sp>
        <p:nvSpPr>
          <p:cNvPr id="48" name="planned-feedback-label">
            <a:extLst xmlns:a="http://schemas.openxmlformats.org/drawingml/2006/main">
              <a:ext uri="{FF2B5EF4-FFF2-40B4-BE49-F238E27FC236}">
                <a16:creationId xmlns:a16="http://schemas.microsoft.com/office/drawing/2014/main" id="{87BF285C-C0A4-4F71-A6D0-B8B4FB8C2E41}"/>
              </a:ext>
            </a:extLst>
          </p:cNvPr>
          <p:cNvSpPr>
            <a:spLocks xmlns:a="http://schemas.openxmlformats.org/drawingml/2006/main" noGrp="1"/>
          </p:cNvSpPr>
          <p:nvPr/>
        </p:nvSpPr>
        <p:spPr>
          <a:xfrm xmlns:a="http://schemas.openxmlformats.org/drawingml/2006/main">
            <a:off x="5619750" y="2209800"/>
            <a:ext cx="2362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725">
                <a:solidFill>
                  <a:srgbClr val="496168"/>
                </a:solidFill>
                <a:latin typeface="Arial"/>
                <a:ea typeface="Arial"/>
                <a:cs typeface="Arial"/>
              </a:defRPr>
            </a:defPPr>
            <a:lvl1pPr algn="ctr">
              <a:defRPr sz="1725">
                <a:solidFill>
                  <a:srgbClr val="496168"/>
                </a:solidFill>
                <a:latin typeface="Arial"/>
                <a:ea typeface="Arial"/>
                <a:cs typeface="Arial"/>
              </a:defRPr>
            </a:lvl1pPr>
            <a:lvl2pPr algn="ctr">
              <a:defRPr sz="1725">
                <a:solidFill>
                  <a:srgbClr val="496168"/>
                </a:solidFill>
                <a:latin typeface="Arial"/>
                <a:ea typeface="Arial"/>
                <a:cs typeface="Arial"/>
              </a:defRPr>
            </a:lvl2pPr>
            <a:lvl3pPr algn="ctr">
              <a:defRPr sz="1725">
                <a:solidFill>
                  <a:srgbClr val="496168"/>
                </a:solidFill>
                <a:latin typeface="Arial"/>
                <a:ea typeface="Arial"/>
                <a:cs typeface="Arial"/>
              </a:defRPr>
            </a:lvl3pPr>
            <a:lvl4pPr algn="ctr">
              <a:defRPr sz="1725">
                <a:solidFill>
                  <a:srgbClr val="496168"/>
                </a:solidFill>
                <a:latin typeface="Arial"/>
                <a:ea typeface="Arial"/>
                <a:cs typeface="Arial"/>
              </a:defRPr>
            </a:lvl4pPr>
            <a:lvl5pPr algn="ctr">
              <a:defRPr sz="1725">
                <a:solidFill>
                  <a:srgbClr val="496168"/>
                </a:solidFill>
                <a:latin typeface="Arial"/>
                <a:ea typeface="Arial"/>
                <a:cs typeface="Arial"/>
              </a:defRPr>
            </a:lvl5pPr>
            <a:lvl6pPr algn="ctr">
              <a:defRPr sz="1725">
                <a:solidFill>
                  <a:srgbClr val="496168"/>
                </a:solidFill>
                <a:latin typeface="Arial"/>
                <a:ea typeface="Arial"/>
                <a:cs typeface="Arial"/>
              </a:defRPr>
            </a:lvl6pPr>
            <a:lvl7pPr algn="ctr">
              <a:defRPr sz="1725">
                <a:solidFill>
                  <a:srgbClr val="496168"/>
                </a:solidFill>
                <a:latin typeface="Arial"/>
                <a:ea typeface="Arial"/>
                <a:cs typeface="Arial"/>
              </a:defRPr>
            </a:lvl7pPr>
            <a:lvl8pPr algn="ctr">
              <a:defRPr sz="1725">
                <a:solidFill>
                  <a:srgbClr val="496168"/>
                </a:solidFill>
                <a:latin typeface="Arial"/>
                <a:ea typeface="Arial"/>
                <a:cs typeface="Arial"/>
              </a:defRPr>
            </a:lvl8pPr>
            <a:lvl9pPr algn="ctr">
              <a:defRPr sz="1725">
                <a:solidFill>
                  <a:srgbClr val="496168"/>
                </a:solidFill>
                <a:latin typeface="Arial"/>
                <a:ea typeface="Arial"/>
                <a:cs typeface="Arial"/>
              </a:defRPr>
            </a:lvl9pPr>
          </a:lstStyle>
          <a:p xmlns:a="http://schemas.openxmlformats.org/drawingml/2006/main">
            <a:pPr algn="ctr">
              <a:defRPr sz="1725">
                <a:solidFill>
                  <a:srgbClr val="496168"/>
                </a:solidFill>
                <a:latin typeface="Arial"/>
                <a:ea typeface="Arial"/>
                <a:cs typeface="Arial"/>
              </a:defRPr>
            </a:pPr>
            <a:r>
              <a:rPr sz="1725">
                <a:solidFill>
                  <a:srgbClr val="496168"/>
                </a:solidFill>
                <a:latin typeface="Arial"/>
                <a:ea typeface="Arial"/>
                <a:cs typeface="Arial"/>
              </a:rPr>
              <a:t>Planned feedback</a:t>
            </a:r>
          </a:p>
        </p:txBody>
      </p:sp>
    </p:spTree>
    <p:extLst>
      <p:ext uri="{BB962C8B-B14F-4D97-AF65-F5344CB8AC3E}">
        <p14:creationId xmlns:p14="http://schemas.microsoft.com/office/powerpoint/2010/main" val="7649510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19E6845-21E2-4D7A-B73E-255C1D64E37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Recommendation: a reviewed pilot</a:t>
            </a:r>
          </a:p>
        </p:txBody>
      </p:sp>
      <p:sp>
        <p:nvSpPr>
          <p:cNvPr id="2" name="MSBA265  /  Final Project Proposal">
            <a:extLst xmlns:a="http://schemas.openxmlformats.org/drawingml/2006/main">
              <a:ext uri="{FF2B5EF4-FFF2-40B4-BE49-F238E27FC236}">
                <a16:creationId xmlns:a16="http://schemas.microsoft.com/office/drawing/2014/main" id="{F9839B4D-D653-48D6-A0F0-7D77594E018F}"/>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9">
            <a:extLst xmlns:a="http://schemas.openxmlformats.org/drawingml/2006/main">
              <a:ext uri="{FF2B5EF4-FFF2-40B4-BE49-F238E27FC236}">
                <a16:creationId xmlns:a16="http://schemas.microsoft.com/office/drawing/2014/main" id="{D118593F-8EB0-4D36-AC2D-8A4E07330A8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09</a:t>
            </a:r>
          </a:p>
        </p:txBody>
      </p:sp>
      <p:sp>
        <p:nvSpPr>
          <p:cNvPr id="8" name="Use the prototype to support shortlist review">
            <a:extLst xmlns:a="http://schemas.openxmlformats.org/drawingml/2006/main">
              <a:ext uri="{FF2B5EF4-FFF2-40B4-BE49-F238E27FC236}">
                <a16:creationId xmlns:a16="http://schemas.microsoft.com/office/drawing/2014/main" id="{33EA7710-EAF2-4302-B8E4-0CCFC2C6E0A0}"/>
              </a:ext>
            </a:extLst>
          </p:cNvPr>
          <p:cNvSpPr>
            <a:spLocks xmlns:a="http://schemas.openxmlformats.org/drawingml/2006/main" noGrp="1"/>
          </p:cNvSpPr>
          <p:nvPr/>
        </p:nvSpPr>
        <p:spPr>
          <a:xfrm xmlns:a="http://schemas.openxmlformats.org/drawingml/2006/main">
            <a:off x="609600" y="13716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866C"/>
                </a:solidFill>
                <a:latin typeface="Arial"/>
                <a:ea typeface="Arial"/>
                <a:cs typeface="Arial"/>
              </a:defRPr>
            </a:defPPr>
            <a:lvl1pPr algn="l">
              <a:defRPr sz="2400" b="1">
                <a:solidFill>
                  <a:srgbClr val="15866C"/>
                </a:solidFill>
                <a:latin typeface="Arial"/>
                <a:ea typeface="Arial"/>
                <a:cs typeface="Arial"/>
              </a:defRPr>
            </a:lvl1pPr>
            <a:lvl2pPr algn="l">
              <a:defRPr sz="2400" b="1">
                <a:solidFill>
                  <a:srgbClr val="15866C"/>
                </a:solidFill>
                <a:latin typeface="Arial"/>
                <a:ea typeface="Arial"/>
                <a:cs typeface="Arial"/>
              </a:defRPr>
            </a:lvl2pPr>
            <a:lvl3pPr algn="l">
              <a:defRPr sz="2400" b="1">
                <a:solidFill>
                  <a:srgbClr val="15866C"/>
                </a:solidFill>
                <a:latin typeface="Arial"/>
                <a:ea typeface="Arial"/>
                <a:cs typeface="Arial"/>
              </a:defRPr>
            </a:lvl3pPr>
            <a:lvl4pPr algn="l">
              <a:defRPr sz="2400" b="1">
                <a:solidFill>
                  <a:srgbClr val="15866C"/>
                </a:solidFill>
                <a:latin typeface="Arial"/>
                <a:ea typeface="Arial"/>
                <a:cs typeface="Arial"/>
              </a:defRPr>
            </a:lvl4pPr>
            <a:lvl5pPr algn="l">
              <a:defRPr sz="2400" b="1">
                <a:solidFill>
                  <a:srgbClr val="15866C"/>
                </a:solidFill>
                <a:latin typeface="Arial"/>
                <a:ea typeface="Arial"/>
                <a:cs typeface="Arial"/>
              </a:defRPr>
            </a:lvl5pPr>
            <a:lvl6pPr algn="l">
              <a:defRPr sz="2400" b="1">
                <a:solidFill>
                  <a:srgbClr val="15866C"/>
                </a:solidFill>
                <a:latin typeface="Arial"/>
                <a:ea typeface="Arial"/>
                <a:cs typeface="Arial"/>
              </a:defRPr>
            </a:lvl6pPr>
            <a:lvl7pPr algn="l">
              <a:defRPr sz="2400" b="1">
                <a:solidFill>
                  <a:srgbClr val="15866C"/>
                </a:solidFill>
                <a:latin typeface="Arial"/>
                <a:ea typeface="Arial"/>
                <a:cs typeface="Arial"/>
              </a:defRPr>
            </a:lvl7pPr>
            <a:lvl8pPr algn="l">
              <a:defRPr sz="2400" b="1">
                <a:solidFill>
                  <a:srgbClr val="15866C"/>
                </a:solidFill>
                <a:latin typeface="Arial"/>
                <a:ea typeface="Arial"/>
                <a:cs typeface="Arial"/>
              </a:defRPr>
            </a:lvl8pPr>
            <a:lvl9pPr algn="l">
              <a:defRPr sz="2400" b="1">
                <a:solidFill>
                  <a:srgbClr val="15866C"/>
                </a:solidFill>
                <a:latin typeface="Arial"/>
                <a:ea typeface="Arial"/>
                <a:cs typeface="Arial"/>
              </a:defRPr>
            </a:lvl9pPr>
          </a:lstStyle>
          <a:p xmlns:a="http://schemas.openxmlformats.org/drawingml/2006/main">
            <a:pPr algn="l">
              <a:defRPr sz="2400" b="1">
                <a:solidFill>
                  <a:srgbClr val="15866C"/>
                </a:solidFill>
                <a:latin typeface="Arial"/>
                <a:ea typeface="Arial"/>
                <a:cs typeface="Arial"/>
              </a:defRPr>
            </a:pPr>
            <a:r>
              <a:rPr sz="2400" b="1">
                <a:solidFill>
                  <a:srgbClr val="15866C"/>
                </a:solidFill>
                <a:latin typeface="Arial"/>
                <a:ea typeface="Arial"/>
                <a:cs typeface="Arial"/>
              </a:rPr>
              <a:t>Use the prototype to support shortlist review</a:t>
            </a:r>
          </a:p>
        </p:txBody>
      </p:sp>
      <p:sp>
        <p:nvSpPr>
          <p:cNvPr id="9" name="Pilot scope">
            <a:extLst xmlns:a="http://schemas.openxmlformats.org/drawingml/2006/main">
              <a:ext uri="{FF2B5EF4-FFF2-40B4-BE49-F238E27FC236}">
                <a16:creationId xmlns:a16="http://schemas.microsoft.com/office/drawing/2014/main" id="{F6D8A2A9-C3FD-4333-8630-569B3A1393FE}"/>
              </a:ext>
            </a:extLst>
          </p:cNvPr>
          <p:cNvSpPr>
            <a:spLocks xmlns:a="http://schemas.openxmlformats.org/drawingml/2006/main" noGrp="1"/>
          </p:cNvSpPr>
          <p:nvPr/>
        </p:nvSpPr>
        <p:spPr>
          <a:xfrm xmlns:a="http://schemas.openxmlformats.org/drawingml/2006/main">
            <a:off x="609600" y="23907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Pilot scope</a:t>
            </a:r>
          </a:p>
        </p:txBody>
      </p:sp>
      <p:sp>
        <p:nvSpPr>
          <p:cNvPr id="10" name="Use approved customer profiles&#10;with suitable p">
            <a:extLst xmlns:a="http://schemas.openxmlformats.org/drawingml/2006/main">
              <a:ext uri="{FF2B5EF4-FFF2-40B4-BE49-F238E27FC236}">
                <a16:creationId xmlns:a16="http://schemas.microsoft.com/office/drawing/2014/main" id="{971F39BD-0AEA-42F2-B15C-20CBAB65CEF2}"/>
              </a:ext>
            </a:extLst>
          </p:cNvPr>
          <p:cNvSpPr>
            <a:spLocks xmlns:a="http://schemas.openxmlformats.org/drawingml/2006/main" noGrp="1"/>
          </p:cNvSpPr>
          <p:nvPr/>
        </p:nvSpPr>
        <p:spPr>
          <a:xfrm xmlns:a="http://schemas.openxmlformats.org/drawingml/2006/main">
            <a:off x="609600" y="29622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Use approved customer profiles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with suitable permission.</a:t>
            </a:r>
          </a:p>
        </p:txBody>
      </p:sp>
      <p:sp>
        <p:nvSpPr>
          <p:cNvPr id="11" name="Set a review limit that matches&#10;the team’s cap">
            <a:extLst xmlns:a="http://schemas.openxmlformats.org/drawingml/2006/main">
              <a:ext uri="{FF2B5EF4-FFF2-40B4-BE49-F238E27FC236}">
                <a16:creationId xmlns:a16="http://schemas.microsoft.com/office/drawing/2014/main" id="{27731EFD-99CE-4A66-AECB-05EF461B3FF5}"/>
              </a:ext>
            </a:extLst>
          </p:cNvPr>
          <p:cNvSpPr>
            <a:spLocks xmlns:a="http://schemas.openxmlformats.org/drawingml/2006/main" noGrp="1"/>
          </p:cNvSpPr>
          <p:nvPr/>
        </p:nvSpPr>
        <p:spPr>
          <a:xfrm xmlns:a="http://schemas.openxmlformats.org/drawingml/2006/main">
            <a:off x="609600" y="40290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Set a review limit that matches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the team’s capacity.</a:t>
            </a:r>
          </a:p>
        </p:txBody>
      </p:sp>
      <p:sp>
        <p:nvSpPr>
          <p:cNvPr id="12" name="Have staff review every profile&#10;before contact">
            <a:extLst xmlns:a="http://schemas.openxmlformats.org/drawingml/2006/main">
              <a:ext uri="{FF2B5EF4-FFF2-40B4-BE49-F238E27FC236}">
                <a16:creationId xmlns:a16="http://schemas.microsoft.com/office/drawing/2014/main" id="{ED8EDE64-2752-428C-8736-7642C72C276C}"/>
              </a:ext>
            </a:extLst>
          </p:cNvPr>
          <p:cNvSpPr>
            <a:spLocks xmlns:a="http://schemas.openxmlformats.org/drawingml/2006/main" noGrp="1"/>
          </p:cNvSpPr>
          <p:nvPr/>
        </p:nvSpPr>
        <p:spPr>
          <a:xfrm xmlns:a="http://schemas.openxmlformats.org/drawingml/2006/main">
            <a:off x="609600" y="50958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Have staff review every profile</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before contact.</a:t>
            </a:r>
          </a:p>
        </p:txBody>
      </p:sp>
      <p:sp>
        <p:nvSpPr>
          <p:cNvPr id="13" name="Evidence for the decision">
            <a:extLst xmlns:a="http://schemas.openxmlformats.org/drawingml/2006/main">
              <a:ext uri="{FF2B5EF4-FFF2-40B4-BE49-F238E27FC236}">
                <a16:creationId xmlns:a16="http://schemas.microsoft.com/office/drawing/2014/main" id="{FF1DEA74-E86D-491B-9864-DC6B82B81BF2}"/>
              </a:ext>
            </a:extLst>
          </p:cNvPr>
          <p:cNvSpPr>
            <a:spLocks xmlns:a="http://schemas.openxmlformats.org/drawingml/2006/main" noGrp="1"/>
          </p:cNvSpPr>
          <p:nvPr/>
        </p:nvSpPr>
        <p:spPr>
          <a:xfrm xmlns:a="http://schemas.openxmlformats.org/drawingml/2006/main">
            <a:off x="6705600" y="23907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Evidence for the decision</a:t>
            </a:r>
          </a:p>
        </p:txBody>
      </p:sp>
      <p:sp>
        <p:nvSpPr>
          <p:cNvPr id="14" name="Compare with the current selection&#10;at the same">
            <a:extLst xmlns:a="http://schemas.openxmlformats.org/drawingml/2006/main">
              <a:ext uri="{FF2B5EF4-FFF2-40B4-BE49-F238E27FC236}">
                <a16:creationId xmlns:a16="http://schemas.microsoft.com/office/drawing/2014/main" id="{EECAB9D3-9523-41CE-A448-C4F16D22DA96}"/>
              </a:ext>
            </a:extLst>
          </p:cNvPr>
          <p:cNvSpPr>
            <a:spLocks xmlns:a="http://schemas.openxmlformats.org/drawingml/2006/main" noGrp="1"/>
          </p:cNvSpPr>
          <p:nvPr/>
        </p:nvSpPr>
        <p:spPr>
          <a:xfrm xmlns:a="http://schemas.openxmlformats.org/drawingml/2006/main">
            <a:off x="6705600" y="29622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Compare with the current selection</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at the same review limit.</a:t>
            </a:r>
          </a:p>
        </p:txBody>
      </p:sp>
      <p:sp>
        <p:nvSpPr>
          <p:cNvPr id="15" name="Record actual contact and purchase&#10;outcomes ov">
            <a:extLst xmlns:a="http://schemas.openxmlformats.org/drawingml/2006/main">
              <a:ext uri="{FF2B5EF4-FFF2-40B4-BE49-F238E27FC236}">
                <a16:creationId xmlns:a16="http://schemas.microsoft.com/office/drawing/2014/main" id="{76447566-92A0-40E6-B639-43AA7B9867E5}"/>
              </a:ext>
            </a:extLst>
          </p:cNvPr>
          <p:cNvSpPr>
            <a:spLocks xmlns:a="http://schemas.openxmlformats.org/drawingml/2006/main" noGrp="1"/>
          </p:cNvSpPr>
          <p:nvPr/>
        </p:nvSpPr>
        <p:spPr>
          <a:xfrm xmlns:a="http://schemas.openxmlformats.org/drawingml/2006/main">
            <a:off x="6705600" y="40290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Record actual contact and purchase</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outcomes over an agreed period.</a:t>
            </a:r>
          </a:p>
        </p:txBody>
      </p:sp>
      <p:sp>
        <p:nvSpPr>
          <p:cNvPr id="16" name="Check outcomes across customer&#10;groups before e">
            <a:extLst xmlns:a="http://schemas.openxmlformats.org/drawingml/2006/main">
              <a:ext uri="{FF2B5EF4-FFF2-40B4-BE49-F238E27FC236}">
                <a16:creationId xmlns:a16="http://schemas.microsoft.com/office/drawing/2014/main" id="{4933F8AB-A93F-4691-8E7D-0EE8F2875988}"/>
              </a:ext>
            </a:extLst>
          </p:cNvPr>
          <p:cNvSpPr>
            <a:spLocks xmlns:a="http://schemas.openxmlformats.org/drawingml/2006/main" noGrp="1"/>
          </p:cNvSpPr>
          <p:nvPr/>
        </p:nvSpPr>
        <p:spPr>
          <a:xfrm xmlns:a="http://schemas.openxmlformats.org/drawingml/2006/main">
            <a:off x="6705600" y="50958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Check outcomes across customer</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groups before expanding.</a:t>
            </a:r>
          </a:p>
        </p:txBody>
      </p:sp>
    </p:spTree>
    <p:extLst>
      <p:ext uri="{BB962C8B-B14F-4D97-AF65-F5344CB8AC3E}">
        <p14:creationId xmlns:p14="http://schemas.microsoft.com/office/powerpoint/2010/main" val="14931140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7390452-C83C-4640-81EF-DFEBC870C71A}"/>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Discussion: using the shortlist</a:t>
            </a:r>
          </a:p>
        </p:txBody>
      </p:sp>
      <p:sp>
        <p:nvSpPr>
          <p:cNvPr id="2" name="MSBA265  /  Backup">
            <a:extLst xmlns:a="http://schemas.openxmlformats.org/drawingml/2006/main">
              <a:ext uri="{FF2B5EF4-FFF2-40B4-BE49-F238E27FC236}">
                <a16:creationId xmlns:a16="http://schemas.microsoft.com/office/drawing/2014/main" id="{C3F3282B-7175-4D38-BC69-8572FDA126DD}"/>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  /  Discussion</a:t>
            </a:r>
          </a:p>
        </p:txBody>
      </p:sp>
      <p:sp>
        <p:nvSpPr>
          <p:cNvPr id="3" name="10">
            <a:extLst xmlns:a="http://schemas.openxmlformats.org/drawingml/2006/main">
              <a:ext uri="{FF2B5EF4-FFF2-40B4-BE49-F238E27FC236}">
                <a16:creationId xmlns:a16="http://schemas.microsoft.com/office/drawing/2014/main" id="{2CDECB22-04DA-4A83-B140-F7A9925D0F2C}"/>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10</a:t>
            </a:r>
          </a:p>
        </p:txBody>
      </p:sp>
      <p:graphicFrame>
        <p:nvGraphicFramePr>
          <p:cNvPr id="7" name="">
            <a:extLst xmlns:a="http://schemas.openxmlformats.org/drawingml/2006/main">
              <a:ext uri="{FF2B5EF4-FFF2-40B4-BE49-F238E27FC236}">
                <a16:creationId xmlns:a16="http://schemas.microsoft.com/office/drawing/2014/main" id="{4115773C-541F-470C-BAD0-FA02D1095BCF}"/>
              </a:ext>
            </a:extLst>
          </p:cNvPr>
          <p:cNvGraphicFramePr/>
          <p:nvPr/>
        </p:nvGraphicFramePr>
        <p:xfrm>
          <a:off xmlns:a="http://schemas.openxmlformats.org/drawingml/2006/main" x="609600" y="1562100"/>
          <a:ext xmlns:a="http://schemas.openxmlformats.org/drawingml/2006/main" cx="10972800" cy="4419600"/>
        </p:xfrm>
        <a:graphic xmlns:a="http://schemas.openxmlformats.org/drawingml/2006/main">
          <a:graphicData uri="http://schemas.openxmlformats.org/drawingml/2006/table">
            <a:tbl>
              <a:tblPr/>
              <a:tblGrid>
                <a:gridCol w="3400425"/>
                <a:gridCol w="7572375"/>
              </a:tblGrid>
              <a:tr h="609600">
                <a:tc>
                  <a:txBody>
                    <a:bodyPr/>
                    <a:lstStyle/>
                    <a:p>
                      <a:r>
                        <a:rPr sz="1950" b="1">
                          <a:solidFill>
                            <a:srgbClr val="FFFFFF"/>
                          </a:solidFill>
                          <a:latin typeface="Arial"/>
                          <a:ea typeface="Arial"/>
                          <a:cs typeface="Arial"/>
                        </a:rPr>
                        <a:t>Question</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1950" b="1">
                          <a:solidFill>
                            <a:srgbClr val="FFFFFF"/>
                          </a:solidFill>
                          <a:latin typeface="Arial"/>
                          <a:ea typeface="Arial"/>
                          <a:cs typeface="Arial"/>
                        </a:rPr>
                        <a:t>Answer</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1950" b="0">
                          <a:solidFill>
                            <a:srgbClr val="102C32"/>
                          </a:solidFill>
                          <a:latin typeface="Arial"/>
                          <a:ea typeface="Arial"/>
                          <a:cs typeface="Arial"/>
                        </a:rPr>
                        <a:t>What file does it accept?</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1950" b="0">
                          <a:solidFill>
                            <a:srgbClr val="102C32"/>
                          </a:solidFill>
                          <a:latin typeface="Arial"/>
                          <a:ea typeface="Arial"/>
                          <a:cs typeface="Arial"/>
                        </a:rPr>
                        <a:t>A CSV with an ID and 13 required profile fields.</a:t>
                      </a:r>
                    </a:p>
                    <a:p>
                      <a:r>
                        <a:rPr sz="1950" b="0">
                          <a:solidFill>
                            <a:srgbClr val="102C32"/>
                          </a:solidFill>
                          <a:latin typeface="Arial"/>
                          <a:ea typeface="Arial"/>
                          <a:cs typeface="Arial"/>
                        </a:rPr>
                        <a:t>The downloadable template provides column names.</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1950" b="0">
                          <a:solidFill>
                            <a:srgbClr val="102C32"/>
                          </a:solidFill>
                          <a:latin typeface="Arial"/>
                          <a:ea typeface="Arial"/>
                          <a:cs typeface="Arial"/>
                        </a:rPr>
                        <a:t>Does it include contact details?</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1950" b="0">
                          <a:solidFill>
                            <a:srgbClr val="102C32"/>
                          </a:solidFill>
                          <a:latin typeface="Arial"/>
                          <a:ea typeface="Arial"/>
                          <a:cs typeface="Arial"/>
                        </a:rPr>
                        <a:t>The dataset contains IDs and recorded fields.</a:t>
                      </a:r>
                    </a:p>
                    <a:p>
                      <a:r>
                        <a:rPr sz="1950" b="0">
                          <a:solidFill>
                            <a:srgbClr val="102C32"/>
                          </a:solidFill>
                          <a:latin typeface="Arial"/>
                          <a:ea typeface="Arial"/>
                          <a:cs typeface="Arial"/>
                        </a:rPr>
                        <a:t>It supplies no names, email addresses or phone numbers.</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r h="0">
                <a:tc>
                  <a:txBody>
                    <a:bodyPr/>
                    <a:lstStyle/>
                    <a:p>
                      <a:r>
                        <a:rPr sz="1950" b="0">
                          <a:solidFill>
                            <a:srgbClr val="102C32"/>
                          </a:solidFill>
                          <a:latin typeface="Arial"/>
                          <a:ea typeface="Arial"/>
                          <a:cs typeface="Arial"/>
                        </a:rPr>
                        <a:t>Who approves a contact list?</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1950" b="0">
                          <a:solidFill>
                            <a:srgbClr val="102C32"/>
                          </a:solidFill>
                          <a:latin typeface="Arial"/>
                          <a:ea typeface="Arial"/>
                          <a:cs typeface="Arial"/>
                        </a:rPr>
                        <a:t>The manager reviews selected profiles and</a:t>
                      </a:r>
                    </a:p>
                    <a:p>
                      <a:r>
                        <a:rPr sz="1950" b="0">
                          <a:solidFill>
                            <a:srgbClr val="102C32"/>
                          </a:solidFill>
                          <a:latin typeface="Arial"/>
                          <a:ea typeface="Arial"/>
                          <a:cs typeface="Arial"/>
                        </a:rPr>
                        <a:t>confirms whether contact is appropriate.</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1950" b="0">
                          <a:solidFill>
                            <a:srgbClr val="102C32"/>
                          </a:solidFill>
                          <a:latin typeface="Arial"/>
                          <a:ea typeface="Arial"/>
                          <a:cs typeface="Arial"/>
                        </a:rPr>
                        <a:t>What does a score mean?</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1950" b="0">
                          <a:solidFill>
                            <a:srgbClr val="102C32"/>
                          </a:solidFill>
                          <a:latin typeface="Arial"/>
                          <a:ea typeface="Arial"/>
                          <a:cs typeface="Arial"/>
                        </a:rPr>
                        <a:t>An estimate of the supplied synthetic Yes label.</a:t>
                      </a:r>
                    </a:p>
                    <a:p>
                      <a:r>
                        <a:rPr sz="1950" b="0">
                          <a:solidFill>
                            <a:srgbClr val="102C32"/>
                          </a:solidFill>
                          <a:latin typeface="Arial"/>
                          <a:ea typeface="Arial"/>
                          <a:cs typeface="Arial"/>
                        </a:rPr>
                        <a:t>Actual business outcomes need a separate pilot.</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Tree>
    <p:extLst>
      <p:ext uri="{BB962C8B-B14F-4D97-AF65-F5344CB8AC3E}">
        <p14:creationId xmlns:p14="http://schemas.microsoft.com/office/powerpoint/2010/main" val="1786992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95FCDCC-412E-4046-A7FF-E2E5BB403A4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Discussion: limits and next steps</a:t>
            </a:r>
          </a:p>
        </p:txBody>
      </p:sp>
      <p:sp>
        <p:nvSpPr>
          <p:cNvPr id="2" name="MSBA265  /  Backup">
            <a:extLst xmlns:a="http://schemas.openxmlformats.org/drawingml/2006/main">
              <a:ext uri="{FF2B5EF4-FFF2-40B4-BE49-F238E27FC236}">
                <a16:creationId xmlns:a16="http://schemas.microsoft.com/office/drawing/2014/main" id="{2BB7BF09-BC0C-4556-9DF4-0DFB912E766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  /  Discussion</a:t>
            </a:r>
          </a:p>
        </p:txBody>
      </p:sp>
      <p:sp>
        <p:nvSpPr>
          <p:cNvPr id="3" name="11">
            <a:extLst xmlns:a="http://schemas.openxmlformats.org/drawingml/2006/main">
              <a:ext uri="{FF2B5EF4-FFF2-40B4-BE49-F238E27FC236}">
                <a16:creationId xmlns:a16="http://schemas.microsoft.com/office/drawing/2014/main" id="{37AE8328-31AC-44AC-BB96-61377EA0C4E9}"/>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11</a:t>
            </a:r>
          </a:p>
        </p:txBody>
      </p:sp>
      <p:sp>
        <p:nvSpPr>
          <p:cNvPr id="9" name="Known limits">
            <a:extLst xmlns:a="http://schemas.openxmlformats.org/drawingml/2006/main">
              <a:ext uri="{FF2B5EF4-FFF2-40B4-BE49-F238E27FC236}">
                <a16:creationId xmlns:a16="http://schemas.microsoft.com/office/drawing/2014/main" id="{06877CFD-D40E-460C-9B97-5DBA7FACE920}"/>
              </a:ext>
            </a:extLst>
          </p:cNvPr>
          <p:cNvSpPr>
            <a:spLocks xmlns:a="http://schemas.openxmlformats.org/drawingml/2006/main" noGrp="1"/>
          </p:cNvSpPr>
          <p:nvPr/>
        </p:nvSpPr>
        <p:spPr>
          <a:xfrm xmlns:a="http://schemas.openxmlformats.org/drawingml/2006/main">
            <a:off x="609600" y="16192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Known limits</a:t>
            </a:r>
          </a:p>
        </p:txBody>
      </p:sp>
      <p:sp>
        <p:nvSpPr>
          <p:cNvPr id="10" name="Synthetic data and unverified&#10;purchase timing&#10;">
            <a:extLst xmlns:a="http://schemas.openxmlformats.org/drawingml/2006/main">
              <a:ext uri="{FF2B5EF4-FFF2-40B4-BE49-F238E27FC236}">
                <a16:creationId xmlns:a16="http://schemas.microsoft.com/office/drawing/2014/main" id="{E8408F5F-1461-49F3-8736-6E95B888140F}"/>
              </a:ext>
            </a:extLst>
          </p:cNvPr>
          <p:cNvSpPr>
            <a:spLocks xmlns:a="http://schemas.openxmlformats.org/drawingml/2006/main" noGrp="1"/>
          </p:cNvSpPr>
          <p:nvPr/>
        </p:nvSpPr>
        <p:spPr>
          <a:xfrm xmlns:a="http://schemas.openxmlformats.org/drawingml/2006/main">
            <a:off x="609600" y="2238375"/>
            <a:ext cx="52387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Synthetic data and unverified</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purchase timing</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No company sales outcomes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Fairness and real-world usefulness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remain untested</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Some field definitions are unclear</a:t>
            </a:r>
          </a:p>
        </p:txBody>
      </p:sp>
      <p:sp>
        <p:nvSpPr>
          <p:cNvPr id="11" name="Planned before wider use">
            <a:extLst xmlns:a="http://schemas.openxmlformats.org/drawingml/2006/main">
              <a:ext uri="{FF2B5EF4-FFF2-40B4-BE49-F238E27FC236}">
                <a16:creationId xmlns:a16="http://schemas.microsoft.com/office/drawing/2014/main" id="{44779E0C-7CAB-4E8C-9931-1A5CB13B8C46}"/>
              </a:ext>
            </a:extLst>
          </p:cNvPr>
          <p:cNvSpPr>
            <a:spLocks xmlns:a="http://schemas.openxmlformats.org/drawingml/2006/main" noGrp="1"/>
          </p:cNvSpPr>
          <p:nvPr/>
        </p:nvSpPr>
        <p:spPr>
          <a:xfrm xmlns:a="http://schemas.openxmlformats.org/drawingml/2006/main">
            <a:off x="6705600" y="16192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Planned before wider use</a:t>
            </a:r>
          </a:p>
        </p:txBody>
      </p:sp>
      <p:sp>
        <p:nvSpPr>
          <p:cNvPr id="12" name="Validate with approved real profiles&#10;and measu">
            <a:extLst xmlns:a="http://schemas.openxmlformats.org/drawingml/2006/main">
              <a:ext uri="{FF2B5EF4-FFF2-40B4-BE49-F238E27FC236}">
                <a16:creationId xmlns:a16="http://schemas.microsoft.com/office/drawing/2014/main" id="{DCC13963-6C9A-43CC-A764-61C5F5B0C705}"/>
              </a:ext>
            </a:extLst>
          </p:cNvPr>
          <p:cNvSpPr>
            <a:spLocks xmlns:a="http://schemas.openxmlformats.org/drawingml/2006/main" noGrp="1"/>
          </p:cNvSpPr>
          <p:nvPr/>
        </p:nvSpPr>
        <p:spPr>
          <a:xfrm xmlns:a="http://schemas.openxmlformats.org/drawingml/2006/main">
            <a:off x="6705600" y="2238375"/>
            <a:ext cx="48577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Validate with approved real profiles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and measured business outcomes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Connect scoring to company systems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Package the tool for repeatable setup</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Monitor input quality and failures</a:t>
            </a:r>
          </a:p>
        </p:txBody>
      </p:sp>
      <p:sp>
        <p:nvSpPr>
          <p:cNvPr id="13" name="Decision today: agree a reviewed pilot and mea">
            <a:extLst xmlns:a="http://schemas.openxmlformats.org/drawingml/2006/main">
              <a:ext uri="{FF2B5EF4-FFF2-40B4-BE49-F238E27FC236}">
                <a16:creationId xmlns:a16="http://schemas.microsoft.com/office/drawing/2014/main" id="{ABB7A40A-9076-4513-B2A1-E00009C7F809}"/>
              </a:ext>
            </a:extLst>
          </p:cNvPr>
          <p:cNvSpPr>
            <a:spLocks xmlns:a="http://schemas.openxmlformats.org/drawingml/2006/main" noGrp="1"/>
          </p:cNvSpPr>
          <p:nvPr/>
        </p:nvSpPr>
        <p:spPr>
          <a:xfrm xmlns:a="http://schemas.openxmlformats.org/drawingml/2006/main">
            <a:off x="609600" y="57245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defRPr sz="2175" b="1">
                <a:solidFill>
                  <a:srgbClr val="102C32"/>
                </a:solidFill>
                <a:latin typeface="Arial"/>
                <a:ea typeface="Arial"/>
                <a:cs typeface="Arial"/>
              </a:defRPr>
            </a:lvl1pPr>
            <a:lvl2pPr algn="l">
              <a:defRPr sz="2175" b="1">
                <a:solidFill>
                  <a:srgbClr val="102C32"/>
                </a:solidFill>
                <a:latin typeface="Arial"/>
                <a:ea typeface="Arial"/>
                <a:cs typeface="Arial"/>
              </a:defRPr>
            </a:lvl2pPr>
            <a:lvl3pPr algn="l">
              <a:defRPr sz="2175" b="1">
                <a:solidFill>
                  <a:srgbClr val="102C32"/>
                </a:solidFill>
                <a:latin typeface="Arial"/>
                <a:ea typeface="Arial"/>
                <a:cs typeface="Arial"/>
              </a:defRPr>
            </a:lvl3pPr>
            <a:lvl4pPr algn="l">
              <a:defRPr sz="2175" b="1">
                <a:solidFill>
                  <a:srgbClr val="102C32"/>
                </a:solidFill>
                <a:latin typeface="Arial"/>
                <a:ea typeface="Arial"/>
                <a:cs typeface="Arial"/>
              </a:defRPr>
            </a:lvl4pPr>
            <a:lvl5pPr algn="l">
              <a:defRPr sz="2175" b="1">
                <a:solidFill>
                  <a:srgbClr val="102C32"/>
                </a:solidFill>
                <a:latin typeface="Arial"/>
                <a:ea typeface="Arial"/>
                <a:cs typeface="Arial"/>
              </a:defRPr>
            </a:lvl5pPr>
            <a:lvl6pPr algn="l">
              <a:defRPr sz="2175" b="1">
                <a:solidFill>
                  <a:srgbClr val="102C32"/>
                </a:solidFill>
                <a:latin typeface="Arial"/>
                <a:ea typeface="Arial"/>
                <a:cs typeface="Arial"/>
              </a:defRPr>
            </a:lvl6pPr>
            <a:lvl7pPr algn="l">
              <a:defRPr sz="2175" b="1">
                <a:solidFill>
                  <a:srgbClr val="102C32"/>
                </a:solidFill>
                <a:latin typeface="Arial"/>
                <a:ea typeface="Arial"/>
                <a:cs typeface="Arial"/>
              </a:defRPr>
            </a:lvl7pPr>
            <a:lvl8pPr algn="l">
              <a:defRPr sz="2175" b="1">
                <a:solidFill>
                  <a:srgbClr val="102C32"/>
                </a:solidFill>
                <a:latin typeface="Arial"/>
                <a:ea typeface="Arial"/>
                <a:cs typeface="Arial"/>
              </a:defRPr>
            </a:lvl8pPr>
            <a:lvl9pPr algn="l">
              <a:defRPr sz="2175" b="1">
                <a:solidFill>
                  <a:srgbClr val="102C32"/>
                </a:solidFill>
                <a:latin typeface="Arial"/>
                <a:ea typeface="Arial"/>
                <a:cs typeface="Arial"/>
              </a:defRPr>
            </a:lvl9pPr>
          </a:lstStyle>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Decision today: agree a reviewed pilot and measures of success</a:t>
            </a:r>
          </a:p>
        </p:txBody>
      </p:sp>
    </p:spTree>
    <p:extLst>
      <p:ext uri="{BB962C8B-B14F-4D97-AF65-F5344CB8AC3E}">
        <p14:creationId xmlns:p14="http://schemas.microsoft.com/office/powerpoint/2010/main" val="173705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2026-10-27T22:31:35.8910000Z</dcterms:created>
  <dcterms:modified xsi:type="dcterms:W3CDTF">2026-10-27T22:31:35.8910000Z</dcterms:modified>
</coreProperties>
</file>